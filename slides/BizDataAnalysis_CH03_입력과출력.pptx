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</p:sldIdLst>
  <p:notesMasterIdLst>
    <p:notesMasterId r:id="rId5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표지" id="{c88021b5-a1b8-f061-63a9-d1b406668d5e}">
          <p14:sldIdLst>
            <p14:sldId id="256"/>
            <p14:sldId id="257"/>
            <p14:sldId id="258"/>
          </p14:sldIdLst>
        </p14:section>
        <p14:section name="01. 입력문" id="{3dc03974-b94d-7824-ca42-877f938201e3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</p14:sldIdLst>
        </p14:section>
        <p14:section name="02. 출력문" id="{79ef4cb6-9cd9-9b10-8f2a-35ca06f4a07c}">
          <p14:sldIdLst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</p14:sldIdLst>
        </p14:section>
        <p14:section name="03. 파일 입출력" id="{1add2964-9daa-2aa6-ab92-8a9838b3c601}">
          <p14:sldIdLst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</p14:sldIdLst>
        </p14:section>
        <p14:section name="마무리" id="{87fd3c30-124e-40b1-99ef-f67ef8542a21}">
          <p14:sldIdLst>
            <p14:sldId id="301"/>
            <p14:sldId id="302"/>
            <p14:sldId id="303"/>
            <p14:sldId id="30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notesMaster" Target="notesMasters/notesMaster1.xml"/><Relationship Id="rId52" Type="http://schemas.openxmlformats.org/officeDocument/2006/relationships/presProps" Target="presProps.xml"/><Relationship Id="rId53" Type="http://schemas.openxmlformats.org/officeDocument/2006/relationships/viewProps" Target="viewProps.xml"/><Relationship Id="rId54" Type="http://schemas.openxmlformats.org/officeDocument/2006/relationships/theme" Target="theme/theme1.xml"/><Relationship Id="rId5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int('3.5') → ValueError: invalid literal for int() with base 10: '3.5'.  int(float('3.5')) 처럼 두 번 변환하면 3 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4500 * '3' 은 '3' 을 4500번 반복한 긴 문자열이 됩니다(오류가 아님). 숫자 × 문자열 = 문자열 반복 (2.3 복습).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\b 는 터미널에서는 앞 글자를 지운 것처럼 보이지만(HellWorld), Colab 출력창에서는 특수문자로 표시되는 등 환경마다 다르게 보입니다. 실무에서는 거의 쓰지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원문은 환율 1 USD = 1400원으로 계산합니다. 출력 서식(:,.2f / :,.0f)은 슬라이드에서 보기 좋게 정리한 예시입니다.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image" Target="../media/image-3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image" Target="../media/image-3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image" Target="../media/image-3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image" Target="../media/image-45-2.png"/><Relationship Id="rId3" Type="http://schemas.openxmlformats.org/officeDocument/2006/relationships/image" Target="../media/image-45-3.png"/><Relationship Id="rId4" Type="http://schemas.openxmlformats.org/officeDocument/2006/relationships/image" Target="../media/image-4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image" Target="../media/image-47-2.png"/><Relationship Id="rId3" Type="http://schemas.openxmlformats.org/officeDocument/2006/relationships/image" Target="../media/image-47-3.png"/><Relationship Id="rId4" Type="http://schemas.openxmlformats.org/officeDocument/2006/relationships/image" Target="../media/image-47-4.png"/><Relationship Id="rId5" Type="http://schemas.openxmlformats.org/officeDocument/2006/relationships/image" Target="../media/image-47-5.png"/><Relationship Id="rId6" Type="http://schemas.openxmlformats.org/officeDocument/2006/relationships/image" Target="../media/image-4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0" y="1463040"/>
            <a:ext cx="4023360" cy="40233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14400" y="1463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spc="20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PYTHON FOR BUSINESS DATA ANALYSIS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192024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dirty="0">
                <a:solidFill>
                  <a:srgbClr val="FFFFFF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비즈니스 데이터 분석 with Python</a:t>
            </a:r>
            <a:endParaRPr lang="en-US" sz="4400" dirty="0"/>
          </a:p>
        </p:txBody>
      </p:sp>
      <p:sp>
        <p:nvSpPr>
          <p:cNvPr id="6" name="Shape 3"/>
          <p:cNvSpPr/>
          <p:nvPr/>
        </p:nvSpPr>
        <p:spPr>
          <a:xfrm>
            <a:off x="914400" y="2971800"/>
            <a:ext cx="1463040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14400" y="32461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03장. 입력과 출력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9319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01. 입력문  ·  02. 출력문  ·  03. 파일 입출력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57607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03장  ·  Chap03 실습 노트북  ·  Python 공식 문서로 보완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비즈니스 데이터 분석 with Python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Contents — 03장. 입력과 출력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6304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실습 파일 : Chap03 입력과 출력 노트북 (.ipynb)  ·  연습문제는 별도 파일 (PBL 연습문제)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1965960"/>
            <a:ext cx="3423818" cy="3657600"/>
          </a:xfrm>
          <a:prstGeom prst="roundRect">
            <a:avLst>
              <a:gd name="adj" fmla="val 3205"/>
            </a:avLst>
          </a:prstGeom>
          <a:solidFill>
            <a:srgbClr val="0D1B3D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0120" y="2194560"/>
            <a:ext cx="777240" cy="777240"/>
          </a:xfrm>
          <a:prstGeom prst="ellipse">
            <a:avLst/>
          </a:prstGeom>
          <a:solidFill>
            <a:srgbClr val="38BDF8">
              <a:alpha val="45000"/>
            </a:srgbClr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4430" y="2388870"/>
            <a:ext cx="388620" cy="38862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920240" y="2121408"/>
            <a:ext cx="20522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38BDF8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01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1920240" y="2560320"/>
            <a:ext cx="20522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입력문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960120" y="3154680"/>
            <a:ext cx="28751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input( ) 으로 사용자에게 묻기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960120" y="3611880"/>
            <a:ext cx="296661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1-1 사용자 입력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1-2 숫자로 변환 int · float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1-3 문자열로 변환 str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383938" y="1965960"/>
            <a:ext cx="3423818" cy="3657600"/>
          </a:xfrm>
          <a:prstGeom prst="roundRect">
            <a:avLst>
              <a:gd name="adj" fmla="val 3205"/>
            </a:avLst>
          </a:prstGeom>
          <a:solidFill>
            <a:srgbClr val="0D1B3D"/>
          </a:solidFill>
          <a:ln w="19050">
            <a:solidFill>
              <a:srgbClr val="FACC1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658258" y="2194560"/>
            <a:ext cx="777240" cy="777240"/>
          </a:xfrm>
          <a:prstGeom prst="ellipse">
            <a:avLst/>
          </a:prstGeom>
          <a:solidFill>
            <a:srgbClr val="FACC15">
              <a:alpha val="45000"/>
            </a:srgbClr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2568" y="2388870"/>
            <a:ext cx="388620" cy="38862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5618378" y="2121408"/>
            <a:ext cx="20522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ACC15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02</a:t>
            </a:r>
            <a:endParaRPr lang="en-US" sz="2400" dirty="0"/>
          </a:p>
        </p:txBody>
      </p:sp>
      <p:sp>
        <p:nvSpPr>
          <p:cNvPr id="17" name="Text 13"/>
          <p:cNvSpPr txBox="1"/>
          <p:nvPr/>
        </p:nvSpPr>
        <p:spPr>
          <a:xfrm>
            <a:off x="5618378" y="2560320"/>
            <a:ext cx="20522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출력문</a:t>
            </a:r>
            <a:endParaRPr lang="en-US" sz="2000" dirty="0"/>
          </a:p>
        </p:txBody>
      </p:sp>
      <p:sp>
        <p:nvSpPr>
          <p:cNvPr id="18" name="Text 14"/>
          <p:cNvSpPr txBox="1"/>
          <p:nvPr/>
        </p:nvSpPr>
        <p:spPr>
          <a:xfrm>
            <a:off x="4658258" y="3154680"/>
            <a:ext cx="28751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print( ) 로 보기 좋게 보여 주기</a:t>
            </a:r>
            <a:endParaRPr lang="en-US" sz="1400" dirty="0"/>
          </a:p>
        </p:txBody>
      </p:sp>
      <p:sp>
        <p:nvSpPr>
          <p:cNvPr id="19" name="Text 15"/>
          <p:cNvSpPr txBox="1"/>
          <p:nvPr/>
        </p:nvSpPr>
        <p:spPr>
          <a:xfrm>
            <a:off x="4658258" y="3611880"/>
            <a:ext cx="296661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2-1 콤마(,) 와 더하기(+)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2-2 sep= · end=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2-3 format · % · f-string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2-4 이스케이프 문자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8082077" y="1965960"/>
            <a:ext cx="3423818" cy="3657600"/>
          </a:xfrm>
          <a:prstGeom prst="roundRect">
            <a:avLst>
              <a:gd name="adj" fmla="val 3205"/>
            </a:avLst>
          </a:prstGeom>
          <a:solidFill>
            <a:srgbClr val="0D1B3D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8356397" y="2194560"/>
            <a:ext cx="777240" cy="777240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0707" y="2388870"/>
            <a:ext cx="388620" cy="388620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9316517" y="2121408"/>
            <a:ext cx="20522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34D399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03</a:t>
            </a:r>
            <a:endParaRPr lang="en-US" sz="2400" dirty="0"/>
          </a:p>
        </p:txBody>
      </p:sp>
      <p:sp>
        <p:nvSpPr>
          <p:cNvPr id="24" name="Text 19"/>
          <p:cNvSpPr txBox="1"/>
          <p:nvPr/>
        </p:nvSpPr>
        <p:spPr>
          <a:xfrm>
            <a:off x="9316517" y="2560320"/>
            <a:ext cx="20522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파일 입출력</a:t>
            </a:r>
            <a:endParaRPr lang="en-US" sz="2000" dirty="0"/>
          </a:p>
        </p:txBody>
      </p:sp>
      <p:sp>
        <p:nvSpPr>
          <p:cNvPr id="25" name="Text 20"/>
          <p:cNvSpPr txBox="1"/>
          <p:nvPr/>
        </p:nvSpPr>
        <p:spPr>
          <a:xfrm>
            <a:off x="8356397" y="3154680"/>
            <a:ext cx="28751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open( ) 으로 파일에 저장 · 읽기</a:t>
            </a:r>
            <a:endParaRPr lang="en-US" sz="1400" dirty="0"/>
          </a:p>
        </p:txBody>
      </p:sp>
      <p:sp>
        <p:nvSpPr>
          <p:cNvPr id="26" name="Text 21"/>
          <p:cNvSpPr txBox="1"/>
          <p:nvPr/>
        </p:nvSpPr>
        <p:spPr>
          <a:xfrm>
            <a:off x="8356397" y="3611880"/>
            <a:ext cx="296661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3-1 파일 열기 · 모드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3-2 읽기 · 3-3 쓰기 · 닫기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3-4 단어로 나누기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3-5 환전 결과 저장</a:t>
            </a:r>
            <a:endParaRPr lang="en-US" sz="1400" dirty="0"/>
          </a:p>
        </p:txBody>
      </p:sp>
      <p:sp>
        <p:nvSpPr>
          <p:cNvPr id="27" name="Shape 22"/>
          <p:cNvSpPr/>
          <p:nvPr/>
        </p:nvSpPr>
        <p:spPr>
          <a:xfrm>
            <a:off x="685800" y="580644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F472B6">
              <a:alpha val="12000"/>
            </a:srgbClr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914400" y="580644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72B6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연습문제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04. PBL 연습문제는 별도 파일(학생용 · 정답용)로 제공돼요.</a:t>
            </a:r>
            <a:endParaRPr lang="en-US" sz="1500" dirty="0"/>
          </a:p>
        </p:txBody>
      </p:sp>
      <p:sp>
        <p:nvSpPr>
          <p:cNvPr id="29" name="Text 24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03장</a:t>
            </a:r>
            <a:endParaRPr lang="en-US" sz="1000" dirty="0"/>
          </a:p>
        </p:txBody>
      </p:sp>
      <p:sp>
        <p:nvSpPr>
          <p:cNvPr id="30" name="Text 25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03장 시작하기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모든 프로그램은 입력 → 처리 → 출력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54480"/>
            <a:ext cx="2377440" cy="2377440"/>
          </a:xfrm>
          <a:prstGeom prst="roundRect">
            <a:avLst>
              <a:gd name="adj" fmla="val 4615"/>
            </a:avLst>
          </a:prstGeom>
          <a:solidFill>
            <a:srgbClr val="0D1B3D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63040" y="1737360"/>
            <a:ext cx="822960" cy="822960"/>
          </a:xfrm>
          <a:prstGeom prst="ellipse">
            <a:avLst/>
          </a:prstGeom>
          <a:solidFill>
            <a:srgbClr val="38BDF8">
              <a:alpha val="45000"/>
            </a:srgbClr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8780" y="1943100"/>
            <a:ext cx="411480" cy="41148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85800" y="26517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입력 (Input)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30358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키보드로 값을 받기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3429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ACC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input( )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136392" y="2606040"/>
            <a:ext cx="290474" cy="292608"/>
          </a:xfrm>
          <a:prstGeom prst="rightArrow">
            <a:avLst/>
          </a:prstGeom>
          <a:solidFill>
            <a:srgbClr val="6366F1"/>
          </a:solidFill>
          <a:ln/>
        </p:spPr>
      </p:sp>
      <p:sp>
        <p:nvSpPr>
          <p:cNvPr id="12" name="Shape 9"/>
          <p:cNvSpPr/>
          <p:nvPr/>
        </p:nvSpPr>
        <p:spPr>
          <a:xfrm>
            <a:off x="3500018" y="1554480"/>
            <a:ext cx="2377440" cy="2377440"/>
          </a:xfrm>
          <a:prstGeom prst="roundRect">
            <a:avLst>
              <a:gd name="adj" fmla="val 4615"/>
            </a:avLst>
          </a:prstGeom>
          <a:solidFill>
            <a:srgbClr val="0D1B3D"/>
          </a:solidFill>
          <a:ln w="19050">
            <a:solidFill>
              <a:srgbClr val="818CF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277258" y="1737360"/>
            <a:ext cx="822960" cy="822960"/>
          </a:xfrm>
          <a:prstGeom prst="ellipse">
            <a:avLst/>
          </a:prstGeom>
          <a:solidFill>
            <a:srgbClr val="818CF8">
              <a:alpha val="45000"/>
            </a:srgbClr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2998" y="1943100"/>
            <a:ext cx="411480" cy="41148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3500018" y="26517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처리 (Process)</a:t>
            </a:r>
            <a:endParaRPr lang="en-US" sz="1700" dirty="0"/>
          </a:p>
        </p:txBody>
      </p:sp>
      <p:sp>
        <p:nvSpPr>
          <p:cNvPr id="16" name="Text 12"/>
          <p:cNvSpPr txBox="1"/>
          <p:nvPr/>
        </p:nvSpPr>
        <p:spPr>
          <a:xfrm>
            <a:off x="3500018" y="30358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계산 · 변환 · 판단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3500018" y="3429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ACC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− × ÷ , int( ) …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5950610" y="2606040"/>
            <a:ext cx="290474" cy="292608"/>
          </a:xfrm>
          <a:prstGeom prst="rightArrow">
            <a:avLst/>
          </a:prstGeom>
          <a:solidFill>
            <a:srgbClr val="6366F1"/>
          </a:solidFill>
          <a:ln/>
        </p:spPr>
      </p:sp>
      <p:sp>
        <p:nvSpPr>
          <p:cNvPr id="19" name="Shape 15"/>
          <p:cNvSpPr/>
          <p:nvPr/>
        </p:nvSpPr>
        <p:spPr>
          <a:xfrm>
            <a:off x="6314237" y="1554480"/>
            <a:ext cx="2377440" cy="2377440"/>
          </a:xfrm>
          <a:prstGeom prst="roundRect">
            <a:avLst>
              <a:gd name="adj" fmla="val 4615"/>
            </a:avLst>
          </a:prstGeom>
          <a:solidFill>
            <a:srgbClr val="0D1B3D"/>
          </a:solidFill>
          <a:ln w="19050">
            <a:solidFill>
              <a:srgbClr val="FACC15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091477" y="1737360"/>
            <a:ext cx="822960" cy="822960"/>
          </a:xfrm>
          <a:prstGeom prst="ellipse">
            <a:avLst/>
          </a:prstGeom>
          <a:solidFill>
            <a:srgbClr val="FACC15">
              <a:alpha val="45000"/>
            </a:srgbClr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7217" y="1943100"/>
            <a:ext cx="411480" cy="41148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6314237" y="26517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출력 (Output)</a:t>
            </a:r>
            <a:endParaRPr lang="en-US" sz="1700" dirty="0"/>
          </a:p>
        </p:txBody>
      </p:sp>
      <p:sp>
        <p:nvSpPr>
          <p:cNvPr id="23" name="Text 18"/>
          <p:cNvSpPr txBox="1"/>
          <p:nvPr/>
        </p:nvSpPr>
        <p:spPr>
          <a:xfrm>
            <a:off x="6314237" y="30358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화면에 보여 주기</a:t>
            </a:r>
            <a:endParaRPr lang="en-US" sz="1400" dirty="0"/>
          </a:p>
        </p:txBody>
      </p:sp>
      <p:sp>
        <p:nvSpPr>
          <p:cNvPr id="24" name="Text 19"/>
          <p:cNvSpPr txBox="1"/>
          <p:nvPr/>
        </p:nvSpPr>
        <p:spPr>
          <a:xfrm>
            <a:off x="6314237" y="3429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ACC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 )</a:t>
            </a:r>
            <a:endParaRPr lang="en-US" sz="1300" dirty="0"/>
          </a:p>
        </p:txBody>
      </p:sp>
      <p:sp>
        <p:nvSpPr>
          <p:cNvPr id="25" name="Shape 20"/>
          <p:cNvSpPr/>
          <p:nvPr/>
        </p:nvSpPr>
        <p:spPr>
          <a:xfrm>
            <a:off x="8764829" y="2606040"/>
            <a:ext cx="290474" cy="292608"/>
          </a:xfrm>
          <a:prstGeom prst="rightArrow">
            <a:avLst/>
          </a:prstGeom>
          <a:solidFill>
            <a:srgbClr val="6366F1"/>
          </a:solidFill>
          <a:ln/>
        </p:spPr>
      </p:sp>
      <p:sp>
        <p:nvSpPr>
          <p:cNvPr id="26" name="Shape 21"/>
          <p:cNvSpPr/>
          <p:nvPr/>
        </p:nvSpPr>
        <p:spPr>
          <a:xfrm>
            <a:off x="9128455" y="1554480"/>
            <a:ext cx="2377440" cy="2377440"/>
          </a:xfrm>
          <a:prstGeom prst="roundRect">
            <a:avLst>
              <a:gd name="adj" fmla="val 4615"/>
            </a:avLst>
          </a:prstGeom>
          <a:solidFill>
            <a:srgbClr val="0D1B3D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9905695" y="1737360"/>
            <a:ext cx="822960" cy="822960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1435" y="1943100"/>
            <a:ext cx="411480" cy="411480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9128455" y="26517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저장 (File)</a:t>
            </a:r>
            <a:endParaRPr lang="en-US" sz="1700" dirty="0"/>
          </a:p>
        </p:txBody>
      </p:sp>
      <p:sp>
        <p:nvSpPr>
          <p:cNvPr id="30" name="Text 24"/>
          <p:cNvSpPr txBox="1"/>
          <p:nvPr/>
        </p:nvSpPr>
        <p:spPr>
          <a:xfrm>
            <a:off x="9128455" y="30358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파일로 남기기</a:t>
            </a:r>
            <a:endParaRPr lang="en-US" sz="1400" dirty="0"/>
          </a:p>
        </p:txBody>
      </p:sp>
      <p:sp>
        <p:nvSpPr>
          <p:cNvPr id="31" name="Text 25"/>
          <p:cNvSpPr txBox="1"/>
          <p:nvPr/>
        </p:nvSpPr>
        <p:spPr>
          <a:xfrm>
            <a:off x="9128455" y="3429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ACC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open( ) · write( )</a:t>
            </a:r>
            <a:endParaRPr lang="en-US" sz="1300" dirty="0"/>
          </a:p>
        </p:txBody>
      </p:sp>
      <p:sp>
        <p:nvSpPr>
          <p:cNvPr id="32" name="Shape 26"/>
          <p:cNvSpPr/>
          <p:nvPr/>
        </p:nvSpPr>
        <p:spPr>
          <a:xfrm>
            <a:off x="685800" y="4160520"/>
            <a:ext cx="10820095" cy="1371600"/>
          </a:xfrm>
          <a:prstGeom prst="roundRect">
            <a:avLst>
              <a:gd name="adj" fmla="val 8000"/>
            </a:avLst>
          </a:prstGeom>
          <a:solidFill>
            <a:srgbClr val="10193A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33" name="Text 27"/>
          <p:cNvSpPr txBox="1"/>
          <p:nvPr/>
        </p:nvSpPr>
        <p:spPr>
          <a:xfrm>
            <a:off x="960120" y="4160520"/>
            <a:ext cx="1027145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카페 키오스크로 생각해 보기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① 메뉴 · 수량을 누른다 (입력)  →  ② 가격 × 수량을 계산한다 (처리)  →  ③ 화면에 결제 금액이 뜬다 (출력)  →  ④ 영수증 · 매출 기록이 남는다 (파일 저장)</a:t>
            </a:r>
            <a:endParaRPr lang="en-US" sz="1600" dirty="0"/>
          </a:p>
        </p:txBody>
      </p:sp>
      <p:sp>
        <p:nvSpPr>
          <p:cNvPr id="34" name="Shape 28"/>
          <p:cNvSpPr/>
          <p:nvPr/>
        </p:nvSpPr>
        <p:spPr>
          <a:xfrm>
            <a:off x="685800" y="576072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38BDF8">
              <a:alpha val="12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5" name="Text 29"/>
          <p:cNvSpPr txBox="1"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이번 장 목표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사용자와 '대화하는' 프로그램 만들기 — 묻고(input) · 보여 주고(print) · 기록하기(file)</a:t>
            </a:r>
            <a:endParaRPr lang="en-US" sz="1500" dirty="0"/>
          </a:p>
        </p:txBody>
      </p:sp>
      <p:sp>
        <p:nvSpPr>
          <p:cNvPr id="36" name="Text 30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Python Tutorial — Input and Output (docs.python.org/3/tutorial/inputoutput.html)</a:t>
            </a:r>
            <a:endParaRPr lang="en-US" sz="1000" dirty="0"/>
          </a:p>
        </p:txBody>
      </p:sp>
      <p:sp>
        <p:nvSpPr>
          <p:cNvPr id="37" name="Text 31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3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188720"/>
            <a:ext cx="4206240" cy="42062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14400" y="1417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178308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dirty="0">
                <a:solidFill>
                  <a:srgbClr val="818CF8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01</a:t>
            </a:r>
            <a:endParaRPr lang="en-US" sz="72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9260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입력문 input( )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657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프로그램이 사용자에게 묻고, 답을 받아 오기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914400" y="4416552"/>
            <a:ext cx="109728" cy="109728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188720" y="429768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1-1 사용자 입력 — 프롬프트 · 변수 대입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914400" y="4800600"/>
            <a:ext cx="109728" cy="109728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188720" y="468172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1-2 숫자로 변환 — int( ) · float( )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914400" y="5184648"/>
            <a:ext cx="109728" cy="109728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188720" y="5065776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1-3 문자열로 변환 — str( )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01. 입력문  ·  input( )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1-1 input( ) — 프로그램이 사용자에게 질문하기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08760"/>
            <a:ext cx="5760720" cy="1353312"/>
          </a:xfrm>
          <a:prstGeom prst="roundRect">
            <a:avLst>
              <a:gd name="adj" fmla="val 6757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636776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7" name="Shape 5"/>
          <p:cNvSpPr/>
          <p:nvPr/>
        </p:nvSpPr>
        <p:spPr>
          <a:xfrm>
            <a:off x="1069848" y="1636776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8" name="Shape 6"/>
          <p:cNvSpPr/>
          <p:nvPr/>
        </p:nvSpPr>
        <p:spPr>
          <a:xfrm>
            <a:off x="1271016" y="1636776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554480" y="1563624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Colab 코드 셀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" y="1874520"/>
            <a:ext cx="5760720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95528" y="2039112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2039112"/>
            <a:ext cx="4983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= input(</a:t>
            </a:r>
            <a:pPr indent="0" marL="0">
              <a:buNone/>
            </a:pPr>
            <a:r>
              <a:rPr lang="en-US" sz="14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'이름을 입력하세요 : '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95528" y="2368296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2368296"/>
            <a:ext cx="4983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'안녕하세요,'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name)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85800" y="2971800"/>
            <a:ext cx="5760720" cy="978408"/>
          </a:xfrm>
          <a:prstGeom prst="roundRect">
            <a:avLst>
              <a:gd name="adj" fmla="val 747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16" name="Text 14"/>
          <p:cNvSpPr txBox="1"/>
          <p:nvPr/>
        </p:nvSpPr>
        <p:spPr>
          <a:xfrm>
            <a:off x="868680" y="30632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069080" y="306324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ACC15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▮ = 키보드로 입력한 값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3355848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이름을 입력하세요 : </a:t>
            </a:r>
            <a:pPr indent="0" marL="0">
              <a:lnSpc>
                <a:spcPts val="1885"/>
              </a:lnSpc>
              <a:buNone/>
            </a:pPr>
            <a:r>
              <a:rPr lang="en-US" sz="1300" b="1" u="sng" dirty="0">
                <a:solidFill>
                  <a:srgbClr val="FACC15"/>
                </a:solidFill>
                <a:uFill>
                  <a:solidFill>
                    <a:srgbClr val="FACC15"/>
                  </a:solidFill>
                </a:uFill>
                <a:latin typeface="Consolas" pitchFamily="34" charset="0"/>
                <a:ea typeface="Consolas" pitchFamily="34" charset="-122"/>
                <a:cs typeface="Consolas" pitchFamily="34" charset="-120"/>
              </a:rPr>
              <a:t>홍길동</a:t>
            </a:r>
            <a:endParaRPr lang="en-US" sz="1300" dirty="0"/>
          </a:p>
          <a:p>
            <a:pPr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안녕하세요, 홍길동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31520" y="4187952"/>
            <a:ext cx="310896" cy="310896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31520" y="41879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188720" y="4133088"/>
            <a:ext cx="5212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질문(프롬프트)을 화면에 보여 주고 기다려요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31520" y="4663440"/>
            <a:ext cx="310896" cy="310896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31520" y="46634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2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188720" y="4608576"/>
            <a:ext cx="5212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사용자가 입력하고 Enter 를 누르면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31520" y="5138928"/>
            <a:ext cx="310896" cy="310896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31520" y="51389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3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188720" y="5084064"/>
            <a:ext cx="5212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입력한 값이 name 변수에 담겨요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812280" y="1508760"/>
            <a:ext cx="4693615" cy="3063240"/>
          </a:xfrm>
          <a:prstGeom prst="roundRect">
            <a:avLst>
              <a:gd name="adj" fmla="val 2985"/>
            </a:avLst>
          </a:prstGeom>
          <a:solidFill>
            <a:srgbClr val="F8FAFC"/>
          </a:solidFill>
          <a:ln w="9525">
            <a:solidFill>
              <a:srgbClr val="8A93B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830568" y="1527048"/>
            <a:ext cx="4657039" cy="38404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0" name="Shape 28"/>
          <p:cNvSpPr/>
          <p:nvPr/>
        </p:nvSpPr>
        <p:spPr>
          <a:xfrm>
            <a:off x="6949440" y="1645920"/>
            <a:ext cx="109728" cy="109728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31" name="Shape 29"/>
          <p:cNvSpPr/>
          <p:nvPr/>
        </p:nvSpPr>
        <p:spPr>
          <a:xfrm>
            <a:off x="7132320" y="1645920"/>
            <a:ext cx="109728" cy="109728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32" name="Shape 30"/>
          <p:cNvSpPr/>
          <p:nvPr/>
        </p:nvSpPr>
        <p:spPr>
          <a:xfrm>
            <a:off x="7315200" y="1645920"/>
            <a:ext cx="109728" cy="109728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33" name="Shape 31"/>
          <p:cNvSpPr/>
          <p:nvPr/>
        </p:nvSpPr>
        <p:spPr>
          <a:xfrm>
            <a:off x="7589520" y="1581912"/>
            <a:ext cx="3733495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7726680" y="1581912"/>
            <a:ext cx="35048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colab.research.google.com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949440" y="2057400"/>
            <a:ext cx="4419295" cy="685800"/>
          </a:xfrm>
          <a:prstGeom prst="roundRect">
            <a:avLst>
              <a:gd name="adj" fmla="val 8000"/>
            </a:avLst>
          </a:prstGeom>
          <a:solidFill>
            <a:srgbClr val="EEF2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059168" y="2240280"/>
            <a:ext cx="310896" cy="310896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7059168" y="22402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▶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7498080" y="2057400"/>
            <a:ext cx="37792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= input('이름을 입력하세요 : ')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7040880" y="29260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이름을 입력하세요 :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8869680" y="2926080"/>
            <a:ext cx="2361895" cy="36576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8961120" y="2926080"/>
            <a:ext cx="22247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홍길동|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949440" y="3474720"/>
            <a:ext cx="4419295" cy="685800"/>
          </a:xfrm>
          <a:prstGeom prst="rect">
            <a:avLst/>
          </a:prstGeom>
          <a:solidFill>
            <a:srgbClr val="FEF9C3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7040880" y="3474720"/>
            <a:ext cx="4236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입력 칸이 생기면 값을 쓰고 Enter!  (입력을 안 하면 셀이 계속 '실행 중' 상태로 멈춰 있어요)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812280" y="4754880"/>
            <a:ext cx="4693615" cy="868680"/>
          </a:xfrm>
          <a:prstGeom prst="roundRect">
            <a:avLst>
              <a:gd name="adj" fmla="val 12632"/>
            </a:avLst>
          </a:prstGeom>
          <a:solidFill>
            <a:srgbClr val="10193A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7040880" y="4754880"/>
            <a:ext cx="4236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키오스크 비유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'메뉴를 고르세요' 화면 = 프롬프트, 손님이 누른 버튼 = 입력값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685800" y="580644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38BDF8">
              <a:alpha val="12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914400" y="580644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프롬프트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input( ) 괄호 안의 안내 문구를 '프롬프트 문자열' 이라고 불러요.</a:t>
            </a:r>
            <a:endParaRPr lang="en-US" sz="1500" dirty="0"/>
          </a:p>
        </p:txBody>
      </p:sp>
      <p:sp>
        <p:nvSpPr>
          <p:cNvPr id="48" name="Text 46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03장 1-1, Python Built-in Functions — input( ) · print( ) · open( ) (docs.python.org/3/library/functions.html)</a:t>
            </a:r>
            <a:endParaRPr lang="en-US" sz="1000" dirty="0"/>
          </a:p>
        </p:txBody>
      </p:sp>
      <p:sp>
        <p:nvSpPr>
          <p:cNvPr id="49" name="Text 47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01. 입력문  ·  input( )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input( ) 문장 해부하기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234440" y="1828800"/>
            <a:ext cx="9722815" cy="868680"/>
          </a:xfrm>
          <a:prstGeom prst="roundRect">
            <a:avLst>
              <a:gd name="adj" fmla="val 10526"/>
            </a:avLst>
          </a:prstGeom>
          <a:solidFill>
            <a:srgbClr val="070D20"/>
          </a:solidFill>
          <a:ln w="15240">
            <a:solidFill>
              <a:srgbClr val="6366F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34440" y="1828800"/>
            <a:ext cx="97228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</a:t>
            </a:r>
            <a:pPr algn="ctr" indent="0" marL="0">
              <a:buNone/>
            </a:pPr>
            <a:r>
              <a:rPr lang="en-US" sz="2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algn="ctr" indent="0" marL="0">
              <a:buNone/>
            </a:pPr>
            <a:r>
              <a:rPr lang="en-US" sz="26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pPr algn="ctr" indent="0" marL="0">
              <a:buNone/>
            </a:pPr>
            <a:r>
              <a:rPr lang="en-US" sz="2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ctr" indent="0" marL="0">
              <a:buNone/>
            </a:pPr>
            <a:r>
              <a:rPr lang="en-US" sz="26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'나이를 입력하세요 : '</a:t>
            </a:r>
            <a:pPr algn="ctr" indent="0" marL="0">
              <a:buNone/>
            </a:pPr>
            <a:r>
              <a:rPr lang="en-US" sz="2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2606040" y="2788920"/>
            <a:ext cx="292608" cy="411480"/>
          </a:xfrm>
          <a:prstGeom prst="downArrow">
            <a:avLst/>
          </a:prstGeom>
          <a:solidFill>
            <a:srgbClr val="38BDF8"/>
          </a:solidFill>
          <a:ln/>
        </p:spPr>
      </p:sp>
      <p:sp>
        <p:nvSpPr>
          <p:cNvPr id="8" name="Shape 6"/>
          <p:cNvSpPr/>
          <p:nvPr/>
        </p:nvSpPr>
        <p:spPr>
          <a:xfrm>
            <a:off x="1508760" y="3291840"/>
            <a:ext cx="2651760" cy="1051560"/>
          </a:xfrm>
          <a:prstGeom prst="roundRect">
            <a:avLst>
              <a:gd name="adj" fmla="val 8696"/>
            </a:avLst>
          </a:prstGeom>
          <a:solidFill>
            <a:srgbClr val="0D1B3D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645920" y="329184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① 변수</a:t>
            </a:r>
            <a:endParaRPr lang="en-US" sz="16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입력값을 담을 그릇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349240" y="2788920"/>
            <a:ext cx="292608" cy="411480"/>
          </a:xfrm>
          <a:prstGeom prst="downArrow">
            <a:avLst/>
          </a:prstGeom>
          <a:solidFill>
            <a:srgbClr val="34D399"/>
          </a:solidFill>
          <a:ln/>
        </p:spPr>
      </p:sp>
      <p:sp>
        <p:nvSpPr>
          <p:cNvPr id="11" name="Shape 9"/>
          <p:cNvSpPr/>
          <p:nvPr/>
        </p:nvSpPr>
        <p:spPr>
          <a:xfrm>
            <a:off x="4251960" y="3291840"/>
            <a:ext cx="2651760" cy="1051560"/>
          </a:xfrm>
          <a:prstGeom prst="roundRect">
            <a:avLst>
              <a:gd name="adj" fmla="val 8696"/>
            </a:avLst>
          </a:prstGeom>
          <a:solidFill>
            <a:srgbClr val="0D1B3D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389120" y="329184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② input( ) 함수</a:t>
            </a:r>
            <a:endParaRPr lang="en-US" sz="16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키보드 입력을 기다림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641080" y="2788920"/>
            <a:ext cx="292608" cy="411480"/>
          </a:xfrm>
          <a:prstGeom prst="downArrow">
            <a:avLst/>
          </a:prstGeom>
          <a:solidFill>
            <a:srgbClr val="FACC15"/>
          </a:solidFill>
          <a:ln/>
        </p:spPr>
      </p:sp>
      <p:sp>
        <p:nvSpPr>
          <p:cNvPr id="14" name="Shape 12"/>
          <p:cNvSpPr/>
          <p:nvPr/>
        </p:nvSpPr>
        <p:spPr>
          <a:xfrm>
            <a:off x="7543800" y="3291840"/>
            <a:ext cx="2651760" cy="1051560"/>
          </a:xfrm>
          <a:prstGeom prst="roundRect">
            <a:avLst>
              <a:gd name="adj" fmla="val 8696"/>
            </a:avLst>
          </a:prstGeom>
          <a:solidFill>
            <a:srgbClr val="0D1B3D"/>
          </a:solidFill>
          <a:ln w="19050">
            <a:solidFill>
              <a:srgbClr val="FACC1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680960" y="329184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③ 프롬프트 문자열</a:t>
            </a:r>
            <a:endParaRPr lang="en-US" sz="16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사용자에게 보여 줄 안내 문구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85800" y="4572000"/>
            <a:ext cx="10820095" cy="1005840"/>
          </a:xfrm>
          <a:prstGeom prst="roundRect">
            <a:avLst>
              <a:gd name="adj" fmla="val 10909"/>
            </a:avLst>
          </a:prstGeom>
          <a:solidFill>
            <a:srgbClr val="10193A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60120" y="4572000"/>
            <a:ext cx="102714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친절한 프롬프트 만들기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끝에 ' : ' 나 공백을 넣으면 입력값과 붙지 않아 읽기 쉬워요.  input( ) 처럼 비워 두면 빈 칸만 떠서 무엇을 입력할지 몰라요!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85800" y="576072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38BDF8">
              <a:alpha val="12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순서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오른쪽(input) 이 먼저 실행 → 사용자가 입력 → 그 값이 왼쪽 변수(age)에 저장!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03장 1-1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01. 입력문  ·  input( )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중요! input( ) 으로 받은 값은 무조건 '문자열'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08760"/>
            <a:ext cx="5760720" cy="1682496"/>
          </a:xfrm>
          <a:prstGeom prst="roundRect">
            <a:avLst>
              <a:gd name="adj" fmla="val 5435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636776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7" name="Shape 5"/>
          <p:cNvSpPr/>
          <p:nvPr/>
        </p:nvSpPr>
        <p:spPr>
          <a:xfrm>
            <a:off x="1069848" y="1636776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8" name="Shape 6"/>
          <p:cNvSpPr/>
          <p:nvPr/>
        </p:nvSpPr>
        <p:spPr>
          <a:xfrm>
            <a:off x="1271016" y="1636776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554480" y="1563624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Colab 코드 셀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" y="1874520"/>
            <a:ext cx="5760720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95528" y="2039112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2039112"/>
            <a:ext cx="4983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 = input(</a:t>
            </a:r>
            <a:pPr indent="0" marL="0">
              <a:buNone/>
            </a:pPr>
            <a:r>
              <a:rPr lang="en-US" sz="14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'나이를 입력하세요 : '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95528" y="2368296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2368296"/>
            <a:ext cx="4983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(age)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95528" y="2697480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2697480"/>
            <a:ext cx="4983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(type(age))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85800" y="3300984"/>
            <a:ext cx="5760720" cy="1216152"/>
          </a:xfrm>
          <a:prstGeom prst="roundRect">
            <a:avLst>
              <a:gd name="adj" fmla="val 6015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18" name="Text 16"/>
          <p:cNvSpPr txBox="1"/>
          <p:nvPr/>
        </p:nvSpPr>
        <p:spPr>
          <a:xfrm>
            <a:off x="868680" y="339242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069080" y="339242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ACC15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▮ = 키보드로 입력한 값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868680" y="3685032"/>
            <a:ext cx="53949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나이를 입력하세요 : </a:t>
            </a:r>
            <a:pPr indent="0" marL="0">
              <a:lnSpc>
                <a:spcPts val="1885"/>
              </a:lnSpc>
              <a:buNone/>
            </a:pPr>
            <a:r>
              <a:rPr lang="en-US" sz="1300" b="1" u="sng" dirty="0">
                <a:solidFill>
                  <a:srgbClr val="FACC15"/>
                </a:solidFill>
                <a:uFill>
                  <a:solidFill>
                    <a:srgbClr val="FACC15"/>
                  </a:solidFill>
                </a:u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1300" dirty="0"/>
          </a:p>
          <a:p>
            <a:pPr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1300" dirty="0"/>
          </a:p>
          <a:p>
            <a:pPr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&lt;class 'str'&gt;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85800" y="4626864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472B6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숫자 20 을 입력했는데… 타입은 str(문자열)!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812280" y="1508760"/>
            <a:ext cx="4693615" cy="3291840"/>
          </a:xfrm>
          <a:prstGeom prst="roundRect">
            <a:avLst>
              <a:gd name="adj" fmla="val 3333"/>
            </a:avLst>
          </a:prstGeom>
          <a:solidFill>
            <a:srgbClr val="0D1B3D"/>
          </a:solidFill>
          <a:ln w="19050">
            <a:solidFill>
              <a:srgbClr val="FACC1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040880" y="1600200"/>
            <a:ext cx="4236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택배 상자 비유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7269480" y="2103120"/>
            <a:ext cx="1280160" cy="822960"/>
          </a:xfrm>
          <a:prstGeom prst="rect">
            <a:avLst/>
          </a:prstGeom>
          <a:solidFill>
            <a:srgbClr val="10193A"/>
          </a:solidFill>
          <a:ln w="19050">
            <a:solidFill>
              <a:srgbClr val="818CF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269480" y="210312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2200" dirty="0"/>
          </a:p>
        </p:txBody>
      </p:sp>
      <p:sp>
        <p:nvSpPr>
          <p:cNvPr id="26" name="Text 24"/>
          <p:cNvSpPr txBox="1"/>
          <p:nvPr/>
        </p:nvSpPr>
        <p:spPr>
          <a:xfrm>
            <a:off x="8732520" y="2103120"/>
            <a:ext cx="25904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키보드로 입력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763256" y="2971800"/>
            <a:ext cx="292608" cy="320040"/>
          </a:xfrm>
          <a:prstGeom prst="downArrow">
            <a:avLst/>
          </a:prstGeom>
          <a:solidFill>
            <a:srgbClr val="FACC15"/>
          </a:solidFill>
          <a:ln/>
        </p:spPr>
      </p:sp>
      <p:sp>
        <p:nvSpPr>
          <p:cNvPr id="28" name="Shape 26"/>
          <p:cNvSpPr/>
          <p:nvPr/>
        </p:nvSpPr>
        <p:spPr>
          <a:xfrm>
            <a:off x="7269480" y="3337560"/>
            <a:ext cx="1280160" cy="822960"/>
          </a:xfrm>
          <a:prstGeom prst="rect">
            <a:avLst/>
          </a:prstGeom>
          <a:solidFill>
            <a:srgbClr val="B45309">
              <a:alpha val="70000"/>
            </a:srgbClr>
          </a:solidFill>
          <a:ln w="19050">
            <a:solidFill>
              <a:srgbClr val="FACC15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269480" y="333756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'20'</a:t>
            </a:r>
            <a:endParaRPr lang="en-US" sz="2200" dirty="0"/>
          </a:p>
        </p:txBody>
      </p:sp>
      <p:sp>
        <p:nvSpPr>
          <p:cNvPr id="30" name="Text 28"/>
          <p:cNvSpPr txBox="1"/>
          <p:nvPr/>
        </p:nvSpPr>
        <p:spPr>
          <a:xfrm>
            <a:off x="8732520" y="3337560"/>
            <a:ext cx="25904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input( ) 이 문자열 상자에 포장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7040880" y="4160520"/>
            <a:ext cx="4236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뭘 넣어도 '문자열' 상자에 담겨 와요 — 숫자로 쓰려면 상자를 뜯어야(변환) 해요!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85800" y="5120640"/>
            <a:ext cx="10820095" cy="548640"/>
          </a:xfrm>
          <a:prstGeom prst="roundRect">
            <a:avLst>
              <a:gd name="adj" fmla="val 20000"/>
            </a:avLst>
          </a:prstGeom>
          <a:solidFill>
            <a:srgbClr val="38BDF8">
              <a:alpha val="12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14400" y="5120640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type( )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2.1 에서 배운 type( ) 으로 언제든 확인할 수 있어요 — str 이면 따옴표 붙은 글자!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03장 1-1, Python Built-in Functions — input( ) · print( ) · open( ) (docs.python.org/3/library/functions.html)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01. 입력문  ·  input( )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그래서 생기는 함정 — 20 + 1 = 201 ?!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63040"/>
            <a:ext cx="522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472B6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✗  문자열 + 숫자 → 오류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85800" y="1874520"/>
            <a:ext cx="5227168" cy="1316736"/>
          </a:xfrm>
          <a:prstGeom prst="roundRect">
            <a:avLst>
              <a:gd name="adj" fmla="val 6944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2002536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8" name="Shape 6"/>
          <p:cNvSpPr/>
          <p:nvPr/>
        </p:nvSpPr>
        <p:spPr>
          <a:xfrm>
            <a:off x="1069848" y="2002536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9" name="Shape 7"/>
          <p:cNvSpPr/>
          <p:nvPr/>
        </p:nvSpPr>
        <p:spPr>
          <a:xfrm>
            <a:off x="1271016" y="2002536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554480" y="1929384"/>
            <a:ext cx="412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Colab 코드 셀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" y="2240280"/>
            <a:ext cx="5227168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95528" y="2404872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2404872"/>
            <a:ext cx="444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 = input(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'나이 : 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    </a:t>
            </a:r>
            <a:pPr indent="0" marL="0">
              <a:buNone/>
            </a:pPr>
            <a:r>
              <a:rPr lang="en-US" sz="1300" i="1" dirty="0">
                <a:solidFill>
                  <a:srgbClr val="7C89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'20'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95528" y="2715768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2715768"/>
            <a:ext cx="444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(age + 1)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5800" y="3300984"/>
            <a:ext cx="5227168" cy="978408"/>
          </a:xfrm>
          <a:prstGeom prst="roundRect">
            <a:avLst>
              <a:gd name="adj" fmla="val 747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17" name="Text 15"/>
          <p:cNvSpPr txBox="1"/>
          <p:nvPr/>
        </p:nvSpPr>
        <p:spPr>
          <a:xfrm>
            <a:off x="868680" y="339242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3685032"/>
            <a:ext cx="486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TypeError: can only concatenate str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(not "int") to str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278728" y="1463040"/>
            <a:ext cx="522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472B6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✗  문자열 + 문자열 → 이어 붙이기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6278728" y="1874520"/>
            <a:ext cx="5227168" cy="1316736"/>
          </a:xfrm>
          <a:prstGeom prst="roundRect">
            <a:avLst>
              <a:gd name="adj" fmla="val 6944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61608" y="2002536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22" name="Shape 20"/>
          <p:cNvSpPr/>
          <p:nvPr/>
        </p:nvSpPr>
        <p:spPr>
          <a:xfrm>
            <a:off x="6662776" y="2002536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3" name="Shape 21"/>
          <p:cNvSpPr/>
          <p:nvPr/>
        </p:nvSpPr>
        <p:spPr>
          <a:xfrm>
            <a:off x="6863944" y="2002536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147408" y="1929384"/>
            <a:ext cx="412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Colab 코드 셀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78728" y="2240280"/>
            <a:ext cx="5227168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388456" y="2404872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6873088" y="2404872"/>
            <a:ext cx="444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 = input(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'나이 : 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    </a:t>
            </a:r>
            <a:pPr indent="0" marL="0">
              <a:buNone/>
            </a:pPr>
            <a:r>
              <a:rPr lang="en-US" sz="1300" i="1" dirty="0">
                <a:solidFill>
                  <a:srgbClr val="7C89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'20'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6388456" y="2715768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6873088" y="2715768"/>
            <a:ext cx="444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(age +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'1'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278728" y="3300984"/>
            <a:ext cx="5227168" cy="740664"/>
          </a:xfrm>
          <a:prstGeom prst="roundRect">
            <a:avLst>
              <a:gd name="adj" fmla="val 987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31" name="Text 29"/>
          <p:cNvSpPr txBox="1"/>
          <p:nvPr/>
        </p:nvSpPr>
        <p:spPr>
          <a:xfrm>
            <a:off x="6461608" y="339242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6461608" y="3685032"/>
            <a:ext cx="48614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201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85800" y="4434840"/>
            <a:ext cx="10820095" cy="1188720"/>
          </a:xfrm>
          <a:prstGeom prst="roundRect">
            <a:avLst>
              <a:gd name="adj" fmla="val 9231"/>
            </a:avLst>
          </a:prstGeom>
          <a:solidFill>
            <a:srgbClr val="10193A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60120" y="4434840"/>
            <a:ext cx="102714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왜 그럴까?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'20' 은 숫자가 아니라 글자 '2' 와 '0' 이에요. 글자끼리 + 는 '이어 붙이기' (2.3 문자열 연결)라서 '20' + '1' = '201'.  계산하려면 먼저 숫자로 바꿔야 해요 → 다음 장 int( )!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685800" y="576072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38BDF8">
              <a:alpha val="12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오류 읽기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concatenate = 이어 붙이다 → 'str 에는 str 만 이어 붙일 수 있어요' 라는 뜻!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03장 1-2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01. 입력문  ·  input( )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1-2 숫자로 변환 — int( ) · float( ) 로 상자 뜯기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54480"/>
            <a:ext cx="1280160" cy="731520"/>
          </a:xfrm>
          <a:prstGeom prst="rect">
            <a:avLst/>
          </a:prstGeom>
          <a:solidFill>
            <a:srgbClr val="B45309">
              <a:alpha val="70000"/>
            </a:srgbClr>
          </a:solidFill>
          <a:ln w="19050">
            <a:solidFill>
              <a:srgbClr val="FACC1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55448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'20'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103120" y="1773936"/>
            <a:ext cx="457200" cy="292608"/>
          </a:xfrm>
          <a:prstGeom prst="rightArrow">
            <a:avLst/>
          </a:prstGeom>
          <a:solidFill>
            <a:srgbClr val="6366F1"/>
          </a:solidFill>
          <a:ln/>
        </p:spPr>
      </p:sp>
      <p:sp>
        <p:nvSpPr>
          <p:cNvPr id="8" name="Shape 6"/>
          <p:cNvSpPr/>
          <p:nvPr/>
        </p:nvSpPr>
        <p:spPr>
          <a:xfrm>
            <a:off x="2651760" y="1709928"/>
            <a:ext cx="1280160" cy="420624"/>
          </a:xfrm>
          <a:prstGeom prst="roundRect">
            <a:avLst>
              <a:gd name="adj" fmla="val 50000"/>
            </a:avLst>
          </a:prstGeom>
          <a:solidFill>
            <a:srgbClr val="38BDF8">
              <a:alpha val="2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651760" y="1709928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8BD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int( 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023360" y="1773936"/>
            <a:ext cx="457200" cy="292608"/>
          </a:xfrm>
          <a:prstGeom prst="rightArrow">
            <a:avLst/>
          </a:prstGeom>
          <a:solidFill>
            <a:srgbClr val="6366F1"/>
          </a:solidFill>
          <a:ln/>
        </p:spPr>
      </p:sp>
      <p:sp>
        <p:nvSpPr>
          <p:cNvPr id="11" name="Shape 9"/>
          <p:cNvSpPr/>
          <p:nvPr/>
        </p:nvSpPr>
        <p:spPr>
          <a:xfrm>
            <a:off x="4617720" y="1536192"/>
            <a:ext cx="768096" cy="768096"/>
          </a:xfrm>
          <a:prstGeom prst="ellipse">
            <a:avLst/>
          </a:prstGeom>
          <a:solidFill>
            <a:srgbClr val="38BDF8">
              <a:alpha val="50000"/>
            </a:srgbClr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17720" y="153619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5532120" y="15544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정수 (개수 · 나이 · 수량)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5800" y="2514600"/>
            <a:ext cx="1280160" cy="731520"/>
          </a:xfrm>
          <a:prstGeom prst="rect">
            <a:avLst/>
          </a:prstGeom>
          <a:solidFill>
            <a:srgbClr val="B45309">
              <a:alpha val="70000"/>
            </a:srgbClr>
          </a:solidFill>
          <a:ln w="19050">
            <a:solidFill>
              <a:srgbClr val="FACC1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251460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'3.5'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2103120" y="2734056"/>
            <a:ext cx="457200" cy="292608"/>
          </a:xfrm>
          <a:prstGeom prst="rightArrow">
            <a:avLst/>
          </a:prstGeom>
          <a:solidFill>
            <a:srgbClr val="6366F1"/>
          </a:solidFill>
          <a:ln/>
        </p:spPr>
      </p:sp>
      <p:sp>
        <p:nvSpPr>
          <p:cNvPr id="17" name="Shape 15"/>
          <p:cNvSpPr/>
          <p:nvPr/>
        </p:nvSpPr>
        <p:spPr>
          <a:xfrm>
            <a:off x="2651760" y="2670048"/>
            <a:ext cx="1280160" cy="420624"/>
          </a:xfrm>
          <a:prstGeom prst="roundRect">
            <a:avLst>
              <a:gd name="adj" fmla="val 50000"/>
            </a:avLst>
          </a:prstGeom>
          <a:solidFill>
            <a:srgbClr val="34D399">
              <a:alpha val="20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651760" y="2670048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float( )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023360" y="2734056"/>
            <a:ext cx="457200" cy="292608"/>
          </a:xfrm>
          <a:prstGeom prst="rightArrow">
            <a:avLst/>
          </a:prstGeom>
          <a:solidFill>
            <a:srgbClr val="6366F1"/>
          </a:solidFill>
          <a:ln/>
        </p:spPr>
      </p:sp>
      <p:sp>
        <p:nvSpPr>
          <p:cNvPr id="20" name="Shape 18"/>
          <p:cNvSpPr/>
          <p:nvPr/>
        </p:nvSpPr>
        <p:spPr>
          <a:xfrm>
            <a:off x="4617720" y="2496312"/>
            <a:ext cx="768096" cy="768096"/>
          </a:xfrm>
          <a:prstGeom prst="ellipse">
            <a:avLst/>
          </a:prstGeom>
          <a:solidFill>
            <a:srgbClr val="34D399">
              <a:alpha val="50000"/>
            </a:srgbClr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617720" y="249631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3.5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5532120" y="25146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실수 (키 · 몸무게 · 환율)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909560" y="1508760"/>
            <a:ext cx="3596335" cy="1316736"/>
          </a:xfrm>
          <a:prstGeom prst="roundRect">
            <a:avLst>
              <a:gd name="adj" fmla="val 6944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092440" y="1636776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25" name="Shape 23"/>
          <p:cNvSpPr/>
          <p:nvPr/>
        </p:nvSpPr>
        <p:spPr>
          <a:xfrm>
            <a:off x="8293608" y="1636776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6" name="Shape 24"/>
          <p:cNvSpPr/>
          <p:nvPr/>
        </p:nvSpPr>
        <p:spPr>
          <a:xfrm>
            <a:off x="8494776" y="1636776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778240" y="1563624"/>
            <a:ext cx="24990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Colab 코드 셀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909560" y="1874520"/>
            <a:ext cx="3596335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019288" y="2039112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8503920" y="2039112"/>
            <a:ext cx="2819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 = int(input(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'나이 : 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8019288" y="2350008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8503920" y="2350008"/>
            <a:ext cx="2819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(age + 1)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7909560" y="2935224"/>
            <a:ext cx="3596335" cy="978408"/>
          </a:xfrm>
          <a:prstGeom prst="roundRect">
            <a:avLst>
              <a:gd name="adj" fmla="val 747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34" name="Text 32"/>
          <p:cNvSpPr txBox="1"/>
          <p:nvPr/>
        </p:nvSpPr>
        <p:spPr>
          <a:xfrm>
            <a:off x="8092440" y="30266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9128455" y="302666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ACC15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▮ = 키보드로 입력한 값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8092440" y="3319272"/>
            <a:ext cx="32305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나이 : </a:t>
            </a:r>
            <a:pPr indent="0" marL="0">
              <a:lnSpc>
                <a:spcPts val="1885"/>
              </a:lnSpc>
              <a:buNone/>
            </a:pPr>
            <a:r>
              <a:rPr lang="en-US" sz="1300" b="1" u="sng" dirty="0">
                <a:solidFill>
                  <a:srgbClr val="FACC15"/>
                </a:solidFill>
                <a:uFill>
                  <a:solidFill>
                    <a:srgbClr val="FACC15"/>
                  </a:solidFill>
                </a:u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1300" dirty="0"/>
          </a:p>
          <a:p>
            <a:pPr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7909560" y="4005072"/>
            <a:ext cx="35963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4D399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input( ) 을 int( ) 로 감싸면 한 줄로 끝!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85800" y="3520440"/>
            <a:ext cx="6949440" cy="1243584"/>
          </a:xfrm>
          <a:prstGeom prst="roundRect">
            <a:avLst>
              <a:gd name="adj" fmla="val 7353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68680" y="3648456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40" name="Shape 38"/>
          <p:cNvSpPr/>
          <p:nvPr/>
        </p:nvSpPr>
        <p:spPr>
          <a:xfrm>
            <a:off x="1069848" y="3648456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41" name="Shape 39"/>
          <p:cNvSpPr/>
          <p:nvPr/>
        </p:nvSpPr>
        <p:spPr>
          <a:xfrm>
            <a:off x="1271016" y="3648456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1554480" y="3575304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Colab 코드 셀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85800" y="3886200"/>
            <a:ext cx="6949440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795528" y="40507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1280160" y="4050792"/>
            <a:ext cx="6172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height = float(input(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'키(m) : 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300" dirty="0"/>
          </a:p>
        </p:txBody>
      </p:sp>
      <p:sp>
        <p:nvSpPr>
          <p:cNvPr id="46" name="Text 44"/>
          <p:cNvSpPr txBox="1"/>
          <p:nvPr/>
        </p:nvSpPr>
        <p:spPr>
          <a:xfrm>
            <a:off x="795528" y="43251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47" name="Text 45"/>
          <p:cNvSpPr txBox="1"/>
          <p:nvPr/>
        </p:nvSpPr>
        <p:spPr>
          <a:xfrm>
            <a:off x="1280160" y="4325112"/>
            <a:ext cx="6172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(height * 100,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'cm'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685800" y="4873752"/>
            <a:ext cx="6949440" cy="978408"/>
          </a:xfrm>
          <a:prstGeom prst="roundRect">
            <a:avLst>
              <a:gd name="adj" fmla="val 747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49" name="Text 47"/>
          <p:cNvSpPr txBox="1"/>
          <p:nvPr/>
        </p:nvSpPr>
        <p:spPr>
          <a:xfrm>
            <a:off x="868680" y="49651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50" name="Text 48"/>
          <p:cNvSpPr txBox="1"/>
          <p:nvPr/>
        </p:nvSpPr>
        <p:spPr>
          <a:xfrm>
            <a:off x="5257800" y="496519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ACC15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▮ = 키보드로 입력한 값</a:t>
            </a:r>
            <a:endParaRPr lang="en-US" sz="1100" dirty="0"/>
          </a:p>
        </p:txBody>
      </p:sp>
      <p:sp>
        <p:nvSpPr>
          <p:cNvPr id="51" name="Text 49"/>
          <p:cNvSpPr txBox="1"/>
          <p:nvPr/>
        </p:nvSpPr>
        <p:spPr>
          <a:xfrm>
            <a:off x="868680" y="525780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키(m) : </a:t>
            </a:r>
            <a:pPr indent="0" marL="0">
              <a:lnSpc>
                <a:spcPts val="1885"/>
              </a:lnSpc>
              <a:buNone/>
            </a:pPr>
            <a:r>
              <a:rPr lang="en-US" sz="1300" b="1" u="sng" dirty="0">
                <a:solidFill>
                  <a:srgbClr val="FACC15"/>
                </a:solidFill>
                <a:uFill>
                  <a:solidFill>
                    <a:srgbClr val="FACC15"/>
                  </a:solidFill>
                </a:uFill>
                <a:latin typeface="Consolas" pitchFamily="34" charset="0"/>
                <a:ea typeface="Consolas" pitchFamily="34" charset="-122"/>
                <a:cs typeface="Consolas" pitchFamily="34" charset="-120"/>
              </a:rPr>
              <a:t>1.75</a:t>
            </a:r>
            <a:endParaRPr lang="en-US" sz="1300" dirty="0"/>
          </a:p>
          <a:p>
            <a:pPr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175.0 cm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7909560" y="4480560"/>
            <a:ext cx="3596335" cy="777240"/>
          </a:xfrm>
          <a:prstGeom prst="roundRect">
            <a:avLst>
              <a:gd name="adj" fmla="val 14118"/>
            </a:avLst>
          </a:prstGeom>
          <a:solidFill>
            <a:srgbClr val="FACC15">
              <a:alpha val="12000"/>
            </a:srgbClr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8138160" y="4480560"/>
            <a:ext cx="31391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읽는 순서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안쪽 괄호부터! ① input( ) 받기 ② int( ) 변환 ③ age 에 저장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7909560" y="5394960"/>
            <a:ext cx="3596335" cy="777240"/>
          </a:xfrm>
          <a:prstGeom prst="roundRect">
            <a:avLst>
              <a:gd name="adj" fmla="val 14118"/>
            </a:avLst>
          </a:prstGeom>
          <a:solidFill>
            <a:srgbClr val="38BDF8">
              <a:alpha val="12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8138160" y="5394960"/>
            <a:ext cx="31391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비유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input( ) = 포장된 상자,  int( ) · float( ) = 상자를 뜯는 칼!</a:t>
            </a:r>
            <a:endParaRPr lang="en-US" sz="1300" dirty="0"/>
          </a:p>
        </p:txBody>
      </p:sp>
      <p:sp>
        <p:nvSpPr>
          <p:cNvPr id="56" name="Text 54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03장 1-2, Python Built-in Functions — input( ) · print( ) · open( ) (docs.python.org/3/library/functions.html)</a:t>
            </a:r>
            <a:endParaRPr lang="en-US" sz="1000" dirty="0"/>
          </a:p>
        </p:txBody>
      </p:sp>
      <p:sp>
        <p:nvSpPr>
          <p:cNvPr id="57" name="Text 55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01. 입력문  ·  input( )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int( ) 와 float( ) — 무엇을 넣으면 어떻게 될까?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508760"/>
          <a:ext cx="10820095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2194560"/>
                <a:gridCol w="5699455"/>
              </a:tblGrid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코드</a:t>
                      </a:r>
                      <a:endParaRPr lang="en-US" sz="15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결과</a:t>
                      </a:r>
                      <a:endParaRPr lang="en-US" sz="15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설명</a:t>
                      </a:r>
                      <a:endParaRPr lang="en-US" sz="15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3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int('20')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4D39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정수 모양 글자 → 정수 ✓</a:t>
                      </a:r>
                      <a:endParaRPr lang="en-US" sz="15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float('20')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4D39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20.0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정수 모양도 실수로 ✓</a:t>
                      </a:r>
                      <a:endParaRPr lang="en-US" sz="15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float('3.5')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4D39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3.5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소수점 글자 → 실수 ✓</a:t>
                      </a:r>
                      <a:endParaRPr lang="en-US" sz="15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int('3.5')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4D39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ValueError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소수점 글자는 int 로 바로 못 바꿈 ✗</a:t>
                      </a:r>
                      <a:endParaRPr lang="en-US" sz="15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int('20살')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4D39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ValueError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숫자가 아닌 글자 섞임 ✗</a:t>
                      </a:r>
                      <a:endParaRPr lang="en-US" sz="15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int(3.9)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4D39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숫자(실수) → 정수는 버림 (2.2 복습)</a:t>
                      </a:r>
                      <a:endParaRPr lang="en-US" sz="15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85800" y="5257800"/>
            <a:ext cx="10820095" cy="502920"/>
          </a:xfrm>
          <a:prstGeom prst="roundRect">
            <a:avLst>
              <a:gd name="adj" fmla="val 21818"/>
            </a:avLst>
          </a:prstGeom>
          <a:solidFill>
            <a:srgbClr val="10193A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60120" y="5257800"/>
            <a:ext cx="102714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어떤 걸 쓸까?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소수점이 나올 수 있으면 float( ),  개수처럼 딱 떨어지면 int( )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85800" y="5852160"/>
            <a:ext cx="10820095" cy="411480"/>
          </a:xfrm>
          <a:prstGeom prst="roundRect">
            <a:avLst>
              <a:gd name="adj" fmla="val 26667"/>
            </a:avLst>
          </a:prstGeom>
          <a:solidFill>
            <a:srgbClr val="F472B6">
              <a:alpha val="12000"/>
            </a:srgbClr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14400" y="5852160"/>
            <a:ext cx="103628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72B6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ValueError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'값(value)이 이상해요' — 바꿀 수 없는 글자를 넣었다는 뜻이에요.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Python Built-in Functions — input( ) · print( ) · open( ) (docs.python.org/3/library/functions.html)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01. 입력문  ·  input( )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예제 ① 반지름을 입력받아 원의 둘레 구하기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463040"/>
            <a:ext cx="2464994" cy="868680"/>
          </a:xfrm>
          <a:prstGeom prst="roundRect">
            <a:avLst>
              <a:gd name="adj" fmla="val 12632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645920"/>
            <a:ext cx="347472" cy="347472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16459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1618488"/>
            <a:ext cx="16877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입력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103120"/>
            <a:ext cx="214495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input( ) 으로 반지름 받기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196514" y="1778508"/>
            <a:ext cx="228600" cy="237744"/>
          </a:xfrm>
          <a:prstGeom prst="rightArrow">
            <a:avLst/>
          </a:prstGeom>
          <a:solidFill>
            <a:srgbClr val="6366F1"/>
          </a:solidFill>
          <a:ln/>
        </p:spPr>
      </p:sp>
      <p:sp>
        <p:nvSpPr>
          <p:cNvPr id="11" name="Shape 9"/>
          <p:cNvSpPr/>
          <p:nvPr/>
        </p:nvSpPr>
        <p:spPr>
          <a:xfrm>
            <a:off x="3470834" y="1463040"/>
            <a:ext cx="2464994" cy="868680"/>
          </a:xfrm>
          <a:prstGeom prst="roundRect">
            <a:avLst>
              <a:gd name="adj" fmla="val 12632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3714" y="1645920"/>
            <a:ext cx="347472" cy="347472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653714" y="16459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110914" y="1618488"/>
            <a:ext cx="16877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변환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3653714" y="2103120"/>
            <a:ext cx="214495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float( ) 로 숫자로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981548" y="1778508"/>
            <a:ext cx="228600" cy="237744"/>
          </a:xfrm>
          <a:prstGeom prst="rightArrow">
            <a:avLst/>
          </a:prstGeom>
          <a:solidFill>
            <a:srgbClr val="6366F1"/>
          </a:solidFill>
          <a:ln/>
        </p:spPr>
      </p:sp>
      <p:sp>
        <p:nvSpPr>
          <p:cNvPr id="17" name="Shape 15"/>
          <p:cNvSpPr/>
          <p:nvPr/>
        </p:nvSpPr>
        <p:spPr>
          <a:xfrm>
            <a:off x="6255868" y="1463040"/>
            <a:ext cx="2464994" cy="868680"/>
          </a:xfrm>
          <a:prstGeom prst="roundRect">
            <a:avLst>
              <a:gd name="adj" fmla="val 12632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38748" y="1645920"/>
            <a:ext cx="347472" cy="347472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38748" y="16459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895948" y="1618488"/>
            <a:ext cx="16877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계산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438748" y="2103120"/>
            <a:ext cx="214495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둘레 = 2 × 3.14 × r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766581" y="1778508"/>
            <a:ext cx="228600" cy="237744"/>
          </a:xfrm>
          <a:prstGeom prst="rightArrow">
            <a:avLst/>
          </a:prstGeom>
          <a:solidFill>
            <a:srgbClr val="6366F1"/>
          </a:solidFill>
          <a:ln/>
        </p:spPr>
      </p:sp>
      <p:sp>
        <p:nvSpPr>
          <p:cNvPr id="23" name="Shape 21"/>
          <p:cNvSpPr/>
          <p:nvPr/>
        </p:nvSpPr>
        <p:spPr>
          <a:xfrm>
            <a:off x="9040901" y="1463040"/>
            <a:ext cx="2464994" cy="868680"/>
          </a:xfrm>
          <a:prstGeom prst="roundRect">
            <a:avLst>
              <a:gd name="adj" fmla="val 12632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223781" y="1645920"/>
            <a:ext cx="347472" cy="347472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223781" y="16459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9680981" y="1618488"/>
            <a:ext cx="16877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출력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9223781" y="2103120"/>
            <a:ext cx="214495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print( ) 로 결과 보여 주기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85800" y="2468880"/>
            <a:ext cx="6035040" cy="1792224"/>
          </a:xfrm>
          <a:prstGeom prst="roundRect">
            <a:avLst>
              <a:gd name="adj" fmla="val 5102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68680" y="2596896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30" name="Shape 28"/>
          <p:cNvSpPr/>
          <p:nvPr/>
        </p:nvSpPr>
        <p:spPr>
          <a:xfrm>
            <a:off x="1069848" y="2596896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31" name="Shape 29"/>
          <p:cNvSpPr/>
          <p:nvPr/>
        </p:nvSpPr>
        <p:spPr>
          <a:xfrm>
            <a:off x="1271016" y="2596896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1554480" y="2523744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Colab 코드 셀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85800" y="2834640"/>
            <a:ext cx="6035040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795528" y="29992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1280160" y="2999232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 = float(input(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'반지름을 입력하세요 : 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795528" y="32735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1280160" y="3273552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length = 2 * 3.14 * r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795528" y="35478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1280160" y="3547872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'원의 둘레는'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length)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795528" y="38221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1280160" y="3822192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'반올림하면'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round(length, 2))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685800" y="4370832"/>
            <a:ext cx="6035040" cy="1216152"/>
          </a:xfrm>
          <a:prstGeom prst="roundRect">
            <a:avLst>
              <a:gd name="adj" fmla="val 6015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43" name="Text 41"/>
          <p:cNvSpPr txBox="1"/>
          <p:nvPr/>
        </p:nvSpPr>
        <p:spPr>
          <a:xfrm>
            <a:off x="868680" y="44622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4343400" y="446227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ACC15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▮ = 키보드로 입력한 값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868680" y="4754880"/>
            <a:ext cx="566928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반지름을 입력하세요 : </a:t>
            </a:r>
            <a:pPr indent="0" marL="0">
              <a:lnSpc>
                <a:spcPts val="1885"/>
              </a:lnSpc>
              <a:buNone/>
            </a:pPr>
            <a:r>
              <a:rPr lang="en-US" sz="1300" b="1" u="sng" dirty="0">
                <a:solidFill>
                  <a:srgbClr val="FACC15"/>
                </a:solidFill>
                <a:uFill>
                  <a:solidFill>
                    <a:srgbClr val="FACC15"/>
                  </a:solidFill>
                </a:u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300" dirty="0"/>
          </a:p>
          <a:p>
            <a:pPr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원의 둘레는 31.400000000000002</a:t>
            </a:r>
            <a:endParaRPr lang="en-US" sz="1300" dirty="0"/>
          </a:p>
          <a:p>
            <a:pPr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반올림하면 31.4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7040880" y="2468880"/>
            <a:ext cx="4465015" cy="1965960"/>
          </a:xfrm>
          <a:prstGeom prst="roundRect">
            <a:avLst>
              <a:gd name="adj" fmla="val 5581"/>
            </a:avLst>
          </a:prstGeom>
          <a:solidFill>
            <a:srgbClr val="10193A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7269480" y="2468880"/>
            <a:ext cx="4007815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31.400000000000002 ?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컴퓨터는 실수를 2진수로 저장해서 아주 작은 오차가 생겨요 (2.2 숫자형). 보여 줄 때는 round( ) 나 f-string 으로 자릿수를 정리해요.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7040880" y="4572000"/>
            <a:ext cx="4465015" cy="1005840"/>
          </a:xfrm>
          <a:prstGeom prst="roundRect">
            <a:avLst>
              <a:gd name="adj" fmla="val 10909"/>
            </a:avLst>
          </a:prstGeom>
          <a:solidFill>
            <a:srgbClr val="38BDF8">
              <a:alpha val="12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7269480" y="4572000"/>
            <a:ext cx="40078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더 정확히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import math 후 math.pi 를 쓰면 3.14159… 로 계산돼요.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685800" y="580644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34D399">
              <a:alpha val="12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914400" y="580644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핵심 패턴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입력 → 변환 → 계산 → 출력 — 앞으로 만드는 거의 모든 프로그램의 뼈대예요!</a:t>
            </a:r>
            <a:endParaRPr lang="en-US" sz="1500" dirty="0"/>
          </a:p>
        </p:txBody>
      </p:sp>
      <p:sp>
        <p:nvSpPr>
          <p:cNvPr id="52" name="Text 50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03장 1-2</a:t>
            </a:r>
            <a:endParaRPr lang="en-US" sz="1000" dirty="0"/>
          </a:p>
        </p:txBody>
      </p:sp>
      <p:sp>
        <p:nvSpPr>
          <p:cNvPr id="53" name="Text 51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01. 입력문  ·  input( )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예제 ② 카페 키오스크 — 수량을 입력받아 결제 금액 계산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08760"/>
            <a:ext cx="6035040" cy="1938528"/>
          </a:xfrm>
          <a:prstGeom prst="roundRect">
            <a:avLst>
              <a:gd name="adj" fmla="val 4717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636776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7" name="Shape 5"/>
          <p:cNvSpPr/>
          <p:nvPr/>
        </p:nvSpPr>
        <p:spPr>
          <a:xfrm>
            <a:off x="1069848" y="1636776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8" name="Shape 6"/>
          <p:cNvSpPr/>
          <p:nvPr/>
        </p:nvSpPr>
        <p:spPr>
          <a:xfrm>
            <a:off x="1271016" y="1636776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554480" y="1563624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Colab 코드 셀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" y="1874520"/>
            <a:ext cx="6035040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95528" y="2039112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2039112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 = 4500                      </a:t>
            </a:r>
            <a:pPr indent="0" marL="0">
              <a:buNone/>
            </a:pPr>
            <a:r>
              <a:rPr lang="en-US" sz="1300" i="1" dirty="0">
                <a:solidFill>
                  <a:srgbClr val="7C89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아메리카노 가격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95528" y="2350008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2350008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qty = int(input(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'몇 잔 주문할까요? 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95528" y="2660904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2660904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= price * qty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95528" y="2971800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2971800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'결제 금액 :'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total,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'원'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85800" y="3557016"/>
            <a:ext cx="6035040" cy="978408"/>
          </a:xfrm>
          <a:prstGeom prst="roundRect">
            <a:avLst>
              <a:gd name="adj" fmla="val 747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20" name="Text 18"/>
          <p:cNvSpPr txBox="1"/>
          <p:nvPr/>
        </p:nvSpPr>
        <p:spPr>
          <a:xfrm>
            <a:off x="868680" y="364845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343400" y="364845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ACC15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▮ = 키보드로 입력한 값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868680" y="3941064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몇 잔 주문할까요? </a:t>
            </a:r>
            <a:pPr indent="0" marL="0">
              <a:lnSpc>
                <a:spcPts val="1885"/>
              </a:lnSpc>
              <a:buNone/>
            </a:pPr>
            <a:r>
              <a:rPr lang="en-US" sz="1300" b="1" u="sng" dirty="0">
                <a:solidFill>
                  <a:srgbClr val="FACC15"/>
                </a:solidFill>
                <a:uFill>
                  <a:solidFill>
                    <a:srgbClr val="FACC15"/>
                  </a:solidFill>
                </a:u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300" dirty="0"/>
          </a:p>
          <a:p>
            <a:pPr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결제 금액 : 13500 원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040880" y="1508760"/>
            <a:ext cx="4465015" cy="1417320"/>
          </a:xfrm>
          <a:prstGeom prst="roundRect">
            <a:avLst>
              <a:gd name="adj" fmla="val 7742"/>
            </a:avLst>
          </a:prstGeom>
          <a:solidFill>
            <a:srgbClr val="0D1B3D"/>
          </a:solidFill>
          <a:ln w="15240">
            <a:solidFill>
              <a:srgbClr val="F472B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269480" y="1508760"/>
            <a:ext cx="4007815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472B6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Q. int( ) 를 빼면?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qty 가 '3' (문자열) 그대로 → 4500 * '3' 은 '3' 을 4500번 반복한 긴 글자가 돼요. 금액 계산이 엉망!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7040880" y="3108960"/>
            <a:ext cx="4465015" cy="1417320"/>
          </a:xfrm>
          <a:prstGeom prst="roundRect">
            <a:avLst>
              <a:gd name="adj" fmla="val 7742"/>
            </a:avLst>
          </a:prstGeom>
          <a:solidFill>
            <a:srgbClr val="0D1B3D"/>
          </a:solidFill>
          <a:ln w="15240">
            <a:solidFill>
              <a:srgbClr val="38BDF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269480" y="3108960"/>
            <a:ext cx="4007815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Q. 2.5 잔을 입력하면?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int('2.5') → ValueError. 잔 수는 정수니까 int( ) 가 맞아요.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85800" y="4718304"/>
            <a:ext cx="6035040" cy="905256"/>
          </a:xfrm>
          <a:prstGeom prst="roundRect">
            <a:avLst>
              <a:gd name="adj" fmla="val 12121"/>
            </a:avLst>
          </a:prstGeom>
          <a:solidFill>
            <a:srgbClr val="10193A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60120" y="4718304"/>
            <a:ext cx="548640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직접 바꿔 보기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price 를 5000(라떼)으로 바꾸고, 입력한 수량에 따라 금액이 달라지는지 확인!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85800" y="580644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34D399">
              <a:alpha val="12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14400" y="580644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실무 연결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주문 · 재고 · 견적 프로그램 모두 '입력받은 수량 × 단가' 에서 시작해요.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03장 1-2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01. 입력문  ·  input( )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1-3 문자열로 변환 — str( ) 로 숫자를 글자로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63040"/>
            <a:ext cx="522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472B6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✗  문자열 + 숫자는 이어 붙일 수 없어요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1874520"/>
            <a:ext cx="5227168" cy="1316736"/>
          </a:xfrm>
          <a:prstGeom prst="roundRect">
            <a:avLst>
              <a:gd name="adj" fmla="val 6944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2002536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8" name="Shape 6"/>
          <p:cNvSpPr/>
          <p:nvPr/>
        </p:nvSpPr>
        <p:spPr>
          <a:xfrm>
            <a:off x="1069848" y="2002536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9" name="Shape 7"/>
          <p:cNvSpPr/>
          <p:nvPr/>
        </p:nvSpPr>
        <p:spPr>
          <a:xfrm>
            <a:off x="1271016" y="2002536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554480" y="1929384"/>
            <a:ext cx="412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Colab 코드 셀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" y="2240280"/>
            <a:ext cx="5227168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95528" y="2404872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2404872"/>
            <a:ext cx="444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 = 20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95528" y="2715768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2715768"/>
            <a:ext cx="444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'나이는 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age +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'살'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5800" y="3300984"/>
            <a:ext cx="5227168" cy="978408"/>
          </a:xfrm>
          <a:prstGeom prst="roundRect">
            <a:avLst>
              <a:gd name="adj" fmla="val 747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17" name="Text 15"/>
          <p:cNvSpPr txBox="1"/>
          <p:nvPr/>
        </p:nvSpPr>
        <p:spPr>
          <a:xfrm>
            <a:off x="868680" y="339242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3685032"/>
            <a:ext cx="486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TypeError: can only concatenate str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(not "int") to str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278728" y="1463040"/>
            <a:ext cx="522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✓  str( ) 로 숫자를 글자로 바꾸면 OK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278728" y="1874520"/>
            <a:ext cx="5227168" cy="1316736"/>
          </a:xfrm>
          <a:prstGeom prst="roundRect">
            <a:avLst>
              <a:gd name="adj" fmla="val 6944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61608" y="2002536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22" name="Shape 20"/>
          <p:cNvSpPr/>
          <p:nvPr/>
        </p:nvSpPr>
        <p:spPr>
          <a:xfrm>
            <a:off x="6662776" y="2002536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3" name="Shape 21"/>
          <p:cNvSpPr/>
          <p:nvPr/>
        </p:nvSpPr>
        <p:spPr>
          <a:xfrm>
            <a:off x="6863944" y="2002536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147408" y="1929384"/>
            <a:ext cx="412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Colab 코드 셀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78728" y="2240280"/>
            <a:ext cx="5227168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388456" y="2404872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6873088" y="2404872"/>
            <a:ext cx="444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 = 20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6388456" y="2715768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6873088" y="2715768"/>
            <a:ext cx="444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'나이는 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str(age) +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'살'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278728" y="3300984"/>
            <a:ext cx="5227168" cy="740664"/>
          </a:xfrm>
          <a:prstGeom prst="roundRect">
            <a:avLst>
              <a:gd name="adj" fmla="val 987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31" name="Text 29"/>
          <p:cNvSpPr txBox="1"/>
          <p:nvPr/>
        </p:nvSpPr>
        <p:spPr>
          <a:xfrm>
            <a:off x="6461608" y="339242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6461608" y="3685032"/>
            <a:ext cx="48614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나이는 20살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1600200" y="4389120"/>
            <a:ext cx="822960" cy="822960"/>
          </a:xfrm>
          <a:prstGeom prst="ellipse">
            <a:avLst/>
          </a:prstGeom>
          <a:solidFill>
            <a:srgbClr val="38BDF8">
              <a:alpha val="50000"/>
            </a:srgbClr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600200" y="4389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2560320" y="4663440"/>
            <a:ext cx="548640" cy="292608"/>
          </a:xfrm>
          <a:prstGeom prst="rightArrow">
            <a:avLst/>
          </a:prstGeom>
          <a:solidFill>
            <a:srgbClr val="6366F1"/>
          </a:solidFill>
          <a:ln/>
        </p:spPr>
      </p:sp>
      <p:sp>
        <p:nvSpPr>
          <p:cNvPr id="36" name="Shape 34"/>
          <p:cNvSpPr/>
          <p:nvPr/>
        </p:nvSpPr>
        <p:spPr>
          <a:xfrm>
            <a:off x="3246120" y="4590288"/>
            <a:ext cx="1280160" cy="420624"/>
          </a:xfrm>
          <a:prstGeom prst="roundRect">
            <a:avLst>
              <a:gd name="adj" fmla="val 50000"/>
            </a:avLst>
          </a:prstGeom>
          <a:solidFill>
            <a:srgbClr val="FACC15">
              <a:alpha val="20000"/>
            </a:srgbClr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3246120" y="4590288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ACC15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str( )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4663440" y="4663440"/>
            <a:ext cx="548640" cy="292608"/>
          </a:xfrm>
          <a:prstGeom prst="rightArrow">
            <a:avLst/>
          </a:prstGeom>
          <a:solidFill>
            <a:srgbClr val="6366F1"/>
          </a:solidFill>
          <a:ln/>
        </p:spPr>
      </p:sp>
      <p:sp>
        <p:nvSpPr>
          <p:cNvPr id="39" name="Shape 37"/>
          <p:cNvSpPr/>
          <p:nvPr/>
        </p:nvSpPr>
        <p:spPr>
          <a:xfrm>
            <a:off x="5349240" y="4434840"/>
            <a:ext cx="1280160" cy="731520"/>
          </a:xfrm>
          <a:prstGeom prst="rect">
            <a:avLst/>
          </a:prstGeom>
          <a:solidFill>
            <a:srgbClr val="B45309">
              <a:alpha val="70000"/>
            </a:srgbClr>
          </a:solidFill>
          <a:ln w="19050">
            <a:solidFill>
              <a:srgbClr val="FACC15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349240" y="443484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'20'</a:t>
            </a:r>
            <a:endParaRPr lang="en-US" sz="1800" dirty="0"/>
          </a:p>
        </p:txBody>
      </p:sp>
      <p:sp>
        <p:nvSpPr>
          <p:cNvPr id="41" name="Text 39"/>
          <p:cNvSpPr txBox="1"/>
          <p:nvPr/>
        </p:nvSpPr>
        <p:spPr>
          <a:xfrm>
            <a:off x="6903720" y="4434840"/>
            <a:ext cx="46021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숫자를 다시 '글자 상자'에 포장 → 다른 글자와 + 로 이어 붙일 수 있어요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685800" y="5285232"/>
            <a:ext cx="10820095" cy="475488"/>
          </a:xfrm>
          <a:prstGeom prst="roundRect">
            <a:avLst>
              <a:gd name="adj" fmla="val 23077"/>
            </a:avLst>
          </a:prstGeom>
          <a:solidFill>
            <a:srgbClr val="10193A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960120" y="5285232"/>
            <a:ext cx="102714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더 쉬운 방법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print('나이는', age, '살')  처럼 콤마(,)를 쓰거나 f-string 을 쓰면 str( ) 없이도 돼요 → 02 출력문에서!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685800" y="5852160"/>
            <a:ext cx="10820095" cy="411480"/>
          </a:xfrm>
          <a:prstGeom prst="roundRect">
            <a:avLst>
              <a:gd name="adj" fmla="val 26667"/>
            </a:avLst>
          </a:prstGeom>
          <a:solidFill>
            <a:srgbClr val="38BDF8">
              <a:alpha val="12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914400" y="5852160"/>
            <a:ext cx="103628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언제 쓰나?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+ 로 문자열을 만들 때,  파일에 숫자를 저장할 때(write 는 문자열만 OK) 꼭 필요해요!</a:t>
            </a:r>
            <a:endParaRPr lang="en-US" sz="1500" dirty="0"/>
          </a:p>
        </p:txBody>
      </p:sp>
      <p:sp>
        <p:nvSpPr>
          <p:cNvPr id="46" name="Text 44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03장 1-3, Python Built-in Functions — input( ) · print( ) · open( ) (docs.python.org/3/library/functions.html)</a:t>
            </a:r>
            <a:endParaRPr lang="en-US" sz="1000" dirty="0"/>
          </a:p>
        </p:txBody>
      </p:sp>
      <p:sp>
        <p:nvSpPr>
          <p:cNvPr id="47" name="Text 45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01. 입력문  ·  input( )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형 변환 함수 3총사 한눈에 보기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08760"/>
            <a:ext cx="3423818" cy="3566160"/>
          </a:xfrm>
          <a:prstGeom prst="roundRect">
            <a:avLst>
              <a:gd name="adj" fmla="val 3205"/>
            </a:avLst>
          </a:prstGeom>
          <a:solidFill>
            <a:srgbClr val="0D1B3D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645920"/>
            <a:ext cx="34238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int( )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240280"/>
            <a:ext cx="34238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정수로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60120" y="2788920"/>
            <a:ext cx="2875178" cy="960120"/>
          </a:xfrm>
          <a:prstGeom prst="roundRect">
            <a:avLst>
              <a:gd name="adj" fmla="val 7619"/>
            </a:avLst>
          </a:prstGeom>
          <a:solidFill>
            <a:srgbClr val="070D2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60120" y="2788920"/>
            <a:ext cx="287517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'20' → 20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3.9 → 3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388620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언제?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input 받은 개수 · 나이 · 수량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383938" y="1508760"/>
            <a:ext cx="3423818" cy="3566160"/>
          </a:xfrm>
          <a:prstGeom prst="roundRect">
            <a:avLst>
              <a:gd name="adj" fmla="val 3205"/>
            </a:avLst>
          </a:prstGeom>
          <a:solidFill>
            <a:srgbClr val="0D1B3D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383938" y="1645920"/>
            <a:ext cx="34238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float( )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383938" y="2240280"/>
            <a:ext cx="34238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실수로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658258" y="2788920"/>
            <a:ext cx="2875178" cy="960120"/>
          </a:xfrm>
          <a:prstGeom prst="roundRect">
            <a:avLst>
              <a:gd name="adj" fmla="val 7619"/>
            </a:avLst>
          </a:prstGeom>
          <a:solidFill>
            <a:srgbClr val="070D2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658258" y="2788920"/>
            <a:ext cx="287517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'3.5' → 3.5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'20' → 20.0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612538" y="388620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언제?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input 받은 키 · 금액 · 환율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082077" y="1508760"/>
            <a:ext cx="3423818" cy="3566160"/>
          </a:xfrm>
          <a:prstGeom prst="roundRect">
            <a:avLst>
              <a:gd name="adj" fmla="val 3205"/>
            </a:avLst>
          </a:prstGeom>
          <a:solidFill>
            <a:srgbClr val="0D1B3D"/>
          </a:solidFill>
          <a:ln w="19050">
            <a:solidFill>
              <a:srgbClr val="FACC1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082077" y="1645920"/>
            <a:ext cx="34238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ACC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str( )</a:t>
            </a:r>
            <a:endParaRPr lang="en-US" sz="3000" dirty="0"/>
          </a:p>
        </p:txBody>
      </p:sp>
      <p:sp>
        <p:nvSpPr>
          <p:cNvPr id="19" name="Text 17"/>
          <p:cNvSpPr txBox="1"/>
          <p:nvPr/>
        </p:nvSpPr>
        <p:spPr>
          <a:xfrm>
            <a:off x="8082077" y="2240280"/>
            <a:ext cx="34238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문자열로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8356397" y="2788920"/>
            <a:ext cx="2875178" cy="960120"/>
          </a:xfrm>
          <a:prstGeom prst="roundRect">
            <a:avLst>
              <a:gd name="adj" fmla="val 7619"/>
            </a:avLst>
          </a:prstGeom>
          <a:solidFill>
            <a:srgbClr val="070D2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356397" y="2788920"/>
            <a:ext cx="287517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→ '20'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3.5 → '3.5'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8310677" y="388620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언제?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+ 로 문장 만들기, 파일에 쓰기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85800" y="5303520"/>
            <a:ext cx="10820095" cy="822960"/>
          </a:xfrm>
          <a:prstGeom prst="roundRect">
            <a:avLst>
              <a:gd name="adj" fmla="val 13333"/>
            </a:avLst>
          </a:prstGeom>
          <a:solidFill>
            <a:srgbClr val="34D399">
              <a:alpha val="12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14400" y="530352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한 줄 공식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숫자 입력 = int(input('…')) 또는 float(input('…')),   숫자를 글자와 + 로 잇기 = str(숫자)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Python Built-in Functions — input( ) · print( ) · open( ) (docs.python.org/3/library/functions.html)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01. 입력문  ·  input( )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01. 입력문 핵심 정리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54480"/>
            <a:ext cx="10820095" cy="777240"/>
          </a:xfrm>
          <a:prstGeom prst="roundRect">
            <a:avLst>
              <a:gd name="adj" fmla="val 14118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773936"/>
            <a:ext cx="347472" cy="34747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55448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input( )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4343400" y="1554480"/>
            <a:ext cx="69796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사용자에게 묻고 입력값을 받아요 — 괄호 안 = 프롬프트 문자열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85800" y="2468880"/>
            <a:ext cx="10820095" cy="777240"/>
          </a:xfrm>
          <a:prstGeom prst="roundRect">
            <a:avLst>
              <a:gd name="adj" fmla="val 14118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688336"/>
            <a:ext cx="347472" cy="34747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463040" y="246888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항상 문자열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4343400" y="2468880"/>
            <a:ext cx="69796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무엇을 입력해도 str!  '20' + '1' = '201',  '20' + 1 = TypeError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685800" y="3383280"/>
            <a:ext cx="10820095" cy="777240"/>
          </a:xfrm>
          <a:prstGeom prst="roundRect">
            <a:avLst>
              <a:gd name="adj" fmla="val 14118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602736"/>
            <a:ext cx="347472" cy="34747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463040" y="338328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숫자로 변환</a:t>
            </a:r>
            <a:endParaRPr lang="en-US" sz="1800" dirty="0"/>
          </a:p>
        </p:txBody>
      </p:sp>
      <p:sp>
        <p:nvSpPr>
          <p:cNvPr id="16" name="Text 11"/>
          <p:cNvSpPr txBox="1"/>
          <p:nvPr/>
        </p:nvSpPr>
        <p:spPr>
          <a:xfrm>
            <a:off x="4343400" y="3383280"/>
            <a:ext cx="69796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int(input( )) 정수 · float(input( )) 실수 — 입력 → 변환 → 계산 → 출력</a:t>
            </a: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685800" y="4297680"/>
            <a:ext cx="10820095" cy="777240"/>
          </a:xfrm>
          <a:prstGeom prst="roundRect">
            <a:avLst>
              <a:gd name="adj" fmla="val 14118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517136"/>
            <a:ext cx="347472" cy="34747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463040" y="429768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문자열로 변환</a:t>
            </a:r>
            <a:endParaRPr lang="en-US" sz="1800" dirty="0"/>
          </a:p>
        </p:txBody>
      </p:sp>
      <p:sp>
        <p:nvSpPr>
          <p:cNvPr id="20" name="Text 14"/>
          <p:cNvSpPr txBox="1"/>
          <p:nvPr/>
        </p:nvSpPr>
        <p:spPr>
          <a:xfrm>
            <a:off x="4343400" y="4297680"/>
            <a:ext cx="69796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str(숫자) — + 로 문장을 만들거나 파일에 쓸 때</a:t>
            </a:r>
            <a:endParaRPr lang="en-US" sz="1600" dirty="0"/>
          </a:p>
        </p:txBody>
      </p:sp>
      <p:sp>
        <p:nvSpPr>
          <p:cNvPr id="21" name="Shape 15"/>
          <p:cNvSpPr/>
          <p:nvPr/>
        </p:nvSpPr>
        <p:spPr>
          <a:xfrm>
            <a:off x="685800" y="576072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38BDF8">
              <a:alpha val="12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다음으로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받은 값을 보기 좋게 보여 주기 → 02. 출력문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3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188720"/>
            <a:ext cx="4206240" cy="42062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14400" y="1417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178308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dirty="0">
                <a:solidFill>
                  <a:srgbClr val="818CF8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02</a:t>
            </a:r>
            <a:endParaRPr lang="en-US" sz="72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9260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출력문 print( )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657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결과를 보기 좋게 화면에 보여 주기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914400" y="4416552"/>
            <a:ext cx="109728" cy="109728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188720" y="429768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2-1 콤마(,) 와 더하기(+)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914400" y="4800600"/>
            <a:ext cx="109728" cy="109728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188720" y="468172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2-2 sep= · end= 매개변수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914400" y="5184648"/>
            <a:ext cx="109728" cy="109728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188720" y="5065776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2-3 출력 형식 — format · % · f-string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914400" y="5568696"/>
            <a:ext cx="109728" cy="109728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188720" y="5449824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2-4 이스케이프 문자 \n \t …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02. 출력문  ·  print( )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2-1 콤마(,) 와 더하기(+) — 띄어 쓰기 vs 붙여 쓰기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63040"/>
            <a:ext cx="522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콤마(,) — 사이에 공백을 넣어 출력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85800" y="1874520"/>
            <a:ext cx="5227168" cy="1938528"/>
          </a:xfrm>
          <a:prstGeom prst="roundRect">
            <a:avLst>
              <a:gd name="adj" fmla="val 4717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2002536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8" name="Shape 6"/>
          <p:cNvSpPr/>
          <p:nvPr/>
        </p:nvSpPr>
        <p:spPr>
          <a:xfrm>
            <a:off x="1069848" y="2002536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9" name="Shape 7"/>
          <p:cNvSpPr/>
          <p:nvPr/>
        </p:nvSpPr>
        <p:spPr>
          <a:xfrm>
            <a:off x="1271016" y="2002536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554480" y="1929384"/>
            <a:ext cx="412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Colab 코드 셀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" y="2240280"/>
            <a:ext cx="5227168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95528" y="2404872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2404872"/>
            <a:ext cx="444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a1 = </a:t>
            </a:r>
            <a:pPr indent="0" marL="0">
              <a:buNone/>
            </a:pPr>
            <a:r>
              <a:rPr lang="en-US" sz="14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'Python'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795528" y="2715768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2715768"/>
            <a:ext cx="444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a2 = </a:t>
            </a:r>
            <a:pPr indent="0" marL="0">
              <a:buNone/>
            </a:pPr>
            <a:r>
              <a:rPr lang="en-US" sz="14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'is'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795528" y="3026664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3026664"/>
            <a:ext cx="444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a3 = </a:t>
            </a:r>
            <a:pPr indent="0" marL="0">
              <a:buNone/>
            </a:pPr>
            <a:r>
              <a:rPr lang="en-US" sz="14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'fun'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95528" y="3337560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3337560"/>
            <a:ext cx="444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(a1, a2, a3)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85800" y="3922776"/>
            <a:ext cx="5227168" cy="740664"/>
          </a:xfrm>
          <a:prstGeom prst="roundRect">
            <a:avLst>
              <a:gd name="adj" fmla="val 987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21" name="Text 19"/>
          <p:cNvSpPr txBox="1"/>
          <p:nvPr/>
        </p:nvSpPr>
        <p:spPr>
          <a:xfrm>
            <a:off x="868680" y="401421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868680" y="4306824"/>
            <a:ext cx="48614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is fun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278728" y="1463040"/>
            <a:ext cx="522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더하기(+) — 공백 없이 하나로 연결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6278728" y="1874520"/>
            <a:ext cx="5227168" cy="1938528"/>
          </a:xfrm>
          <a:prstGeom prst="roundRect">
            <a:avLst>
              <a:gd name="adj" fmla="val 4717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61608" y="2002536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26" name="Shape 24"/>
          <p:cNvSpPr/>
          <p:nvPr/>
        </p:nvSpPr>
        <p:spPr>
          <a:xfrm>
            <a:off x="6662776" y="2002536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7" name="Shape 25"/>
          <p:cNvSpPr/>
          <p:nvPr/>
        </p:nvSpPr>
        <p:spPr>
          <a:xfrm>
            <a:off x="6863944" y="2002536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147408" y="1929384"/>
            <a:ext cx="412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Colab 코드 셀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78728" y="2240280"/>
            <a:ext cx="5227168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388456" y="2404872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6873088" y="2404872"/>
            <a:ext cx="444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a1 = </a:t>
            </a:r>
            <a:pPr indent="0" marL="0">
              <a:buNone/>
            </a:pPr>
            <a:r>
              <a:rPr lang="en-US" sz="14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'Python'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6388456" y="2715768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6873088" y="2715768"/>
            <a:ext cx="444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a2 = </a:t>
            </a:r>
            <a:pPr indent="0" marL="0">
              <a:buNone/>
            </a:pPr>
            <a:r>
              <a:rPr lang="en-US" sz="14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'is'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6388456" y="3026664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6873088" y="3026664"/>
            <a:ext cx="444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a3 = </a:t>
            </a:r>
            <a:pPr indent="0" marL="0">
              <a:buNone/>
            </a:pPr>
            <a:r>
              <a:rPr lang="en-US" sz="14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'fun'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6388456" y="3337560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6873088" y="3337560"/>
            <a:ext cx="444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(a1 + a2 + a3)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6278728" y="3922776"/>
            <a:ext cx="5227168" cy="740664"/>
          </a:xfrm>
          <a:prstGeom prst="roundRect">
            <a:avLst>
              <a:gd name="adj" fmla="val 987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39" name="Text 37"/>
          <p:cNvSpPr txBox="1"/>
          <p:nvPr/>
        </p:nvSpPr>
        <p:spPr>
          <a:xfrm>
            <a:off x="6461608" y="401421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6461608" y="4306824"/>
            <a:ext cx="48614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Pythonisfun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1051560" y="4800600"/>
            <a:ext cx="1280160" cy="548640"/>
          </a:xfrm>
          <a:prstGeom prst="roundRect">
            <a:avLst>
              <a:gd name="adj" fmla="val 13333"/>
            </a:avLst>
          </a:prstGeom>
          <a:solidFill>
            <a:srgbClr val="38BDF8">
              <a:alpha val="30000"/>
            </a:srgbClr>
          </a:solidFill>
          <a:ln w="15240">
            <a:solidFill>
              <a:srgbClr val="38BDF8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1051560" y="48006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1500" dirty="0"/>
          </a:p>
        </p:txBody>
      </p:sp>
      <p:sp>
        <p:nvSpPr>
          <p:cNvPr id="43" name="Text 41"/>
          <p:cNvSpPr txBox="1"/>
          <p:nvPr/>
        </p:nvSpPr>
        <p:spPr>
          <a:xfrm>
            <a:off x="2331720" y="480060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472B6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␣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2651760" y="4800600"/>
            <a:ext cx="1280160" cy="548640"/>
          </a:xfrm>
          <a:prstGeom prst="roundRect">
            <a:avLst>
              <a:gd name="adj" fmla="val 13333"/>
            </a:avLst>
          </a:prstGeom>
          <a:solidFill>
            <a:srgbClr val="38BDF8">
              <a:alpha val="30000"/>
            </a:srgbClr>
          </a:solidFill>
          <a:ln w="15240">
            <a:solidFill>
              <a:srgbClr val="38BDF8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2651760" y="48006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</a:t>
            </a:r>
            <a:endParaRPr lang="en-US" sz="1500" dirty="0"/>
          </a:p>
        </p:txBody>
      </p:sp>
      <p:sp>
        <p:nvSpPr>
          <p:cNvPr id="46" name="Text 44"/>
          <p:cNvSpPr txBox="1"/>
          <p:nvPr/>
        </p:nvSpPr>
        <p:spPr>
          <a:xfrm>
            <a:off x="3931920" y="480060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472B6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␣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4251960" y="4800600"/>
            <a:ext cx="1280160" cy="548640"/>
          </a:xfrm>
          <a:prstGeom prst="roundRect">
            <a:avLst>
              <a:gd name="adj" fmla="val 13333"/>
            </a:avLst>
          </a:prstGeom>
          <a:solidFill>
            <a:srgbClr val="38BDF8">
              <a:alpha val="30000"/>
            </a:srgbClr>
          </a:solidFill>
          <a:ln w="15240">
            <a:solidFill>
              <a:srgbClr val="38BDF8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4251960" y="48006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</a:t>
            </a:r>
            <a:endParaRPr lang="en-US" sz="1500" dirty="0"/>
          </a:p>
        </p:txBody>
      </p:sp>
      <p:sp>
        <p:nvSpPr>
          <p:cNvPr id="49" name="Shape 47"/>
          <p:cNvSpPr/>
          <p:nvPr/>
        </p:nvSpPr>
        <p:spPr>
          <a:xfrm>
            <a:off x="6827368" y="4800600"/>
            <a:ext cx="1280160" cy="548640"/>
          </a:xfrm>
          <a:prstGeom prst="roundRect">
            <a:avLst>
              <a:gd name="adj" fmla="val 13333"/>
            </a:avLst>
          </a:prstGeom>
          <a:solidFill>
            <a:srgbClr val="FACC15">
              <a:alpha val="30000"/>
            </a:srgbClr>
          </a:solidFill>
          <a:ln w="15240">
            <a:solidFill>
              <a:srgbClr val="FACC15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6827368" y="48006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1500" dirty="0"/>
          </a:p>
        </p:txBody>
      </p:sp>
      <p:sp>
        <p:nvSpPr>
          <p:cNvPr id="51" name="Shape 49"/>
          <p:cNvSpPr/>
          <p:nvPr/>
        </p:nvSpPr>
        <p:spPr>
          <a:xfrm>
            <a:off x="8153248" y="4800600"/>
            <a:ext cx="1280160" cy="548640"/>
          </a:xfrm>
          <a:prstGeom prst="roundRect">
            <a:avLst>
              <a:gd name="adj" fmla="val 13333"/>
            </a:avLst>
          </a:prstGeom>
          <a:solidFill>
            <a:srgbClr val="FACC15">
              <a:alpha val="30000"/>
            </a:srgbClr>
          </a:solidFill>
          <a:ln w="15240">
            <a:solidFill>
              <a:srgbClr val="FACC15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8153248" y="48006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</a:t>
            </a:r>
            <a:endParaRPr lang="en-US" sz="1500" dirty="0"/>
          </a:p>
        </p:txBody>
      </p:sp>
      <p:sp>
        <p:nvSpPr>
          <p:cNvPr id="53" name="Shape 51"/>
          <p:cNvSpPr/>
          <p:nvPr/>
        </p:nvSpPr>
        <p:spPr>
          <a:xfrm>
            <a:off x="9479128" y="4800600"/>
            <a:ext cx="1280160" cy="548640"/>
          </a:xfrm>
          <a:prstGeom prst="roundRect">
            <a:avLst>
              <a:gd name="adj" fmla="val 13333"/>
            </a:avLst>
          </a:prstGeom>
          <a:solidFill>
            <a:srgbClr val="FACC15">
              <a:alpha val="30000"/>
            </a:srgbClr>
          </a:solidFill>
          <a:ln w="15240">
            <a:solidFill>
              <a:srgbClr val="FACC15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9479128" y="48006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</a:t>
            </a:r>
            <a:endParaRPr lang="en-US" sz="1500" dirty="0"/>
          </a:p>
        </p:txBody>
      </p:sp>
      <p:sp>
        <p:nvSpPr>
          <p:cNvPr id="55" name="Text 53"/>
          <p:cNvSpPr txBox="1"/>
          <p:nvPr/>
        </p:nvSpPr>
        <p:spPr>
          <a:xfrm>
            <a:off x="685800" y="5376672"/>
            <a:ext cx="52271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␣ = 콤마가 자동으로 넣어 주는 공백</a:t>
            </a:r>
            <a:endParaRPr lang="en-US" sz="1200" dirty="0"/>
          </a:p>
        </p:txBody>
      </p:sp>
      <p:sp>
        <p:nvSpPr>
          <p:cNvPr id="56" name="Text 54"/>
          <p:cNvSpPr txBox="1"/>
          <p:nvPr/>
        </p:nvSpPr>
        <p:spPr>
          <a:xfrm>
            <a:off x="6278728" y="5376672"/>
            <a:ext cx="52271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+ 는 글자를 딱 붙여요 (공백이 필요하면 ' ' 를 직접 더하기)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685800" y="576072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34D399">
              <a:alpha val="12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기억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print(a, b) 는 '띄어 쓰기',  print(a + b) 는 '붙여 쓰기'</a:t>
            </a:r>
            <a:endParaRPr lang="en-US" sz="1500" dirty="0"/>
          </a:p>
        </p:txBody>
      </p:sp>
      <p:sp>
        <p:nvSpPr>
          <p:cNvPr id="59" name="Text 57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03장 2-1</a:t>
            </a:r>
            <a:endParaRPr lang="en-US" sz="1000" dirty="0"/>
          </a:p>
        </p:txBody>
      </p:sp>
      <p:sp>
        <p:nvSpPr>
          <p:cNvPr id="60" name="Text 58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17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02. 출력문  ·  print( )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콤마 vs 더하기 — 숫자와 섞을 때 차이가 커요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508760"/>
          <a:ext cx="10820095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312768"/>
                <a:gridCol w="4312768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비교</a:t>
                      </a:r>
                      <a:endParaRPr lang="en-US" sz="15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콤마 ,</a:t>
                      </a:r>
                      <a:endParaRPr lang="en-US" sz="15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더하기 +</a:t>
                      </a:r>
                      <a:endParaRPr lang="en-US" sz="15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3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818CF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사이 공백</a:t>
                      </a:r>
                      <a:endParaRPr lang="en-US" sz="15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8BDF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자동으로 1칸</a:t>
                      </a:r>
                      <a:endParaRPr lang="en-US" sz="15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ACC1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없음 (딱 붙음)</a:t>
                      </a:r>
                      <a:endParaRPr lang="en-US" sz="15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818CF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숫자와 섞기</a:t>
                      </a:r>
                      <a:endParaRPr lang="en-US" sz="15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8BDF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print('나이 :', 20)  ✓</a:t>
                      </a:r>
                      <a:endParaRPr lang="en-US" sz="15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ACC1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print('나이 : ' + 20)  ✗ TypeError</a:t>
                      </a:r>
                      <a:endParaRPr lang="en-US" sz="15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818CF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숫자끼리</a:t>
                      </a:r>
                      <a:endParaRPr lang="en-US" sz="15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8BDF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print(3, 4) → 3 4</a:t>
                      </a:r>
                      <a:endParaRPr lang="en-US" sz="15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ACC1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print(3 + 4) → 7 (계산!)</a:t>
                      </a:r>
                      <a:endParaRPr lang="en-US" sz="15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818CF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추천 상황</a:t>
                      </a:r>
                      <a:endParaRPr lang="en-US" sz="15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8BDF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여러 값을 간단히 나열</a:t>
                      </a:r>
                      <a:endParaRPr lang="en-US" sz="15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ACC1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글자를 빈틈없이 이어 붙일 때</a:t>
                      </a:r>
                      <a:endParaRPr lang="en-US" sz="15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85800" y="4160520"/>
            <a:ext cx="5227168" cy="1005840"/>
          </a:xfrm>
          <a:prstGeom prst="roundRect">
            <a:avLst>
              <a:gd name="adj" fmla="val 9091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4288536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8" name="Shape 5"/>
          <p:cNvSpPr/>
          <p:nvPr/>
        </p:nvSpPr>
        <p:spPr>
          <a:xfrm>
            <a:off x="1069848" y="4288536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9" name="Shape 6"/>
          <p:cNvSpPr/>
          <p:nvPr/>
        </p:nvSpPr>
        <p:spPr>
          <a:xfrm>
            <a:off x="1271016" y="4288536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554480" y="4215384"/>
            <a:ext cx="412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Colab 코드 셀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85800" y="4526280"/>
            <a:ext cx="5227168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95528" y="4690872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1280160" y="4690872"/>
            <a:ext cx="444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'합계 :'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3 + 4, </a:t>
            </a:r>
            <a:pPr indent="0" marL="0">
              <a:buNone/>
            </a:pPr>
            <a:r>
              <a:rPr lang="en-US" sz="14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'개'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85800" y="5276088"/>
            <a:ext cx="5227168" cy="740664"/>
          </a:xfrm>
          <a:prstGeom prst="roundRect">
            <a:avLst>
              <a:gd name="adj" fmla="val 987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15" name="Text 12"/>
          <p:cNvSpPr txBox="1"/>
          <p:nvPr/>
        </p:nvSpPr>
        <p:spPr>
          <a:xfrm>
            <a:off x="868680" y="53675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868680" y="5660136"/>
            <a:ext cx="48614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합계 : 7 개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278728" y="4160520"/>
            <a:ext cx="5227168" cy="1005840"/>
          </a:xfrm>
          <a:prstGeom prst="roundRect">
            <a:avLst>
              <a:gd name="adj" fmla="val 9091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461608" y="4288536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9" name="Shape 16"/>
          <p:cNvSpPr/>
          <p:nvPr/>
        </p:nvSpPr>
        <p:spPr>
          <a:xfrm>
            <a:off x="6662776" y="4288536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0" name="Shape 17"/>
          <p:cNvSpPr/>
          <p:nvPr/>
        </p:nvSpPr>
        <p:spPr>
          <a:xfrm>
            <a:off x="6863944" y="4288536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7147408" y="4215384"/>
            <a:ext cx="412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Colab 코드 셀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278728" y="4526280"/>
            <a:ext cx="5227168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6388456" y="4690872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6873088" y="4690872"/>
            <a:ext cx="444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'합계 : 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str(3 + 4) +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'개'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6278728" y="5276088"/>
            <a:ext cx="5227168" cy="740664"/>
          </a:xfrm>
          <a:prstGeom prst="roundRect">
            <a:avLst>
              <a:gd name="adj" fmla="val 987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26" name="Text 23"/>
          <p:cNvSpPr txBox="1"/>
          <p:nvPr/>
        </p:nvSpPr>
        <p:spPr>
          <a:xfrm>
            <a:off x="6461608" y="53675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6461608" y="5660136"/>
            <a:ext cx="48614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합계 : 7개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03장 2-1, Python Built-in Functions — input( ) · print( ) · open( ) (docs.python.org/3/library/functions.html)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18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02. 출력문  ·  print( )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2-2 sep= — 값과 값 사이에 넣을 기호 정하기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08760"/>
            <a:ext cx="6035040" cy="2249424"/>
          </a:xfrm>
          <a:prstGeom prst="roundRect">
            <a:avLst>
              <a:gd name="adj" fmla="val 4065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636776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7" name="Shape 5"/>
          <p:cNvSpPr/>
          <p:nvPr/>
        </p:nvSpPr>
        <p:spPr>
          <a:xfrm>
            <a:off x="1069848" y="1636776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8" name="Shape 6"/>
          <p:cNvSpPr/>
          <p:nvPr/>
        </p:nvSpPr>
        <p:spPr>
          <a:xfrm>
            <a:off x="1271016" y="1636776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554480" y="1563624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Colab 코드 셀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" y="1874520"/>
            <a:ext cx="6035040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95528" y="2039112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2039112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'2025'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'03'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'01'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95528" y="2350008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2350008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'2025'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'03'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'01'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sep=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'-'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95528" y="2660904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2660904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'010'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'1234'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'5678'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sep=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'-'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95528" y="2971800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2971800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'사과'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'배'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'감'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sep=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 | 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95528" y="3282696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280160" y="3282696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'b'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'c'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sep=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5800" y="3867912"/>
            <a:ext cx="6035040" cy="1691640"/>
          </a:xfrm>
          <a:prstGeom prst="roundRect">
            <a:avLst>
              <a:gd name="adj" fmla="val 4324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22" name="Text 20"/>
          <p:cNvSpPr txBox="1"/>
          <p:nvPr/>
        </p:nvSpPr>
        <p:spPr>
          <a:xfrm>
            <a:off x="868680" y="39593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68680" y="4251960"/>
            <a:ext cx="566928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2025 03 01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2025-03-01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010-1234-5678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사과 | 배 | 감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abc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040880" y="1508760"/>
            <a:ext cx="4465015" cy="2103120"/>
          </a:xfrm>
          <a:prstGeom prst="roundRect">
            <a:avLst>
              <a:gd name="adj" fmla="val 5217"/>
            </a:avLst>
          </a:prstGeom>
          <a:solidFill>
            <a:srgbClr val="0D1B3D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269480" y="1600200"/>
            <a:ext cx="40078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sep = separator (구분자)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360920" y="2148840"/>
            <a:ext cx="1005840" cy="548640"/>
          </a:xfrm>
          <a:prstGeom prst="roundRect">
            <a:avLst>
              <a:gd name="adj" fmla="val 13333"/>
            </a:avLst>
          </a:prstGeom>
          <a:solidFill>
            <a:srgbClr val="10193A"/>
          </a:solidFill>
          <a:ln w="15240">
            <a:solidFill>
              <a:srgbClr val="818CF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360920" y="214884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2025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8430768" y="2221992"/>
            <a:ext cx="402336" cy="402336"/>
          </a:xfrm>
          <a:prstGeom prst="ellipse">
            <a:avLst/>
          </a:prstGeom>
          <a:solidFill>
            <a:srgbClr val="F472B6">
              <a:alpha val="60000"/>
            </a:srgbClr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430768" y="22219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823960" y="2148840"/>
            <a:ext cx="1005840" cy="548640"/>
          </a:xfrm>
          <a:prstGeom prst="roundRect">
            <a:avLst>
              <a:gd name="adj" fmla="val 13333"/>
            </a:avLst>
          </a:prstGeom>
          <a:solidFill>
            <a:srgbClr val="10193A"/>
          </a:solidFill>
          <a:ln w="15240">
            <a:solidFill>
              <a:srgbClr val="818CF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823960" y="214884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9893808" y="2221992"/>
            <a:ext cx="402336" cy="402336"/>
          </a:xfrm>
          <a:prstGeom prst="ellipse">
            <a:avLst/>
          </a:prstGeom>
          <a:solidFill>
            <a:srgbClr val="F472B6">
              <a:alpha val="60000"/>
            </a:srgbClr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9893808" y="22219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10287000" y="2148840"/>
            <a:ext cx="1005840" cy="548640"/>
          </a:xfrm>
          <a:prstGeom prst="roundRect">
            <a:avLst>
              <a:gd name="adj" fmla="val 13333"/>
            </a:avLst>
          </a:prstGeom>
          <a:solidFill>
            <a:srgbClr val="10193A"/>
          </a:solidFill>
          <a:ln w="15240">
            <a:solidFill>
              <a:srgbClr val="818CF8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0287000" y="214884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7269480" y="2834640"/>
            <a:ext cx="40078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값 '사이사이' 에만 들어가요 (맨 앞 · 맨 뒤 ✗). 기본값은 공백 ' '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7040880" y="3794760"/>
            <a:ext cx="4465015" cy="1783080"/>
          </a:xfrm>
          <a:prstGeom prst="roundRect">
            <a:avLst>
              <a:gd name="adj" fmla="val 6154"/>
            </a:avLst>
          </a:prstGeom>
          <a:solidFill>
            <a:srgbClr val="10193A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269480" y="3794760"/>
            <a:ext cx="4007815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실무 활용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날짜 2025-03-01, 전화번호 010-1234-5678, CSV 한 줄 kim,25,Busan (sep=',') 처럼 정해진 형식으로 출력할 때 딱!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685800" y="580644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F472B6">
              <a:alpha val="12000"/>
            </a:srgbClr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914400" y="580644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72B6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주의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sep= 는 print( ) 괄호 안 '맨 뒤' 에 써요 — 출력할 값들을 먼저, 옵션은 나중에!</a:t>
            </a:r>
            <a:endParaRPr lang="en-US" sz="1500" dirty="0"/>
          </a:p>
        </p:txBody>
      </p:sp>
      <p:sp>
        <p:nvSpPr>
          <p:cNvPr id="41" name="Text 39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03장 2-2, Python Built-in Functions — input( ) · print( ) · open( ) (docs.python.org/3/library/functions.html)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19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02. 출력문  ·  print( )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2-2 end= — 줄바꿈 대신 넣을 것 정하기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63040"/>
            <a:ext cx="522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기본 : print( ) 가 끝나면 자동 줄바꿈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1874520"/>
            <a:ext cx="5227168" cy="1316736"/>
          </a:xfrm>
          <a:prstGeom prst="roundRect">
            <a:avLst>
              <a:gd name="adj" fmla="val 6944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2002536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8" name="Shape 6"/>
          <p:cNvSpPr/>
          <p:nvPr/>
        </p:nvSpPr>
        <p:spPr>
          <a:xfrm>
            <a:off x="1069848" y="2002536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9" name="Shape 7"/>
          <p:cNvSpPr/>
          <p:nvPr/>
        </p:nvSpPr>
        <p:spPr>
          <a:xfrm>
            <a:off x="1271016" y="2002536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554480" y="1929384"/>
            <a:ext cx="412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Colab 코드 셀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" y="2240280"/>
            <a:ext cx="5227168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95528" y="2404872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2404872"/>
            <a:ext cx="444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'Hello'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795528" y="2715768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2715768"/>
            <a:ext cx="444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'World'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85800" y="3300984"/>
            <a:ext cx="5227168" cy="978408"/>
          </a:xfrm>
          <a:prstGeom prst="roundRect">
            <a:avLst>
              <a:gd name="adj" fmla="val 747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17" name="Text 15"/>
          <p:cNvSpPr txBox="1"/>
          <p:nvPr/>
        </p:nvSpPr>
        <p:spPr>
          <a:xfrm>
            <a:off x="868680" y="339242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3685032"/>
            <a:ext cx="486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Hello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World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278728" y="1463040"/>
            <a:ext cx="522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end= 로 한 줄에 이어서 출력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278728" y="1874520"/>
            <a:ext cx="5227168" cy="1316736"/>
          </a:xfrm>
          <a:prstGeom prst="roundRect">
            <a:avLst>
              <a:gd name="adj" fmla="val 6944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61608" y="2002536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22" name="Shape 20"/>
          <p:cNvSpPr/>
          <p:nvPr/>
        </p:nvSpPr>
        <p:spPr>
          <a:xfrm>
            <a:off x="6662776" y="2002536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3" name="Shape 21"/>
          <p:cNvSpPr/>
          <p:nvPr/>
        </p:nvSpPr>
        <p:spPr>
          <a:xfrm>
            <a:off x="6863944" y="2002536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147408" y="1929384"/>
            <a:ext cx="412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Colab 코드 셀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78728" y="2240280"/>
            <a:ext cx="5227168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388456" y="2404872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6873088" y="2404872"/>
            <a:ext cx="444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'Hello'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end=</a:t>
            </a:r>
            <a:pPr indent="0" marL="0">
              <a:buNone/>
            </a:pPr>
            <a:r>
              <a:rPr lang="en-US" sz="14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 '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388456" y="2715768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6873088" y="2715768"/>
            <a:ext cx="444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'World'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278728" y="3300984"/>
            <a:ext cx="5227168" cy="740664"/>
          </a:xfrm>
          <a:prstGeom prst="roundRect">
            <a:avLst>
              <a:gd name="adj" fmla="val 987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31" name="Text 29"/>
          <p:cNvSpPr txBox="1"/>
          <p:nvPr/>
        </p:nvSpPr>
        <p:spPr>
          <a:xfrm>
            <a:off x="6461608" y="339242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6461608" y="3685032"/>
            <a:ext cx="48614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Hello World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85800" y="4160520"/>
            <a:ext cx="10820095" cy="868680"/>
          </a:xfrm>
          <a:prstGeom prst="roundRect">
            <a:avLst>
              <a:gd name="adj" fmla="val 10526"/>
            </a:avLst>
          </a:prstGeom>
          <a:solidFill>
            <a:srgbClr val="0D1B3D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60120" y="416052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print('Hello')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3337560" y="4160520"/>
            <a:ext cx="365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=</a:t>
            </a:r>
            <a:endParaRPr lang="en-US" sz="2000" dirty="0"/>
          </a:p>
        </p:txBody>
      </p:sp>
      <p:sp>
        <p:nvSpPr>
          <p:cNvPr id="36" name="Text 34"/>
          <p:cNvSpPr txBox="1"/>
          <p:nvPr/>
        </p:nvSpPr>
        <p:spPr>
          <a:xfrm>
            <a:off x="3703320" y="416052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print('Hello', end='\n')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7086600" y="4160520"/>
            <a:ext cx="41449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숨어 있던 end 의 기본값이 줄바꿈 \n !  다른 값으로 바꾸면 줄바꿈 대신 그 글자가 붙어요.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685800" y="5166360"/>
            <a:ext cx="5227168" cy="987552"/>
          </a:xfrm>
          <a:prstGeom prst="roundRect">
            <a:avLst>
              <a:gd name="adj" fmla="val 9259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68680" y="5294376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40" name="Shape 38"/>
          <p:cNvSpPr/>
          <p:nvPr/>
        </p:nvSpPr>
        <p:spPr>
          <a:xfrm>
            <a:off x="1069848" y="5294376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41" name="Shape 39"/>
          <p:cNvSpPr/>
          <p:nvPr/>
        </p:nvSpPr>
        <p:spPr>
          <a:xfrm>
            <a:off x="1271016" y="5294376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1554480" y="5221224"/>
            <a:ext cx="412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Colab 코드 셀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85800" y="5532120"/>
            <a:ext cx="5227168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868680" y="5696712"/>
            <a:ext cx="486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'로딩'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end=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'...'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</a:t>
            </a:r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'완료'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</p:txBody>
      </p:sp>
      <p:sp>
        <p:nvSpPr>
          <p:cNvPr id="45" name="Text 43"/>
          <p:cNvSpPr txBox="1"/>
          <p:nvPr/>
        </p:nvSpPr>
        <p:spPr>
          <a:xfrm>
            <a:off x="6278728" y="5166360"/>
            <a:ext cx="522716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로딩...완료</a:t>
            </a:r>
            <a:endParaRPr lang="en-US" sz="1800" dirty="0"/>
          </a:p>
        </p:txBody>
      </p:sp>
      <p:sp>
        <p:nvSpPr>
          <p:cNvPr id="46" name="Text 44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03장 2-2, Python Built-in Functions — input( ) · print( ) · open( ) (docs.python.org/3/library/functions.html)</a:t>
            </a:r>
            <a:endParaRPr lang="en-US" sz="1000" dirty="0"/>
          </a:p>
        </p:txBody>
      </p:sp>
      <p:sp>
        <p:nvSpPr>
          <p:cNvPr id="47" name="Text 45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20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02. 출력문  ·  print( )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퀴즈 — sep 와 end 를 함께 쓰면?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08760"/>
            <a:ext cx="5852160" cy="1792224"/>
          </a:xfrm>
          <a:prstGeom prst="roundRect">
            <a:avLst>
              <a:gd name="adj" fmla="val 5102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636776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7" name="Shape 5"/>
          <p:cNvSpPr/>
          <p:nvPr/>
        </p:nvSpPr>
        <p:spPr>
          <a:xfrm>
            <a:off x="1069848" y="1636776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8" name="Shape 6"/>
          <p:cNvSpPr/>
          <p:nvPr/>
        </p:nvSpPr>
        <p:spPr>
          <a:xfrm>
            <a:off x="1271016" y="1636776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554480" y="156362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Colab 코드 셀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" y="1874520"/>
            <a:ext cx="5852160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95528" y="2039112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2039112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'A'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4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'B'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sep=</a:t>
            </a:r>
            <a:pPr indent="0" marL="0">
              <a:buNone/>
            </a:pPr>
            <a:r>
              <a:rPr lang="en-US" sz="14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','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end=</a:t>
            </a:r>
            <a:pPr indent="0" marL="0">
              <a:buNone/>
            </a:pPr>
            <a:r>
              <a:rPr lang="en-US" sz="14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'!\n'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95528" y="2404872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2404872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'2025'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4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'03'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4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'01'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sep=</a:t>
            </a:r>
            <a:pPr indent="0" marL="0">
              <a:buNone/>
            </a:pPr>
            <a:r>
              <a:rPr lang="en-US" sz="14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'/'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end=</a:t>
            </a:r>
            <a:pPr indent="0" marL="0">
              <a:buNone/>
            </a:pPr>
            <a:r>
              <a:rPr lang="en-US" sz="14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 '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95528" y="2770632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2770632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'보고서'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3401568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결과를 먼저 예상해 보세요!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85800" y="3794760"/>
            <a:ext cx="5852160" cy="978408"/>
          </a:xfrm>
          <a:prstGeom prst="roundRect">
            <a:avLst>
              <a:gd name="adj" fmla="val 747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19" name="Text 17"/>
          <p:cNvSpPr txBox="1"/>
          <p:nvPr/>
        </p:nvSpPr>
        <p:spPr>
          <a:xfrm>
            <a:off x="868680" y="38862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868680" y="4178808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A,B!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2025/03/01 보고서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858000" y="1508760"/>
            <a:ext cx="4647895" cy="896112"/>
          </a:xfrm>
          <a:prstGeom prst="roundRect">
            <a:avLst>
              <a:gd name="adj" fmla="val 12245"/>
            </a:avLst>
          </a:prstGeom>
          <a:solidFill>
            <a:srgbClr val="0D1B3D"/>
          </a:solidFill>
          <a:ln w="15240">
            <a:solidFill>
              <a:srgbClr val="38BDF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086600" y="1508760"/>
            <a:ext cx="419069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1번 줄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값 사이 sep=',' → A,B   끝 end='!\n' → 느낌표 후 줄바꿈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858000" y="2532888"/>
            <a:ext cx="4647895" cy="896112"/>
          </a:xfrm>
          <a:prstGeom prst="roundRect">
            <a:avLst>
              <a:gd name="adj" fmla="val 12245"/>
            </a:avLst>
          </a:prstGeom>
          <a:solidFill>
            <a:srgbClr val="0D1B3D"/>
          </a:solidFill>
          <a:ln w="15240">
            <a:solidFill>
              <a:srgbClr val="FACC1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086600" y="2532888"/>
            <a:ext cx="419069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2번 줄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sep='/' → 2025/03/01   end=' ' → 줄바꿈 대신 공백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858000" y="3557016"/>
            <a:ext cx="4647895" cy="896112"/>
          </a:xfrm>
          <a:prstGeom prst="roundRect">
            <a:avLst>
              <a:gd name="adj" fmla="val 12245"/>
            </a:avLst>
          </a:prstGeom>
          <a:solidFill>
            <a:srgbClr val="0D1B3D"/>
          </a:solidFill>
          <a:ln w="15240">
            <a:solidFill>
              <a:srgbClr val="34D399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086600" y="3557016"/>
            <a:ext cx="419069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3번 줄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앞 줄이 줄바꿈 없이 끝났으니 같은 줄에 '보고서'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85800" y="4937760"/>
            <a:ext cx="10820095" cy="685800"/>
          </a:xfrm>
          <a:prstGeom prst="roundRect">
            <a:avLst>
              <a:gd name="adj" fmla="val 16000"/>
            </a:avLst>
          </a:prstGeom>
          <a:solidFill>
            <a:srgbClr val="34D399">
              <a:alpha val="12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14400" y="4937760"/>
            <a:ext cx="103628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정리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sep = 값과 값 '사이',  end = 출력의 '맨 끝'.  둘 다 쓰지 않으면 sep=' ', end='\n' 이 기본!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Python Built-in Functions — input( ) · print( ) · open( ) (docs.python.org/3/library/functions.html)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21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02. 출력문  ·  print( )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2-3 출력 형식 — 같은 문장을 만드는 3가지 방법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6304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= '홍길동',  score = 95  →  '홍길동님의 점수는 95점' 만들기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" y="1965960"/>
            <a:ext cx="3423818" cy="3246120"/>
          </a:xfrm>
          <a:prstGeom prst="roundRect">
            <a:avLst>
              <a:gd name="adj" fmla="val 3380"/>
            </a:avLst>
          </a:prstGeom>
          <a:solidFill>
            <a:srgbClr val="0D1B3D"/>
          </a:solidFill>
          <a:ln w="19050">
            <a:solidFill>
              <a:srgbClr val="818C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2057400"/>
            <a:ext cx="34238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① str.format( )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514600"/>
            <a:ext cx="34238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{ } 자리에 차례대로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68680" y="3017520"/>
            <a:ext cx="3058058" cy="1143000"/>
          </a:xfrm>
          <a:prstGeom prst="roundRect">
            <a:avLst>
              <a:gd name="adj" fmla="val 6400"/>
            </a:avLst>
          </a:prstGeom>
          <a:solidFill>
            <a:srgbClr val="070D2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3017520"/>
            <a:ext cx="305805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'{}님의 점수는 {}점'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.format(name, score)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4297680"/>
            <a:ext cx="34238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Python 2.6~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4663440"/>
            <a:ext cx="34238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홍길동님의 점수는 95점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83938" y="1965960"/>
            <a:ext cx="3423818" cy="3246120"/>
          </a:xfrm>
          <a:prstGeom prst="roundRect">
            <a:avLst>
              <a:gd name="adj" fmla="val 3380"/>
            </a:avLst>
          </a:prstGeom>
          <a:solidFill>
            <a:srgbClr val="0D1B3D"/>
          </a:solidFill>
          <a:ln w="19050">
            <a:solidFill>
              <a:srgbClr val="FACC1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383938" y="2057400"/>
            <a:ext cx="34238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② % 서식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4383938" y="2514600"/>
            <a:ext cx="34238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%s · %d 자리에 끼우기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66818" y="3017520"/>
            <a:ext cx="3058058" cy="1143000"/>
          </a:xfrm>
          <a:prstGeom prst="roundRect">
            <a:avLst>
              <a:gd name="adj" fmla="val 6400"/>
            </a:avLst>
          </a:prstGeom>
          <a:solidFill>
            <a:srgbClr val="070D2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566818" y="3017520"/>
            <a:ext cx="305805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'%s님의 점수는 %d점'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(name, score)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383938" y="4297680"/>
            <a:ext cx="34238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오래된 방식 (C 언어 스타일)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383938" y="4663440"/>
            <a:ext cx="34238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홍길동님의 점수는 95점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082077" y="1965960"/>
            <a:ext cx="3423818" cy="3246120"/>
          </a:xfrm>
          <a:prstGeom prst="roundRect">
            <a:avLst>
              <a:gd name="adj" fmla="val 3380"/>
            </a:avLst>
          </a:prstGeom>
          <a:solidFill>
            <a:srgbClr val="0D1B3D"/>
          </a:solidFill>
          <a:ln w="31750">
            <a:solidFill>
              <a:srgbClr val="34D39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082077" y="2057400"/>
            <a:ext cx="34238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③ f-string ★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8082077" y="2514600"/>
            <a:ext cx="34238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f 를 붙이고 { } 에 변수 직접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264957" y="3017520"/>
            <a:ext cx="3058058" cy="1143000"/>
          </a:xfrm>
          <a:prstGeom prst="roundRect">
            <a:avLst>
              <a:gd name="adj" fmla="val 6400"/>
            </a:avLst>
          </a:prstGeom>
          <a:solidFill>
            <a:srgbClr val="070D20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264957" y="3017520"/>
            <a:ext cx="305805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f'{name}님의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점수는 {score}점'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8082077" y="4297680"/>
            <a:ext cx="34238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Python 3.6~ · 가장 추천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8082077" y="4663440"/>
            <a:ext cx="34238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홍길동님의 점수는 95점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85800" y="5440680"/>
            <a:ext cx="10820095" cy="685800"/>
          </a:xfrm>
          <a:prstGeom prst="roundRect">
            <a:avLst>
              <a:gd name="adj" fmla="val 16000"/>
            </a:avLst>
          </a:prstGeom>
          <a:solidFill>
            <a:srgbClr val="34D399">
              <a:alpha val="12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14400" y="5440680"/>
            <a:ext cx="103628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왜 3가지?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결과는 똑같아요! 옛날 코드 · 인터넷 예제에서 셋 다 보이니 '읽을 줄' 은 알고, 직접 쓸 때는 f-string 으로!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03장 2-3, Python Tutorial — Fancier Output Formatting (docs.python.org/3/tutorial/inputoutput.html)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22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02. 출력문  ·  print( )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① str.format( ) — 빈칸 { } 이 있는 양식 채우기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08760"/>
            <a:ext cx="6035040" cy="1572768"/>
          </a:xfrm>
          <a:prstGeom prst="roundRect">
            <a:avLst>
              <a:gd name="adj" fmla="val 5814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636776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7" name="Shape 5"/>
          <p:cNvSpPr/>
          <p:nvPr/>
        </p:nvSpPr>
        <p:spPr>
          <a:xfrm>
            <a:off x="1069848" y="1636776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8" name="Shape 6"/>
          <p:cNvSpPr/>
          <p:nvPr/>
        </p:nvSpPr>
        <p:spPr>
          <a:xfrm>
            <a:off x="1271016" y="1636776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554480" y="1563624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Colab 코드 셀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" y="1874520"/>
            <a:ext cx="6035040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95528" y="2039112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2039112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msg =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'{}님, 주문하신 {}가 준비되었습니다.'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95528" y="2331720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2331720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(msg.format(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'김민수'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'라떼'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95528" y="2624328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2624328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(msg.format(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'이지은'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'케이크'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85800" y="3191256"/>
            <a:ext cx="6035040" cy="978408"/>
          </a:xfrm>
          <a:prstGeom prst="roundRect">
            <a:avLst>
              <a:gd name="adj" fmla="val 747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18" name="Text 16"/>
          <p:cNvSpPr txBox="1"/>
          <p:nvPr/>
        </p:nvSpPr>
        <p:spPr>
          <a:xfrm>
            <a:off x="868680" y="328269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868680" y="3575304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김민수님, 주문하신 라떼가 준비되었습니다.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이지은님, 주문하신 케이크가 준비되었습니다.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85800" y="4306824"/>
            <a:ext cx="6035040" cy="1572768"/>
          </a:xfrm>
          <a:prstGeom prst="roundRect">
            <a:avLst>
              <a:gd name="adj" fmla="val 5814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" y="4434840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22" name="Shape 20"/>
          <p:cNvSpPr/>
          <p:nvPr/>
        </p:nvSpPr>
        <p:spPr>
          <a:xfrm>
            <a:off x="1069848" y="4434840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3" name="Shape 21"/>
          <p:cNvSpPr/>
          <p:nvPr/>
        </p:nvSpPr>
        <p:spPr>
          <a:xfrm>
            <a:off x="1271016" y="4434840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1554480" y="436168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Colab 코드 셀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85800" y="4672584"/>
            <a:ext cx="6035040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95528" y="4837176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280160" y="4837176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'{1} {0}'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.format(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'A'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'B'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          </a:t>
            </a:r>
            <a:pPr indent="0" marL="0">
              <a:buNone/>
            </a:pPr>
            <a:r>
              <a:rPr lang="en-US" sz="1200" i="1" dirty="0">
                <a:solidFill>
                  <a:srgbClr val="7C89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 A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795528" y="5129784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280160" y="5129784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'{name}은 {age}살'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.format(name=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'kim'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age=20))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795528" y="5422392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1280160" y="5422392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C89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kim은 20살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040880" y="1508760"/>
            <a:ext cx="4465015" cy="1828800"/>
          </a:xfrm>
          <a:prstGeom prst="roundRect">
            <a:avLst>
              <a:gd name="adj" fmla="val 6000"/>
            </a:avLst>
          </a:prstGeom>
          <a:solidFill>
            <a:srgbClr val="0D1B3D"/>
          </a:solidFill>
          <a:ln w="19050">
            <a:solidFill>
              <a:srgbClr val="818CF8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269480" y="1508760"/>
            <a:ext cx="400781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양식 비유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'___님, 주문하신 ___가 준비되었습니다' 같은 빈칸 양식을 한 번 만들어 두고, 사람 · 메뉴만 바꿔 계속 재사용!</a:t>
            </a:r>
            <a:endParaRPr lang="en-US" sz="14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40880" y="3520440"/>
          <a:ext cx="4465015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636215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쓰는 법</a:t>
                      </a:r>
                      <a:endParaRPr lang="en-US" sz="15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채우는 순서</a:t>
                      </a:r>
                      <a:endParaRPr lang="en-US" sz="15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{ } { }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넣은 순서대로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{1} {0}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번호로 (0부터)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{name}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이름으로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</a:tr>
            </a:tbl>
          </a:graphicData>
        </a:graphic>
      </p:graphicFrame>
      <p:sp>
        <p:nvSpPr>
          <p:cNvPr id="35" name="Shape 32"/>
          <p:cNvSpPr/>
          <p:nvPr/>
        </p:nvSpPr>
        <p:spPr>
          <a:xfrm>
            <a:off x="7040880" y="5486400"/>
            <a:ext cx="4465015" cy="731520"/>
          </a:xfrm>
          <a:prstGeom prst="roundRect">
            <a:avLst>
              <a:gd name="adj" fmla="val 15000"/>
            </a:avLst>
          </a:prstGeom>
          <a:solidFill>
            <a:srgbClr val="38BDF8">
              <a:alpha val="12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269480" y="5486400"/>
            <a:ext cx="40078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언제 좋을까?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데이터만 바꿔 반복 출력 — 안내 문자 · 알림 · 리포트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03장 2-3, Python Tutorial — Fancier Output Formatting (docs.python.org/3/tutorial/inputoutput.html)</a:t>
            </a:r>
            <a:endParaRPr lang="en-US" sz="1000" dirty="0"/>
          </a:p>
        </p:txBody>
      </p:sp>
      <p:sp>
        <p:nvSpPr>
          <p:cNvPr id="38" name="Text 35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23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02. 출력문  ·  print( )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② % 서식 — 자리마다 '형식' 을 정해 끼우기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508760"/>
          <a:ext cx="10820095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834640"/>
                <a:gridCol w="3931920"/>
                <a:gridCol w="2773375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기호</a:t>
                      </a:r>
                      <a:endParaRPr lang="en-US" sz="15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뜻</a:t>
                      </a:r>
                      <a:endParaRPr lang="en-US" sz="15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예</a:t>
                      </a:r>
                      <a:endParaRPr lang="en-US" sz="15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결과</a:t>
                      </a:r>
                      <a:endParaRPr lang="en-US" sz="15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%d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정수 (decimal)</a:t>
                      </a:r>
                      <a:endParaRPr lang="en-US" sz="15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C9D0E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'%d개' % 3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4D39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3개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%f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실수 (float)</a:t>
                      </a:r>
                      <a:endParaRPr lang="en-US" sz="15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C9D0E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'%.2f원' % 1234.5678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4D39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1234.57원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%s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문자열 (string)</a:t>
                      </a:r>
                      <a:endParaRPr lang="en-US" sz="15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C9D0E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'%s님' % '홍길동'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4D39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홍길동님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%c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문자 1개 (character)</a:t>
                      </a:r>
                      <a:endParaRPr lang="en-US" sz="15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C9D0E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'%c' % 'A'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4D39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85800" y="3931920"/>
            <a:ext cx="6400800" cy="1243584"/>
          </a:xfrm>
          <a:prstGeom prst="roundRect">
            <a:avLst>
              <a:gd name="adj" fmla="val 7353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4059936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8" name="Shape 5"/>
          <p:cNvSpPr/>
          <p:nvPr/>
        </p:nvSpPr>
        <p:spPr>
          <a:xfrm>
            <a:off x="1069848" y="4059936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9" name="Shape 6"/>
          <p:cNvSpPr/>
          <p:nvPr/>
        </p:nvSpPr>
        <p:spPr>
          <a:xfrm>
            <a:off x="1271016" y="4059936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554480" y="3986784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Colab 코드 셀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85800" y="4297680"/>
            <a:ext cx="6400800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95528" y="44622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1280160" y="4462272"/>
            <a:ext cx="5623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'%s님 %d점'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% (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'홍길동'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95))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795528" y="47365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1280160" y="4736592"/>
            <a:ext cx="5623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'%.1f'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% 3.14159)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85800" y="5285232"/>
            <a:ext cx="6400800" cy="978408"/>
          </a:xfrm>
          <a:prstGeom prst="roundRect">
            <a:avLst>
              <a:gd name="adj" fmla="val 747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17" name="Text 14"/>
          <p:cNvSpPr txBox="1"/>
          <p:nvPr/>
        </p:nvSpPr>
        <p:spPr>
          <a:xfrm>
            <a:off x="868680" y="53766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868680" y="5669280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홍길동님 95점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3.1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7406640" y="3931920"/>
            <a:ext cx="4099255" cy="2103120"/>
          </a:xfrm>
          <a:prstGeom prst="roundRect">
            <a:avLst>
              <a:gd name="adj" fmla="val 5217"/>
            </a:avLst>
          </a:prstGeom>
          <a:solidFill>
            <a:srgbClr val="10193A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635240" y="3931920"/>
            <a:ext cx="36420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%.2f 읽기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% + .2 (소수점 2자리) + f (실수) → 반올림해서 소수 둘째 자리까지.  값이 여러 개면 ( ) 로 묶어서 순서대로!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03장 2-3, Python Library — printf-style String Formatting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24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02. 출력문  ·  print( )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③ f-string — 가장 쉽고 많이 쓰는 방법 ★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54480"/>
            <a:ext cx="10820095" cy="822960"/>
          </a:xfrm>
          <a:prstGeom prst="roundRect">
            <a:avLst>
              <a:gd name="adj" fmla="val 11111"/>
            </a:avLst>
          </a:prstGeom>
          <a:solidFill>
            <a:srgbClr val="070D20"/>
          </a:solidFill>
          <a:ln w="15240">
            <a:solidFill>
              <a:srgbClr val="34D39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554480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</a:t>
            </a:r>
            <a:pPr algn="ctr" indent="0" marL="0">
              <a:buNone/>
            </a:pPr>
            <a:r>
              <a:rPr lang="en-US" sz="2400" b="1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</a:t>
            </a:r>
            <a:pPr algn="ctr" indent="0" marL="0">
              <a:buNone/>
            </a:pPr>
            <a:r>
              <a:rPr lang="en-US" sz="24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</a:t>
            </a:r>
            <a:pPr algn="ctr" indent="0" marL="0">
              <a:buNone/>
            </a:pPr>
            <a:r>
              <a:rPr lang="en-US" sz="24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{name}</a:t>
            </a:r>
            <a:pPr algn="ctr" indent="0" marL="0">
              <a:buNone/>
            </a:pPr>
            <a:r>
              <a:rPr lang="en-US" sz="24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님의 점수는 </a:t>
            </a:r>
            <a:pPr algn="ctr" indent="0" marL="0">
              <a:buNone/>
            </a:pPr>
            <a:r>
              <a:rPr lang="en-US" sz="24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{score}</a:t>
            </a:r>
            <a:pPr algn="ctr" indent="0" marL="0">
              <a:buNone/>
            </a:pPr>
            <a:r>
              <a:rPr lang="en-US" sz="24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점'</a:t>
            </a:r>
            <a:pPr algn="ctr" indent="0" marL="0">
              <a:buNone/>
            </a:pPr>
            <a:r>
              <a:rPr lang="en-US" sz="2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85800" y="2697480"/>
            <a:ext cx="1371600" cy="402336"/>
          </a:xfrm>
          <a:prstGeom prst="roundRect">
            <a:avLst>
              <a:gd name="adj" fmla="val 50000"/>
            </a:avLst>
          </a:prstGeom>
          <a:solidFill>
            <a:srgbClr val="F472B6">
              <a:alpha val="20000"/>
            </a:srgbClr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269748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472B6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f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2240280" y="2606040"/>
            <a:ext cx="4754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따옴표 앞에 f — '이건 f-string 이야!' 표시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85800" y="3355848"/>
            <a:ext cx="1371600" cy="402336"/>
          </a:xfrm>
          <a:prstGeom prst="roundRect">
            <a:avLst>
              <a:gd name="adj" fmla="val 50000"/>
            </a:avLst>
          </a:prstGeom>
          <a:solidFill>
            <a:srgbClr val="38BDF8">
              <a:alpha val="2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3355848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{변수}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240280" y="3264408"/>
            <a:ext cx="4754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중괄호 안에 변수 이름을 그대로 — 값으로 바뀌어 들어가요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85800" y="4014216"/>
            <a:ext cx="1371600" cy="402336"/>
          </a:xfrm>
          <a:prstGeom prst="roundRect">
            <a:avLst>
              <a:gd name="adj" fmla="val 50000"/>
            </a:avLst>
          </a:prstGeom>
          <a:solidFill>
            <a:srgbClr val="FACC15">
              <a:alpha val="20000"/>
            </a:srgbClr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4014216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ACC15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{식}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2240280" y="3922776"/>
            <a:ext cx="4754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계산식도 OK — {score + 5} , {price * qty}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178040" y="2606040"/>
            <a:ext cx="4327855" cy="1792224"/>
          </a:xfrm>
          <a:prstGeom prst="roundRect">
            <a:avLst>
              <a:gd name="adj" fmla="val 5102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60920" y="2734056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8" name="Shape 16"/>
          <p:cNvSpPr/>
          <p:nvPr/>
        </p:nvSpPr>
        <p:spPr>
          <a:xfrm>
            <a:off x="7562088" y="2734056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9" name="Shape 17"/>
          <p:cNvSpPr/>
          <p:nvPr/>
        </p:nvSpPr>
        <p:spPr>
          <a:xfrm>
            <a:off x="7763256" y="2734056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046720" y="2660904"/>
            <a:ext cx="32305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Colab 코드 셀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178040" y="2971800"/>
            <a:ext cx="4327855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287768" y="31363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7772400" y="3136392"/>
            <a:ext cx="35506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= 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'홍길동'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287768" y="34107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7772400" y="3410712"/>
            <a:ext cx="35506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= 95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287768" y="36850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7772400" y="3685032"/>
            <a:ext cx="35506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'{name}님의 점수는 {score}점'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7287768" y="39593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7772400" y="3959352"/>
            <a:ext cx="35506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'보너스 포함 {score + 5}점'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178040" y="4507992"/>
            <a:ext cx="4327855" cy="978408"/>
          </a:xfrm>
          <a:prstGeom prst="roundRect">
            <a:avLst>
              <a:gd name="adj" fmla="val 747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31" name="Text 29"/>
          <p:cNvSpPr txBox="1"/>
          <p:nvPr/>
        </p:nvSpPr>
        <p:spPr>
          <a:xfrm>
            <a:off x="7360920" y="45994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7360920" y="4892040"/>
            <a:ext cx="3962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홍길동님의 점수는 95점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보너스 포함 100점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85800" y="4709160"/>
            <a:ext cx="6309360" cy="914400"/>
          </a:xfrm>
          <a:prstGeom prst="roundRect">
            <a:avLst>
              <a:gd name="adj" fmla="val 12000"/>
            </a:avLst>
          </a:prstGeom>
          <a:solidFill>
            <a:srgbClr val="10193A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60120" y="470916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72B6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자주 하는 실수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f 를 빼먹으면 {name} 이 글자 그대로 출력돼요!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85800" y="580644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38BDF8">
              <a:alpha val="12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914400" y="580644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복습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2.3 문자형 데이터에서 잠깐 봤던 f-string — 이번엔 서식 옵션까지 배워요!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03장 2-3, Python Tutorial — Fancier Output Formatting (docs.python.org/3/tutorial/inputoutput.html)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25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02. 출력문  ·  print( )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f-string 서식 옵션 — { 값 : 옵션 }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508760"/>
          <a:ext cx="10820095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2743200"/>
                <a:gridCol w="3566160"/>
                <a:gridCol w="1584655"/>
              </a:tblGrid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옵션</a:t>
                      </a:r>
                      <a:endParaRPr lang="en-US" sz="14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뜻</a:t>
                      </a:r>
                      <a:endParaRPr lang="en-US" sz="14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코드</a:t>
                      </a:r>
                      <a:endParaRPr lang="en-US" sz="14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결과</a:t>
                      </a:r>
                      <a:endParaRPr lang="en-US" sz="14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3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:.3f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소수점 3자리 (반올림)</a:t>
                      </a:r>
                      <a:endParaRPr lang="en-US" sz="13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9D0E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f'{1234567.891:.3f}'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4D39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1234567.891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:,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천 단위 쉼표</a:t>
                      </a:r>
                      <a:endParaRPr lang="en-US" sz="13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9D0E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f'{1234567.891:,}'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4D39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1,234,567.891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:,.0f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쉼표 + 소수점 없이</a:t>
                      </a:r>
                      <a:endParaRPr lang="en-US" sz="13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9D0E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f'{1234567.891:,.0f}'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4D39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1,234,568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:+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부호 항상 표시</a:t>
                      </a:r>
                      <a:endParaRPr lang="en-US" sz="13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9D0E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f'{5:+}'   f'{-5:+}'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4D39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+5   -5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:.2%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백분율 (×100, 소수 2자리)</a:t>
                      </a:r>
                      <a:endParaRPr lang="en-US" sz="13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9D0E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f'{0.1234:.2%}'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4D39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12.34%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:%Y-%m-%d %H:%M:%S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날짜 · 시간 형식</a:t>
                      </a:r>
                      <a:endParaRPr lang="en-US" sz="13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9D0E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f'{now:%Y-%m-%d %H:%M:%S}'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4D39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2025-03-01 09:30:00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85800" y="525780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38BDF8">
              <a:alpha val="12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14400" y="525780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읽는 법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콜론( : ) 앞은 '무엇을',  뒤는 '어떤 모양으로'.  :,.0f 처럼 옵션을 겹쳐 쓸 수도 있어요.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85800" y="580644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8A93B8">
              <a:alpha val="12000"/>
            </a:srgbClr>
          </a:solidFill>
          <a:ln w="12700">
            <a:solidFill>
              <a:srgbClr val="8A93B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14400" y="580644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3B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날짜 예시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now = datetime.datetime(2025, 3, 1, 9, 30, 0) 으로 만든 값 (import datetime 필요)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03장 2-3, Python Library — Format Specification Mini-Language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26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02. 출력문  ·  print( )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실무 예 — f-string 으로 매출 보고 한 줄 만들기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08760"/>
            <a:ext cx="6766560" cy="2889504"/>
          </a:xfrm>
          <a:prstGeom prst="roundRect">
            <a:avLst>
              <a:gd name="adj" fmla="val 3165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636776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7" name="Shape 5"/>
          <p:cNvSpPr/>
          <p:nvPr/>
        </p:nvSpPr>
        <p:spPr>
          <a:xfrm>
            <a:off x="1069848" y="1636776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8" name="Shape 6"/>
          <p:cNvSpPr/>
          <p:nvPr/>
        </p:nvSpPr>
        <p:spPr>
          <a:xfrm>
            <a:off x="1271016" y="1636776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554480" y="1563624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Colab 코드 셀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" y="1874520"/>
            <a:ext cx="6766560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95528" y="20391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2039112"/>
            <a:ext cx="5989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datetime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95528" y="23134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2313432"/>
            <a:ext cx="5989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now = datetime.datetime(2025, 3, 1, 9, 30)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795528" y="25877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2587752"/>
            <a:ext cx="5989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sales = 12500000      </a:t>
            </a:r>
            <a:pPr indent="0" marL="0">
              <a:buNone/>
            </a:pPr>
            <a:r>
              <a:rPr lang="en-US" sz="1200" i="1" dirty="0">
                <a:solidFill>
                  <a:srgbClr val="7C89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매출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95528" y="28620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2862072"/>
            <a:ext cx="5989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rate = 0.074          </a:t>
            </a:r>
            <a:pPr indent="0" marL="0">
              <a:buNone/>
            </a:pPr>
            <a:r>
              <a:rPr lang="en-US" sz="1200" i="1" dirty="0">
                <a:solidFill>
                  <a:srgbClr val="7C89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이익률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95528" y="31363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280160" y="3136392"/>
            <a:ext cx="5989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growth = 0.052        </a:t>
            </a:r>
            <a:pPr indent="0" marL="0">
              <a:buNone/>
            </a:pPr>
            <a:r>
              <a:rPr lang="en-US" sz="1200" i="1" dirty="0">
                <a:solidFill>
                  <a:srgbClr val="7C89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전월 대비 성장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795528" y="34107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3410712"/>
            <a:ext cx="5989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'[{now:%Y-%m-%d %H:%M}] 보고'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95528" y="36850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280160" y="3685032"/>
            <a:ext cx="5989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'매출 {sales:,}원 | 이익률 {rate:.1%}'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795528" y="39593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280160" y="3959352"/>
            <a:ext cx="5989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'성장률 {growth:+.1%}'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85800" y="4507992"/>
            <a:ext cx="6766560" cy="1216152"/>
          </a:xfrm>
          <a:prstGeom prst="roundRect">
            <a:avLst>
              <a:gd name="adj" fmla="val 6015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28" name="Text 26"/>
          <p:cNvSpPr txBox="1"/>
          <p:nvPr/>
        </p:nvSpPr>
        <p:spPr>
          <a:xfrm>
            <a:off x="868680" y="45994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868680" y="4892040"/>
            <a:ext cx="640080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[2025-03-01 09:30] 보고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매출 12,500,000원 | 이익률 7.4%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성장률 +5.2%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7772400" y="1508760"/>
            <a:ext cx="3733495" cy="822960"/>
          </a:xfrm>
          <a:prstGeom prst="roundRect">
            <a:avLst>
              <a:gd name="adj" fmla="val 13333"/>
            </a:avLst>
          </a:prstGeom>
          <a:solidFill>
            <a:srgbClr val="0D1B3D"/>
          </a:solidFill>
          <a:ln w="15240">
            <a:solidFill>
              <a:srgbClr val="FACC15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955280" y="1508760"/>
            <a:ext cx="33677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ACC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{sales:,}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12500000 → 12,500,000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772400" y="2468880"/>
            <a:ext cx="3733495" cy="822960"/>
          </a:xfrm>
          <a:prstGeom prst="roundRect">
            <a:avLst>
              <a:gd name="adj" fmla="val 13333"/>
            </a:avLst>
          </a:prstGeom>
          <a:solidFill>
            <a:srgbClr val="0D1B3D"/>
          </a:solidFill>
          <a:ln w="15240">
            <a:solidFill>
              <a:srgbClr val="38BDF8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955280" y="2468880"/>
            <a:ext cx="33677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{rate:.1%}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0.074 → 7.4%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7772400" y="3429000"/>
            <a:ext cx="3733495" cy="822960"/>
          </a:xfrm>
          <a:prstGeom prst="roundRect">
            <a:avLst>
              <a:gd name="adj" fmla="val 13333"/>
            </a:avLst>
          </a:prstGeom>
          <a:solidFill>
            <a:srgbClr val="0D1B3D"/>
          </a:solidFill>
          <a:ln w="15240">
            <a:solidFill>
              <a:srgbClr val="34D399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955280" y="3429000"/>
            <a:ext cx="33677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{growth:+.1%}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0.052 → +5.2%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7772400" y="4389120"/>
            <a:ext cx="3733495" cy="822960"/>
          </a:xfrm>
          <a:prstGeom prst="roundRect">
            <a:avLst>
              <a:gd name="adj" fmla="val 13333"/>
            </a:avLst>
          </a:prstGeom>
          <a:solidFill>
            <a:srgbClr val="0D1B3D"/>
          </a:solidFill>
          <a:ln w="15240">
            <a:solidFill>
              <a:srgbClr val="F472B6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955280" y="4389120"/>
            <a:ext cx="33677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{now:%Y-%m-%d %H:%M}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날짜를 원하는 모양으로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85800" y="580644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34D399">
              <a:alpha val="12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914400" y="580644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포인트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숫자는 그대로 두고 '보여 주는 모양' 만 바꿔요 — 계산은 원래 값으로 정확하게!</a:t>
            </a:r>
            <a:endParaRPr lang="en-US" sz="1500" dirty="0"/>
          </a:p>
        </p:txBody>
      </p:sp>
      <p:sp>
        <p:nvSpPr>
          <p:cNvPr id="40" name="Text 38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03장 2-3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27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02. 출력문  ·  print( )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2-4 이스케이프 문자 — 역슬래시(\) 로 특별한 글자 넣기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508760"/>
          <a:ext cx="10820095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108960"/>
                <a:gridCol w="3566160"/>
                <a:gridCol w="2316175"/>
              </a:tblGrid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이스케이프</a:t>
                      </a:r>
                      <a:endParaRPr lang="en-US" sz="15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뜻</a:t>
                      </a:r>
                      <a:endParaRPr lang="en-US" sz="15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예</a:t>
                      </a:r>
                      <a:endParaRPr lang="en-US" sz="15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결과</a:t>
                      </a:r>
                      <a:endParaRPr lang="en-US" sz="15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3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\n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줄바꿈 (new line)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9D0E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'첫 줄\n둘째 줄'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4D39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첫 줄 ↵ 둘째 줄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\t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탭 (tab) — 칸 띄우기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9D0E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'이름\t나이'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4D39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이름    나이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\\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역슬래시 자체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9D0E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'C:\\temp'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4D39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C:\temp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\'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작은따옴표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9D0E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'It\'s'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4D39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It's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\"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큰따옴표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9D0E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"그는 \"안녕\" 했다"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4D39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그는 "안녕" 했다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\b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백스페이스 (앞 글자 지움)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9D0E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'Hello\bWorld'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4D39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HellWorld (환경마다 다름)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85800" y="525780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38BDF8">
              <a:alpha val="12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14400" y="525780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왜 필요?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따옴표 안에서 Enter 를 칠 수 없고, 따옴표를 또 쓰면 문자열이 끝나 버려요 → \ 로 '특별 모드' 알리기!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85800" y="580644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F472B6">
              <a:alpha val="12000"/>
            </a:srgbClr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14400" y="580644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72B6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주의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Windows 경로 'C:\new' 는 \n 이 줄바꿈이 돼요! 'C:\\new' 또는 '/' 를 쓰세요.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03장 2-4, Python Reference — String and Bytes literals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28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02. 출력문  ·  print( )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이스케이프 문자 실습 — 결과 확인하기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08760"/>
            <a:ext cx="5227168" cy="1682496"/>
          </a:xfrm>
          <a:prstGeom prst="roundRect">
            <a:avLst>
              <a:gd name="adj" fmla="val 5435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636776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7" name="Shape 5"/>
          <p:cNvSpPr/>
          <p:nvPr/>
        </p:nvSpPr>
        <p:spPr>
          <a:xfrm>
            <a:off x="1069848" y="1636776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8" name="Shape 6"/>
          <p:cNvSpPr/>
          <p:nvPr/>
        </p:nvSpPr>
        <p:spPr>
          <a:xfrm>
            <a:off x="1271016" y="1636776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554480" y="1563624"/>
            <a:ext cx="412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Colab 코드 셀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" y="1874520"/>
            <a:ext cx="5227168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95528" y="2039112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2039112"/>
            <a:ext cx="4449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'첫 줄\n둘째 줄'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95528" y="2368296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2368296"/>
            <a:ext cx="4449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'이름\t나이'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95528" y="2697480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2697480"/>
            <a:ext cx="4449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'C:\\temp'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85800" y="3300984"/>
            <a:ext cx="5227168" cy="1453896"/>
          </a:xfrm>
          <a:prstGeom prst="roundRect">
            <a:avLst>
              <a:gd name="adj" fmla="val 5031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18" name="Text 16"/>
          <p:cNvSpPr txBox="1"/>
          <p:nvPr/>
        </p:nvSpPr>
        <p:spPr>
          <a:xfrm>
            <a:off x="868680" y="339242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868680" y="3685032"/>
            <a:ext cx="4861408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첫 줄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둘째 줄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이름    나이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C:\temp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278728" y="1508760"/>
            <a:ext cx="5227168" cy="1682496"/>
          </a:xfrm>
          <a:prstGeom prst="roundRect">
            <a:avLst>
              <a:gd name="adj" fmla="val 5435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61608" y="1636776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22" name="Shape 20"/>
          <p:cNvSpPr/>
          <p:nvPr/>
        </p:nvSpPr>
        <p:spPr>
          <a:xfrm>
            <a:off x="6662776" y="1636776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3" name="Shape 21"/>
          <p:cNvSpPr/>
          <p:nvPr/>
        </p:nvSpPr>
        <p:spPr>
          <a:xfrm>
            <a:off x="6863944" y="1636776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147408" y="1563624"/>
            <a:ext cx="412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Colab 코드 셀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78728" y="1874520"/>
            <a:ext cx="5227168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388456" y="2039112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6873088" y="2039112"/>
            <a:ext cx="4449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'It\'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s')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6388456" y="2368296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6873088" y="2368296"/>
            <a:ext cx="4449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"그는 \"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안녕\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했다"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6388456" y="2697480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6873088" y="2697480"/>
            <a:ext cx="4449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"It's"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  </a:t>
            </a:r>
            <a:pPr indent="0" marL="0">
              <a:buNone/>
            </a:pPr>
            <a:r>
              <a:rPr lang="en-US" sz="1300" i="1" dirty="0">
                <a:solidFill>
                  <a:srgbClr val="7C89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다른 따옴표로 감싸도 OK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278728" y="3300984"/>
            <a:ext cx="5227168" cy="1216152"/>
          </a:xfrm>
          <a:prstGeom prst="roundRect">
            <a:avLst>
              <a:gd name="adj" fmla="val 6015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33" name="Text 31"/>
          <p:cNvSpPr txBox="1"/>
          <p:nvPr/>
        </p:nvSpPr>
        <p:spPr>
          <a:xfrm>
            <a:off x="6461608" y="339242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6461608" y="3685032"/>
            <a:ext cx="4861408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It's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그는 "안녕" 했다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It's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85800" y="4983480"/>
            <a:ext cx="10820095" cy="749808"/>
          </a:xfrm>
          <a:prstGeom prst="roundRect">
            <a:avLst>
              <a:gd name="adj" fmla="val 14634"/>
            </a:avLst>
          </a:prstGeom>
          <a:solidFill>
            <a:srgbClr val="10193A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960120" y="4983480"/>
            <a:ext cx="1027145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따옴표 꿀팁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안에 ' 가 있으면 바깥을 " 로 "It's",  안에 " 가 있으면 바깥을 ' 로 — 이스케이프 없이도 해결!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685800" y="5833872"/>
            <a:ext cx="10820095" cy="411480"/>
          </a:xfrm>
          <a:prstGeom prst="roundRect">
            <a:avLst>
              <a:gd name="adj" fmla="val 26667"/>
            </a:avLst>
          </a:prstGeom>
          <a:solidFill>
            <a:srgbClr val="34D399">
              <a:alpha val="12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914400" y="5833872"/>
            <a:ext cx="103628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\n 은 파일에서도!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03 파일 입출력에서 여러 줄을 저장할 때 \n 으로 줄을 나눠요 — 꼭 기억!</a:t>
            </a:r>
            <a:endParaRPr lang="en-US" sz="1500" dirty="0"/>
          </a:p>
        </p:txBody>
      </p:sp>
      <p:sp>
        <p:nvSpPr>
          <p:cNvPr id="39" name="Text 37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03장 2-4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29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02. 출력문  ·  print( )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02. 출력문 핵심 정리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54480"/>
            <a:ext cx="10820095" cy="777240"/>
          </a:xfrm>
          <a:prstGeom prst="roundRect">
            <a:avLst>
              <a:gd name="adj" fmla="val 14118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773936"/>
            <a:ext cx="347472" cy="34747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55448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콤마 vs 더하기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4343400" y="1554480"/>
            <a:ext cx="69796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print(a, b) 띄어 쓰기 · 숫자도 OK,  print(a + b) 붙여 쓰기 · 문자열끼리만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85800" y="2468880"/>
            <a:ext cx="10820095" cy="777240"/>
          </a:xfrm>
          <a:prstGeom prst="roundRect">
            <a:avLst>
              <a:gd name="adj" fmla="val 14118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688336"/>
            <a:ext cx="347472" cy="34747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463040" y="246888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sep= · end=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4343400" y="2468880"/>
            <a:ext cx="69796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sep = 값 사이 기호 (기본 ' '),  end = 맨 끝 (기본 '\n' 줄바꿈)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685800" y="3383280"/>
            <a:ext cx="10820095" cy="777240"/>
          </a:xfrm>
          <a:prstGeom prst="roundRect">
            <a:avLst>
              <a:gd name="adj" fmla="val 14118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602736"/>
            <a:ext cx="347472" cy="34747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463040" y="338328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출력 형식</a:t>
            </a:r>
            <a:endParaRPr lang="en-US" sz="1800" dirty="0"/>
          </a:p>
        </p:txBody>
      </p:sp>
      <p:sp>
        <p:nvSpPr>
          <p:cNvPr id="16" name="Text 11"/>
          <p:cNvSpPr txBox="1"/>
          <p:nvPr/>
        </p:nvSpPr>
        <p:spPr>
          <a:xfrm>
            <a:off x="4343400" y="3383280"/>
            <a:ext cx="69796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format { } · % 서식 %d %f %s · f-string f'{값:옵션}' ★ — :,  :.2f  :.1%  :+</a:t>
            </a: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685800" y="4297680"/>
            <a:ext cx="10820095" cy="777240"/>
          </a:xfrm>
          <a:prstGeom prst="roundRect">
            <a:avLst>
              <a:gd name="adj" fmla="val 14118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517136"/>
            <a:ext cx="347472" cy="34747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463040" y="429768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이스케이프</a:t>
            </a:r>
            <a:endParaRPr lang="en-US" sz="1800" dirty="0"/>
          </a:p>
        </p:txBody>
      </p:sp>
      <p:sp>
        <p:nvSpPr>
          <p:cNvPr id="20" name="Text 14"/>
          <p:cNvSpPr txBox="1"/>
          <p:nvPr/>
        </p:nvSpPr>
        <p:spPr>
          <a:xfrm>
            <a:off x="4343400" y="4297680"/>
            <a:ext cx="69796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\n 줄바꿈 · \t 탭 · \\ 역슬래시 · \' \" 따옴표</a:t>
            </a:r>
            <a:endParaRPr lang="en-US" sz="1600" dirty="0"/>
          </a:p>
        </p:txBody>
      </p:sp>
      <p:sp>
        <p:nvSpPr>
          <p:cNvPr id="21" name="Shape 15"/>
          <p:cNvSpPr/>
          <p:nvPr/>
        </p:nvSpPr>
        <p:spPr>
          <a:xfrm>
            <a:off x="685800" y="576072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38BDF8">
              <a:alpha val="12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다음으로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화면 대신 파일에 남기기 → 03. 파일 입출력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30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3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188720"/>
            <a:ext cx="4206240" cy="42062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14400" y="1417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178308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dirty="0">
                <a:solidFill>
                  <a:srgbClr val="818CF8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03</a:t>
            </a:r>
            <a:endParaRPr lang="en-US" sz="72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9260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파일 입출력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657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프로그램이 꺼져도 남는 기록 만들기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914400" y="4416552"/>
            <a:ext cx="109728" cy="109728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188720" y="429768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3-1 파일 열기 open( ) · 모드 r w a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914400" y="4800600"/>
            <a:ext cx="109728" cy="109728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188720" y="468172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3-2 읽기 read( ) · 3-3 쓰기 write( ) · 닫기 close( )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914400" y="5184648"/>
            <a:ext cx="109728" cy="109728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188720" y="5065776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3-4 단어로 나누어 읽기 · 3-5 환전 결과 저장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31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03. 파일 입출력  ·  open( )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왜 파일에 저장할까? — 화이트보드 vs 공책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08760"/>
            <a:ext cx="5227168" cy="3017520"/>
          </a:xfrm>
          <a:prstGeom prst="roundRect">
            <a:avLst>
              <a:gd name="adj" fmla="val 3636"/>
            </a:avLst>
          </a:prstGeom>
          <a:solidFill>
            <a:srgbClr val="0D1B3D"/>
          </a:solidFill>
          <a:ln w="19050">
            <a:solidFill>
              <a:srgbClr val="F472B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1737360"/>
            <a:ext cx="914400" cy="914400"/>
          </a:xfrm>
          <a:prstGeom prst="ellipse">
            <a:avLst/>
          </a:prstGeom>
          <a:solidFill>
            <a:srgbClr val="F472B6">
              <a:alpha val="45000"/>
            </a:srgbClr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1965960"/>
            <a:ext cx="457200" cy="4572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2148840" y="1737360"/>
            <a:ext cx="3581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472B6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변수 (메모리)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2148840" y="2194560"/>
            <a:ext cx="3581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화이트보드 같아요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005840" y="2880360"/>
            <a:ext cx="458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프로그램 · 런타임을 끄면 싹 지워져요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1005840" y="3474720"/>
            <a:ext cx="4587088" cy="731520"/>
          </a:xfrm>
          <a:prstGeom prst="roundRect">
            <a:avLst>
              <a:gd name="adj" fmla="val 10000"/>
            </a:avLst>
          </a:prstGeom>
          <a:solidFill>
            <a:srgbClr val="070D20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1005840" y="3474720"/>
            <a:ext cx="45870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ACC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sales = 13500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278728" y="1508760"/>
            <a:ext cx="5227168" cy="3017520"/>
          </a:xfrm>
          <a:prstGeom prst="roundRect">
            <a:avLst>
              <a:gd name="adj" fmla="val 3636"/>
            </a:avLst>
          </a:prstGeom>
          <a:solidFill>
            <a:srgbClr val="0D1B3D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598768" y="1737360"/>
            <a:ext cx="914400" cy="914400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7368" y="1965960"/>
            <a:ext cx="457200" cy="45720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7741768" y="1737360"/>
            <a:ext cx="3581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파일 (저장장치)</a:t>
            </a:r>
            <a:endParaRPr lang="en-US" sz="2000" dirty="0"/>
          </a:p>
        </p:txBody>
      </p:sp>
      <p:sp>
        <p:nvSpPr>
          <p:cNvPr id="17" name="Text 13"/>
          <p:cNvSpPr txBox="1"/>
          <p:nvPr/>
        </p:nvSpPr>
        <p:spPr>
          <a:xfrm>
            <a:off x="7741768" y="2194560"/>
            <a:ext cx="3581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공책 같아요</a:t>
            </a:r>
            <a:endParaRPr lang="en-US" sz="1600" dirty="0"/>
          </a:p>
        </p:txBody>
      </p:sp>
      <p:sp>
        <p:nvSpPr>
          <p:cNvPr id="18" name="Text 14"/>
          <p:cNvSpPr txBox="1"/>
          <p:nvPr/>
        </p:nvSpPr>
        <p:spPr>
          <a:xfrm>
            <a:off x="6598768" y="2880360"/>
            <a:ext cx="458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끄고 다시 켜도 그대로 남아 있어요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6598768" y="3474720"/>
            <a:ext cx="4587088" cy="731520"/>
          </a:xfrm>
          <a:prstGeom prst="roundRect">
            <a:avLst>
              <a:gd name="adj" fmla="val 10000"/>
            </a:avLst>
          </a:prstGeom>
          <a:solidFill>
            <a:srgbClr val="070D20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6598768" y="3474720"/>
            <a:ext cx="45870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ACC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sales.txt  →  13500</a:t>
            </a:r>
            <a:endParaRPr lang="en-US" sz="1600" dirty="0"/>
          </a:p>
        </p:txBody>
      </p:sp>
      <p:sp>
        <p:nvSpPr>
          <p:cNvPr id="21" name="Shape 17"/>
          <p:cNvSpPr/>
          <p:nvPr/>
        </p:nvSpPr>
        <p:spPr>
          <a:xfrm>
            <a:off x="685800" y="4709160"/>
            <a:ext cx="10820095" cy="868680"/>
          </a:xfrm>
          <a:prstGeom prst="roundRect">
            <a:avLst>
              <a:gd name="adj" fmla="val 12632"/>
            </a:avLst>
          </a:prstGeom>
          <a:solidFill>
            <a:srgbClr val="10193A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960120" y="4709160"/>
            <a:ext cx="102714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실무에서는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주문 기록 · 매출 장부 · 설문 결과를 파일로 남겨 두고, 나중에 다시 읽어서 분석해요 (CSV · 엑셀은 08장 pandas 에서!)</a:t>
            </a:r>
            <a:endParaRPr lang="en-US" sz="1500" dirty="0"/>
          </a:p>
        </p:txBody>
      </p:sp>
      <p:sp>
        <p:nvSpPr>
          <p:cNvPr id="23" name="Shape 19"/>
          <p:cNvSpPr/>
          <p:nvPr/>
        </p:nvSpPr>
        <p:spPr>
          <a:xfrm>
            <a:off x="685800" y="576072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38BDF8">
              <a:alpha val="12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이번 절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가장 기본인 '텍스트 파일(.txt)' 로 열기 · 쓰기 · 읽기 · 닫기를 익혀요.</a:t>
            </a:r>
            <a:endParaRPr lang="en-US" sz="1500" dirty="0"/>
          </a:p>
        </p:txBody>
      </p:sp>
      <p:sp>
        <p:nvSpPr>
          <p:cNvPr id="25" name="Text 21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Python Tutorial — Reading and Writing Files (docs.python.org/3/tutorial/inputoutput.html)</a:t>
            </a:r>
            <a:endParaRPr lang="en-US" sz="1000" dirty="0"/>
          </a:p>
        </p:txBody>
      </p:sp>
      <p:sp>
        <p:nvSpPr>
          <p:cNvPr id="26" name="Text 22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32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03. 파일 입출력  ·  open( )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파일 작업은 늘 3단계 — 열고 → 작업하고 → 닫기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54480"/>
            <a:ext cx="3200400" cy="3108960"/>
          </a:xfrm>
          <a:prstGeom prst="roundRect">
            <a:avLst>
              <a:gd name="adj" fmla="val 3529"/>
            </a:avLst>
          </a:prstGeom>
          <a:solidFill>
            <a:srgbClr val="0D1B3D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1737360"/>
            <a:ext cx="914400" cy="914400"/>
          </a:xfrm>
          <a:prstGeom prst="ellipse">
            <a:avLst/>
          </a:prstGeom>
          <a:solidFill>
            <a:srgbClr val="38BDF8">
              <a:alpha val="45000"/>
            </a:srgbClr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7400" y="1965960"/>
            <a:ext cx="457200" cy="4572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85800" y="27432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① 열기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32004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open( )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35661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냉장고 문 열기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868680" y="4023360"/>
            <a:ext cx="2834640" cy="457200"/>
          </a:xfrm>
          <a:prstGeom prst="roundRect">
            <a:avLst>
              <a:gd name="adj" fmla="val 16000"/>
            </a:avLst>
          </a:prstGeom>
          <a:solidFill>
            <a:srgbClr val="070D20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68680" y="40233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 = open('test.txt', 'w')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977640" y="2834640"/>
            <a:ext cx="426568" cy="292608"/>
          </a:xfrm>
          <a:prstGeom prst="rightArrow">
            <a:avLst/>
          </a:prstGeom>
          <a:solidFill>
            <a:srgbClr val="6366F1"/>
          </a:solidFill>
          <a:ln/>
        </p:spPr>
      </p:sp>
      <p:sp>
        <p:nvSpPr>
          <p:cNvPr id="14" name="Shape 11"/>
          <p:cNvSpPr/>
          <p:nvPr/>
        </p:nvSpPr>
        <p:spPr>
          <a:xfrm>
            <a:off x="4495648" y="1554480"/>
            <a:ext cx="3200400" cy="3108960"/>
          </a:xfrm>
          <a:prstGeom prst="roundRect">
            <a:avLst>
              <a:gd name="adj" fmla="val 3529"/>
            </a:avLst>
          </a:prstGeom>
          <a:solidFill>
            <a:srgbClr val="0D1B3D"/>
          </a:solidFill>
          <a:ln w="19050">
            <a:solidFill>
              <a:srgbClr val="FACC1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638648" y="1737360"/>
            <a:ext cx="914400" cy="914400"/>
          </a:xfrm>
          <a:prstGeom prst="ellipse">
            <a:avLst/>
          </a:prstGeom>
          <a:solidFill>
            <a:srgbClr val="FACC15">
              <a:alpha val="45000"/>
            </a:srgbClr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7248" y="1965960"/>
            <a:ext cx="457200" cy="4572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4495648" y="27432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② 작업</a:t>
            </a:r>
            <a:endParaRPr lang="en-US" sz="2000" dirty="0"/>
          </a:p>
        </p:txBody>
      </p:sp>
      <p:sp>
        <p:nvSpPr>
          <p:cNvPr id="18" name="Text 14"/>
          <p:cNvSpPr txBox="1"/>
          <p:nvPr/>
        </p:nvSpPr>
        <p:spPr>
          <a:xfrm>
            <a:off x="4495648" y="32004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write( ) · read( )</a:t>
            </a:r>
            <a:endParaRPr lang="en-US" sz="1500" dirty="0"/>
          </a:p>
        </p:txBody>
      </p:sp>
      <p:sp>
        <p:nvSpPr>
          <p:cNvPr id="19" name="Text 15"/>
          <p:cNvSpPr txBox="1"/>
          <p:nvPr/>
        </p:nvSpPr>
        <p:spPr>
          <a:xfrm>
            <a:off x="4495648" y="35661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넣거나 꺼내기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4678528" y="4023360"/>
            <a:ext cx="2834640" cy="457200"/>
          </a:xfrm>
          <a:prstGeom prst="roundRect">
            <a:avLst>
              <a:gd name="adj" fmla="val 16000"/>
            </a:avLst>
          </a:prstGeom>
          <a:solidFill>
            <a:srgbClr val="070D20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4678528" y="40233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f.write('Hello')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7787488" y="2834640"/>
            <a:ext cx="426568" cy="292608"/>
          </a:xfrm>
          <a:prstGeom prst="rightArrow">
            <a:avLst/>
          </a:prstGeom>
          <a:solidFill>
            <a:srgbClr val="6366F1"/>
          </a:solidFill>
          <a:ln/>
        </p:spPr>
      </p:sp>
      <p:sp>
        <p:nvSpPr>
          <p:cNvPr id="23" name="Shape 19"/>
          <p:cNvSpPr/>
          <p:nvPr/>
        </p:nvSpPr>
        <p:spPr>
          <a:xfrm>
            <a:off x="8305495" y="1554480"/>
            <a:ext cx="3200400" cy="3108960"/>
          </a:xfrm>
          <a:prstGeom prst="roundRect">
            <a:avLst>
              <a:gd name="adj" fmla="val 3529"/>
            </a:avLst>
          </a:prstGeom>
          <a:solidFill>
            <a:srgbClr val="0D1B3D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9448495" y="1737360"/>
            <a:ext cx="914400" cy="914400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7095" y="1965960"/>
            <a:ext cx="457200" cy="457200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8305495" y="27432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③ 닫기</a:t>
            </a:r>
            <a:endParaRPr lang="en-US" sz="2000" dirty="0"/>
          </a:p>
        </p:txBody>
      </p:sp>
      <p:sp>
        <p:nvSpPr>
          <p:cNvPr id="27" name="Text 22"/>
          <p:cNvSpPr txBox="1"/>
          <p:nvPr/>
        </p:nvSpPr>
        <p:spPr>
          <a:xfrm>
            <a:off x="8305495" y="32004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close( )</a:t>
            </a:r>
            <a:endParaRPr lang="en-US" sz="1500" dirty="0"/>
          </a:p>
        </p:txBody>
      </p:sp>
      <p:sp>
        <p:nvSpPr>
          <p:cNvPr id="28" name="Text 23"/>
          <p:cNvSpPr txBox="1"/>
          <p:nvPr/>
        </p:nvSpPr>
        <p:spPr>
          <a:xfrm>
            <a:off x="8305495" y="35661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문 꼭 닫기!</a:t>
            </a:r>
            <a:endParaRPr lang="en-US" sz="1400" dirty="0"/>
          </a:p>
        </p:txBody>
      </p:sp>
      <p:sp>
        <p:nvSpPr>
          <p:cNvPr id="29" name="Shape 24"/>
          <p:cNvSpPr/>
          <p:nvPr/>
        </p:nvSpPr>
        <p:spPr>
          <a:xfrm>
            <a:off x="8488375" y="4023360"/>
            <a:ext cx="2834640" cy="457200"/>
          </a:xfrm>
          <a:prstGeom prst="roundRect">
            <a:avLst>
              <a:gd name="adj" fmla="val 16000"/>
            </a:avLst>
          </a:prstGeom>
          <a:solidFill>
            <a:srgbClr val="070D20"/>
          </a:solidFill>
          <a:ln/>
        </p:spPr>
      </p:sp>
      <p:sp>
        <p:nvSpPr>
          <p:cNvPr id="30" name="Text 25"/>
          <p:cNvSpPr txBox="1"/>
          <p:nvPr/>
        </p:nvSpPr>
        <p:spPr>
          <a:xfrm>
            <a:off x="8488375" y="40233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f.close()</a:t>
            </a:r>
            <a:endParaRPr lang="en-US" sz="1200" dirty="0"/>
          </a:p>
        </p:txBody>
      </p:sp>
      <p:sp>
        <p:nvSpPr>
          <p:cNvPr id="31" name="Shape 26"/>
          <p:cNvSpPr/>
          <p:nvPr/>
        </p:nvSpPr>
        <p:spPr>
          <a:xfrm>
            <a:off x="685800" y="4846320"/>
            <a:ext cx="10820095" cy="777240"/>
          </a:xfrm>
          <a:prstGeom prst="roundRect">
            <a:avLst>
              <a:gd name="adj" fmla="val 14118"/>
            </a:avLst>
          </a:prstGeom>
          <a:solidFill>
            <a:srgbClr val="10193A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32" name="Text 27"/>
          <p:cNvSpPr txBox="1"/>
          <p:nvPr/>
        </p:nvSpPr>
        <p:spPr>
          <a:xfrm>
            <a:off x="960120" y="4846320"/>
            <a:ext cx="102714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72B6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닫지 않으면?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냉장고 문을 열어 두면 음식이 상하듯, 쓴 내용이 파일에 다 저장되지 않거나 다른 프로그램이 파일을 못 열 수 있어요.</a:t>
            </a:r>
            <a:endParaRPr lang="en-US" sz="1500" dirty="0"/>
          </a:p>
        </p:txBody>
      </p:sp>
      <p:sp>
        <p:nvSpPr>
          <p:cNvPr id="33" name="Shape 28"/>
          <p:cNvSpPr/>
          <p:nvPr/>
        </p:nvSpPr>
        <p:spPr>
          <a:xfrm>
            <a:off x="685800" y="576072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38BDF8">
              <a:alpha val="12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4" name="Text 29"/>
          <p:cNvSpPr txBox="1"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f 는 무엇?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open( ) 이 돌려주는 '파일 객체' — 파일을 조종하는 리모컨이에요. 이름은 마음대로 (f, file, temp …)</a:t>
            </a:r>
            <a:endParaRPr lang="en-US" sz="1500" dirty="0"/>
          </a:p>
        </p:txBody>
      </p:sp>
      <p:sp>
        <p:nvSpPr>
          <p:cNvPr id="35" name="Text 30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03장 3-1, Python Tutorial — Reading and Writing Files (docs.python.org/3/tutorial/inputoutput.html)</a:t>
            </a:r>
            <a:endParaRPr lang="en-US" sz="1000" dirty="0"/>
          </a:p>
        </p:txBody>
      </p:sp>
      <p:sp>
        <p:nvSpPr>
          <p:cNvPr id="36" name="Text 31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33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03. 파일 입출력  ·  open( )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3-1 open( ) 문장 해부하기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51560" y="1783080"/>
            <a:ext cx="10088575" cy="868680"/>
          </a:xfrm>
          <a:prstGeom prst="roundRect">
            <a:avLst>
              <a:gd name="adj" fmla="val 10526"/>
            </a:avLst>
          </a:prstGeom>
          <a:solidFill>
            <a:srgbClr val="070D20"/>
          </a:solidFill>
          <a:ln w="15240">
            <a:solidFill>
              <a:srgbClr val="6366F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51560" y="1783080"/>
            <a:ext cx="100885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</a:t>
            </a:r>
            <a:pPr algn="ctr" indent="0" marL="0">
              <a:buNone/>
            </a:pPr>
            <a:r>
              <a:rPr lang="en-US" sz="2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algn="ctr" indent="0" marL="0">
              <a:buNone/>
            </a:pPr>
            <a:r>
              <a:rPr lang="en-US" sz="28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</a:t>
            </a:r>
            <a:pPr algn="ctr" indent="0" marL="0">
              <a:buNone/>
            </a:pPr>
            <a:r>
              <a:rPr lang="en-US" sz="2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ctr" indent="0" marL="0">
              <a:buNone/>
            </a:pPr>
            <a:r>
              <a:rPr lang="en-US" sz="2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'test.txt'</a:t>
            </a:r>
            <a:pPr algn="ctr" indent="0" marL="0">
              <a:buNone/>
            </a:pPr>
            <a:r>
              <a:rPr lang="en-US" sz="2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ctr" indent="0" marL="0">
              <a:buNone/>
            </a:pPr>
            <a:r>
              <a:rPr lang="en-US" sz="28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'w'</a:t>
            </a:r>
            <a:pPr algn="ctr" indent="0" marL="0">
              <a:buNone/>
            </a:pPr>
            <a:r>
              <a:rPr lang="en-US" sz="2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2258568" y="2743200"/>
            <a:ext cx="292608" cy="411480"/>
          </a:xfrm>
          <a:prstGeom prst="downArrow">
            <a:avLst/>
          </a:prstGeom>
          <a:solidFill>
            <a:srgbClr val="38BDF8"/>
          </a:solidFill>
          <a:ln/>
        </p:spPr>
      </p:sp>
      <p:sp>
        <p:nvSpPr>
          <p:cNvPr id="8" name="Shape 6"/>
          <p:cNvSpPr/>
          <p:nvPr/>
        </p:nvSpPr>
        <p:spPr>
          <a:xfrm>
            <a:off x="1234440" y="3246120"/>
            <a:ext cx="2331720" cy="1097280"/>
          </a:xfrm>
          <a:prstGeom prst="roundRect">
            <a:avLst>
              <a:gd name="adj" fmla="val 8333"/>
            </a:avLst>
          </a:prstGeom>
          <a:solidFill>
            <a:srgbClr val="0D1B3D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371600" y="324612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파일 객체</a:t>
            </a:r>
            <a:endParaRPr lang="en-US" sz="16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파일을 조종할 리모컨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864608" y="2743200"/>
            <a:ext cx="292608" cy="411480"/>
          </a:xfrm>
          <a:prstGeom prst="downArrow">
            <a:avLst/>
          </a:prstGeom>
          <a:solidFill>
            <a:srgbClr val="34D399"/>
          </a:solidFill>
          <a:ln/>
        </p:spPr>
      </p:sp>
      <p:sp>
        <p:nvSpPr>
          <p:cNvPr id="11" name="Shape 9"/>
          <p:cNvSpPr/>
          <p:nvPr/>
        </p:nvSpPr>
        <p:spPr>
          <a:xfrm>
            <a:off x="3840480" y="3246120"/>
            <a:ext cx="2331720" cy="1097280"/>
          </a:xfrm>
          <a:prstGeom prst="roundRect">
            <a:avLst>
              <a:gd name="adj" fmla="val 8333"/>
            </a:avLst>
          </a:prstGeom>
          <a:solidFill>
            <a:srgbClr val="0D1B3D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977640" y="324612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open( )</a:t>
            </a:r>
            <a:endParaRPr lang="en-US" sz="16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파일을 여는 함수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470648" y="2743200"/>
            <a:ext cx="292608" cy="411480"/>
          </a:xfrm>
          <a:prstGeom prst="downArrow">
            <a:avLst/>
          </a:prstGeom>
          <a:solidFill>
            <a:srgbClr val="FACC15"/>
          </a:solidFill>
          <a:ln/>
        </p:spPr>
      </p:sp>
      <p:sp>
        <p:nvSpPr>
          <p:cNvPr id="14" name="Shape 12"/>
          <p:cNvSpPr/>
          <p:nvPr/>
        </p:nvSpPr>
        <p:spPr>
          <a:xfrm>
            <a:off x="6446520" y="3246120"/>
            <a:ext cx="2331720" cy="1097280"/>
          </a:xfrm>
          <a:prstGeom prst="roundRect">
            <a:avLst>
              <a:gd name="adj" fmla="val 8333"/>
            </a:avLst>
          </a:prstGeom>
          <a:solidFill>
            <a:srgbClr val="0D1B3D"/>
          </a:solidFill>
          <a:ln w="19050">
            <a:solidFill>
              <a:srgbClr val="FACC1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83680" y="324612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① 파일 이름</a:t>
            </a:r>
            <a:endParaRPr lang="en-US" sz="16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열(만들) 파일 이름 · 경로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076688" y="2743200"/>
            <a:ext cx="292608" cy="411480"/>
          </a:xfrm>
          <a:prstGeom prst="downArrow">
            <a:avLst/>
          </a:prstGeom>
          <a:solidFill>
            <a:srgbClr val="F472B6"/>
          </a:solidFill>
          <a:ln/>
        </p:spPr>
      </p:sp>
      <p:sp>
        <p:nvSpPr>
          <p:cNvPr id="17" name="Shape 15"/>
          <p:cNvSpPr/>
          <p:nvPr/>
        </p:nvSpPr>
        <p:spPr>
          <a:xfrm>
            <a:off x="9052560" y="3246120"/>
            <a:ext cx="2331720" cy="1097280"/>
          </a:xfrm>
          <a:prstGeom prst="roundRect">
            <a:avLst>
              <a:gd name="adj" fmla="val 8333"/>
            </a:avLst>
          </a:prstGeom>
          <a:solidFill>
            <a:srgbClr val="0D1B3D"/>
          </a:solidFill>
          <a:ln w="19050">
            <a:solidFill>
              <a:srgbClr val="F472B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189720" y="324612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F472B6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② 모드</a:t>
            </a:r>
            <a:endParaRPr lang="en-US" sz="16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읽기 r · 쓰기 w · 추가 a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85800" y="4572000"/>
            <a:ext cx="10820095" cy="1005840"/>
          </a:xfrm>
          <a:prstGeom prst="roundRect">
            <a:avLst>
              <a:gd name="adj" fmla="val 10909"/>
            </a:avLst>
          </a:prstGeom>
          <a:solidFill>
            <a:srgbClr val="10193A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60120" y="4572000"/>
            <a:ext cx="102714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모드를 생략하면?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open('test.txt') 는 open('test.txt', 'r') 과 같아요 — 기본값은 '읽기 + 텍스트' 모드(rt).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85800" y="576072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38BDF8">
              <a:alpha val="12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한글 파일이면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open('test.txt', 'w', encoding='utf-8') 처럼 encoding 을 적어 주면 어느 컴퓨터에서나 안전해요.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03장 3-1, Python Built-in Functions — input( ) · print( ) · open( ) (docs.python.org/3/library/functions.html)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34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03. 파일 입출력  ·  open( )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파일 여는 모드 (mode) 한눈에 보기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508760"/>
          <a:ext cx="10820095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103120"/>
                <a:gridCol w="2651760"/>
                <a:gridCol w="2743200"/>
                <a:gridCol w="2224735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모드</a:t>
                      </a:r>
                      <a:endParaRPr lang="en-US" sz="14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이름</a:t>
                      </a:r>
                      <a:endParaRPr lang="en-US" sz="14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하는 일</a:t>
                      </a:r>
                      <a:endParaRPr lang="en-US" sz="14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파일이 없으면</a:t>
                      </a:r>
                      <a:endParaRPr lang="en-US" sz="14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파일이 있으면</a:t>
                      </a:r>
                      <a:endParaRPr lang="en-US" sz="14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3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읽기 (기본값)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내용 읽기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오류 (FileNotFoundError)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처음부터 읽기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쓰기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새로 쓰기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새 파일 생성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기존 내용 지우고 덮어쓰기 ⚠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추가 (append)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끝에 이어 쓰기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새 파일 생성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기존 내용 뒤에 추가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텍스트 (기본값)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글자 파일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—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r 과 함께 rt (생략 가능)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바이너리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이미지 등 글자 아닌 파일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—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rb · wb 처럼 함께 사용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85800" y="5120640"/>
            <a:ext cx="10820095" cy="548640"/>
          </a:xfrm>
          <a:prstGeom prst="roundRect">
            <a:avLst>
              <a:gd name="adj" fmla="val 20000"/>
            </a:avLst>
          </a:prstGeom>
          <a:solidFill>
            <a:srgbClr val="F472B6">
              <a:alpha val="12000"/>
            </a:srgbClr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14400" y="5120640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72B6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가장 위험한 실수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'w' 로 열면 그 순간 기존 내용이 사라져요! 내용을 보존하며 덧붙이려면 'a'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85800" y="576072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38BDF8">
              <a:alpha val="12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기억법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r = read 읽기,  w = write 쓰기,  a = append 덧붙이기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03장 3-1, Python Built-in Functions — input( ) · print( ) · open( ) (docs.python.org/3/library/functions.html)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35</a:t>
            </a:r>
            <a:endParaRPr lang="en-US" sz="1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03. 파일 입출력  ·  open( )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모드 r · w · a — 공책으로 이해하기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08760"/>
            <a:ext cx="3423818" cy="4023360"/>
          </a:xfrm>
          <a:prstGeom prst="roundRect">
            <a:avLst>
              <a:gd name="adj" fmla="val 3205"/>
            </a:avLst>
          </a:prstGeom>
          <a:solidFill>
            <a:srgbClr val="0D1B3D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164592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'r'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3012338" y="1691640"/>
            <a:ext cx="777240" cy="777240"/>
          </a:xfrm>
          <a:prstGeom prst="ellipse">
            <a:avLst/>
          </a:prstGeom>
          <a:solidFill>
            <a:srgbClr val="38BDF8">
              <a:alpha val="45000"/>
            </a:srgbClr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6648" y="1885950"/>
            <a:ext cx="388620" cy="38862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960120" y="2514600"/>
            <a:ext cx="28751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읽기 모드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960120" y="3017520"/>
            <a:ext cx="2875178" cy="1097280"/>
          </a:xfrm>
          <a:prstGeom prst="rect">
            <a:avLst/>
          </a:prstGeom>
          <a:solidFill>
            <a:srgbClr val="F8FAFC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97280" y="3310128"/>
            <a:ext cx="2600858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097280" y="3584448"/>
            <a:ext cx="2600858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097280" y="3858768"/>
            <a:ext cx="2600858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143000" y="3090672"/>
            <a:ext cx="250941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첫 번째 메모 👀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1143000" y="3364992"/>
            <a:ext cx="250941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1143000" y="3639312"/>
            <a:ext cx="250941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960120" y="4206240"/>
            <a:ext cx="28751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공책을 펴서 읽기만 해요.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쓰기는 불가!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960120" y="5029200"/>
            <a:ext cx="2875178" cy="365760"/>
          </a:xfrm>
          <a:prstGeom prst="roundRect">
            <a:avLst>
              <a:gd name="adj" fmla="val 50000"/>
            </a:avLst>
          </a:prstGeom>
          <a:solidFill>
            <a:srgbClr val="38BDF8">
              <a:alpha val="2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960120" y="5029200"/>
            <a:ext cx="28751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8BD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공책이 없으면 → 오류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4383938" y="1508760"/>
            <a:ext cx="3423818" cy="4023360"/>
          </a:xfrm>
          <a:prstGeom prst="roundRect">
            <a:avLst>
              <a:gd name="adj" fmla="val 3205"/>
            </a:avLst>
          </a:prstGeom>
          <a:solidFill>
            <a:srgbClr val="0D1B3D"/>
          </a:solidFill>
          <a:ln w="19050">
            <a:solidFill>
              <a:srgbClr val="F472B6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658258" y="164592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'w'</a:t>
            </a:r>
            <a:endParaRPr lang="en-US" sz="4000" dirty="0"/>
          </a:p>
        </p:txBody>
      </p:sp>
      <p:sp>
        <p:nvSpPr>
          <p:cNvPr id="22" name="Shape 19"/>
          <p:cNvSpPr/>
          <p:nvPr/>
        </p:nvSpPr>
        <p:spPr>
          <a:xfrm>
            <a:off x="6710477" y="1691640"/>
            <a:ext cx="777240" cy="777240"/>
          </a:xfrm>
          <a:prstGeom prst="ellipse">
            <a:avLst/>
          </a:prstGeom>
          <a:solidFill>
            <a:srgbClr val="F472B6">
              <a:alpha val="45000"/>
            </a:srgbClr>
          </a:solidFill>
          <a:ln/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4787" y="1885950"/>
            <a:ext cx="388620" cy="388620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4658258" y="2514600"/>
            <a:ext cx="28751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쓰기 모드</a:t>
            </a:r>
            <a:endParaRPr lang="en-US" sz="1900" dirty="0"/>
          </a:p>
        </p:txBody>
      </p:sp>
      <p:sp>
        <p:nvSpPr>
          <p:cNvPr id="25" name="Shape 21"/>
          <p:cNvSpPr/>
          <p:nvPr/>
        </p:nvSpPr>
        <p:spPr>
          <a:xfrm>
            <a:off x="4658258" y="3017520"/>
            <a:ext cx="2875178" cy="1097280"/>
          </a:xfrm>
          <a:prstGeom prst="rect">
            <a:avLst/>
          </a:prstGeom>
          <a:solidFill>
            <a:srgbClr val="F8FAFC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4795418" y="3310128"/>
            <a:ext cx="2600858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4795418" y="3584448"/>
            <a:ext cx="2600858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4795418" y="3858768"/>
            <a:ext cx="2600858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4841138" y="3090672"/>
            <a:ext cx="250941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91C1C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새 내용 ✍</a:t>
            </a:r>
            <a:endParaRPr lang="en-US" sz="1100" dirty="0"/>
          </a:p>
        </p:txBody>
      </p:sp>
      <p:sp>
        <p:nvSpPr>
          <p:cNvPr id="30" name="Text 26"/>
          <p:cNvSpPr txBox="1"/>
          <p:nvPr/>
        </p:nvSpPr>
        <p:spPr>
          <a:xfrm>
            <a:off x="4841138" y="3364992"/>
            <a:ext cx="250941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31" name="Text 27"/>
          <p:cNvSpPr txBox="1"/>
          <p:nvPr/>
        </p:nvSpPr>
        <p:spPr>
          <a:xfrm>
            <a:off x="4841138" y="3639312"/>
            <a:ext cx="250941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32" name="Text 28"/>
          <p:cNvSpPr txBox="1"/>
          <p:nvPr/>
        </p:nvSpPr>
        <p:spPr>
          <a:xfrm>
            <a:off x="4658258" y="4206240"/>
            <a:ext cx="28751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새 공책을 꺼내 처음부터 써요.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이미 있던 공책은 깨끗이 지우고!</a:t>
            </a:r>
            <a:endParaRPr lang="en-US" sz="1300" dirty="0"/>
          </a:p>
        </p:txBody>
      </p:sp>
      <p:sp>
        <p:nvSpPr>
          <p:cNvPr id="33" name="Shape 29"/>
          <p:cNvSpPr/>
          <p:nvPr/>
        </p:nvSpPr>
        <p:spPr>
          <a:xfrm>
            <a:off x="4658258" y="5029200"/>
            <a:ext cx="2875178" cy="365760"/>
          </a:xfrm>
          <a:prstGeom prst="roundRect">
            <a:avLst>
              <a:gd name="adj" fmla="val 50000"/>
            </a:avLst>
          </a:prstGeom>
          <a:solidFill>
            <a:srgbClr val="F472B6">
              <a:alpha val="20000"/>
            </a:srgbClr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4658258" y="5029200"/>
            <a:ext cx="28751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472B6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덮어쓰기 주의 ⚠</a:t>
            </a:r>
            <a:endParaRPr lang="en-US" sz="1300" dirty="0"/>
          </a:p>
        </p:txBody>
      </p:sp>
      <p:sp>
        <p:nvSpPr>
          <p:cNvPr id="35" name="Shape 31"/>
          <p:cNvSpPr/>
          <p:nvPr/>
        </p:nvSpPr>
        <p:spPr>
          <a:xfrm>
            <a:off x="8082077" y="1508760"/>
            <a:ext cx="3423818" cy="4023360"/>
          </a:xfrm>
          <a:prstGeom prst="roundRect">
            <a:avLst>
              <a:gd name="adj" fmla="val 3205"/>
            </a:avLst>
          </a:prstGeom>
          <a:solidFill>
            <a:srgbClr val="0D1B3D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8356397" y="164592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'a'</a:t>
            </a:r>
            <a:endParaRPr lang="en-US" sz="4000" dirty="0"/>
          </a:p>
        </p:txBody>
      </p:sp>
      <p:sp>
        <p:nvSpPr>
          <p:cNvPr id="37" name="Shape 33"/>
          <p:cNvSpPr/>
          <p:nvPr/>
        </p:nvSpPr>
        <p:spPr>
          <a:xfrm>
            <a:off x="10408615" y="1691640"/>
            <a:ext cx="777240" cy="777240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pic>
        <p:nvPicPr>
          <p:cNvPr id="3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2925" y="1885950"/>
            <a:ext cx="388620" cy="388620"/>
          </a:xfrm>
          <a:prstGeom prst="rect">
            <a:avLst/>
          </a:prstGeom>
        </p:spPr>
      </p:pic>
      <p:sp>
        <p:nvSpPr>
          <p:cNvPr id="39" name="Text 34"/>
          <p:cNvSpPr txBox="1"/>
          <p:nvPr/>
        </p:nvSpPr>
        <p:spPr>
          <a:xfrm>
            <a:off x="8356397" y="2514600"/>
            <a:ext cx="28751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추가 모드</a:t>
            </a:r>
            <a:endParaRPr lang="en-US" sz="1900" dirty="0"/>
          </a:p>
        </p:txBody>
      </p:sp>
      <p:sp>
        <p:nvSpPr>
          <p:cNvPr id="40" name="Shape 35"/>
          <p:cNvSpPr/>
          <p:nvPr/>
        </p:nvSpPr>
        <p:spPr>
          <a:xfrm>
            <a:off x="8356397" y="3017520"/>
            <a:ext cx="2875178" cy="1097280"/>
          </a:xfrm>
          <a:prstGeom prst="rect">
            <a:avLst/>
          </a:prstGeom>
          <a:solidFill>
            <a:srgbClr val="F8FAFC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1" name="Shape 36"/>
          <p:cNvSpPr/>
          <p:nvPr/>
        </p:nvSpPr>
        <p:spPr>
          <a:xfrm>
            <a:off x="8493557" y="3310128"/>
            <a:ext cx="2600858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42" name="Shape 37"/>
          <p:cNvSpPr/>
          <p:nvPr/>
        </p:nvSpPr>
        <p:spPr>
          <a:xfrm>
            <a:off x="8493557" y="3584448"/>
            <a:ext cx="2600858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43" name="Shape 38"/>
          <p:cNvSpPr/>
          <p:nvPr/>
        </p:nvSpPr>
        <p:spPr>
          <a:xfrm>
            <a:off x="8493557" y="3858768"/>
            <a:ext cx="2600858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44" name="Text 39"/>
          <p:cNvSpPr txBox="1"/>
          <p:nvPr/>
        </p:nvSpPr>
        <p:spPr>
          <a:xfrm>
            <a:off x="8539277" y="3090672"/>
            <a:ext cx="250941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첫 번째 메모</a:t>
            </a:r>
            <a:endParaRPr lang="en-US" sz="1100" dirty="0"/>
          </a:p>
        </p:txBody>
      </p:sp>
      <p:sp>
        <p:nvSpPr>
          <p:cNvPr id="45" name="Text 40"/>
          <p:cNvSpPr txBox="1"/>
          <p:nvPr/>
        </p:nvSpPr>
        <p:spPr>
          <a:xfrm>
            <a:off x="8539277" y="3364992"/>
            <a:ext cx="250941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두 번째 메모</a:t>
            </a:r>
            <a:endParaRPr lang="en-US" sz="1100" dirty="0"/>
          </a:p>
        </p:txBody>
      </p:sp>
      <p:sp>
        <p:nvSpPr>
          <p:cNvPr id="46" name="Text 41"/>
          <p:cNvSpPr txBox="1"/>
          <p:nvPr/>
        </p:nvSpPr>
        <p:spPr>
          <a:xfrm>
            <a:off x="8539277" y="3639312"/>
            <a:ext cx="250941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91C1C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새 내용 ✍</a:t>
            </a:r>
            <a:endParaRPr lang="en-US" sz="1100" dirty="0"/>
          </a:p>
        </p:txBody>
      </p:sp>
      <p:sp>
        <p:nvSpPr>
          <p:cNvPr id="47" name="Text 42"/>
          <p:cNvSpPr txBox="1"/>
          <p:nvPr/>
        </p:nvSpPr>
        <p:spPr>
          <a:xfrm>
            <a:off x="8356397" y="4206240"/>
            <a:ext cx="28751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마지막 줄 다음부터 이어서 써요.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앞 내용은 그대로!</a:t>
            </a:r>
            <a:endParaRPr lang="en-US" sz="1300" dirty="0"/>
          </a:p>
        </p:txBody>
      </p:sp>
      <p:sp>
        <p:nvSpPr>
          <p:cNvPr id="48" name="Shape 43"/>
          <p:cNvSpPr/>
          <p:nvPr/>
        </p:nvSpPr>
        <p:spPr>
          <a:xfrm>
            <a:off x="8356397" y="5029200"/>
            <a:ext cx="2875178" cy="365760"/>
          </a:xfrm>
          <a:prstGeom prst="roundRect">
            <a:avLst>
              <a:gd name="adj" fmla="val 50000"/>
            </a:avLst>
          </a:prstGeom>
          <a:solidFill>
            <a:srgbClr val="34D399">
              <a:alpha val="20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9" name="Text 44"/>
          <p:cNvSpPr txBox="1"/>
          <p:nvPr/>
        </p:nvSpPr>
        <p:spPr>
          <a:xfrm>
            <a:off x="8356397" y="5029200"/>
            <a:ext cx="28751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일기장 · 판매 기록에 딱</a:t>
            </a:r>
            <a:endParaRPr lang="en-US" sz="1300" dirty="0"/>
          </a:p>
        </p:txBody>
      </p:sp>
      <p:sp>
        <p:nvSpPr>
          <p:cNvPr id="50" name="Shape 45"/>
          <p:cNvSpPr/>
          <p:nvPr/>
        </p:nvSpPr>
        <p:spPr>
          <a:xfrm>
            <a:off x="685800" y="576072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FACC15">
              <a:alpha val="12000"/>
            </a:srgbClr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51" name="Text 46"/>
          <p:cNvSpPr txBox="1"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어떤 걸 쓸까?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새로 만들기 = w,  기록을 계속 쌓기 = a,  저장된 걸 보기 = r</a:t>
            </a:r>
            <a:endParaRPr lang="en-US" sz="1500" dirty="0"/>
          </a:p>
        </p:txBody>
      </p:sp>
      <p:sp>
        <p:nvSpPr>
          <p:cNvPr id="52" name="Text 47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03장 3-1</a:t>
            </a:r>
            <a:endParaRPr lang="en-US" sz="1000" dirty="0"/>
          </a:p>
        </p:txBody>
      </p:sp>
      <p:sp>
        <p:nvSpPr>
          <p:cNvPr id="53" name="Text 48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36</a:t>
            </a:r>
            <a:endParaRPr lang="en-US" sz="1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03. 파일 입출력  ·  open( )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3-3 파일에 쓰기 — write( ) 와 close( 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08760"/>
            <a:ext cx="6217920" cy="2011680"/>
          </a:xfrm>
          <a:prstGeom prst="roundRect">
            <a:avLst>
              <a:gd name="adj" fmla="val 4545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636776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7" name="Shape 5"/>
          <p:cNvSpPr/>
          <p:nvPr/>
        </p:nvSpPr>
        <p:spPr>
          <a:xfrm>
            <a:off x="1069848" y="1636776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8" name="Shape 6"/>
          <p:cNvSpPr/>
          <p:nvPr/>
        </p:nvSpPr>
        <p:spPr>
          <a:xfrm>
            <a:off x="1271016" y="1636776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554480" y="1563624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Colab 코드 셀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" y="1874520"/>
            <a:ext cx="6217920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95528" y="2039112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2039112"/>
            <a:ext cx="5440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 = open(</a:t>
            </a:r>
            <a:pPr indent="0" marL="0">
              <a:buNone/>
            </a:pPr>
            <a:r>
              <a:rPr lang="en-US" sz="14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'test.txt'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4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'w'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95528" y="2368296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2368296"/>
            <a:ext cx="5440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f.write(</a:t>
            </a:r>
            <a:pPr indent="0" marL="0">
              <a:buNone/>
            </a:pPr>
            <a:r>
              <a:rPr lang="en-US" sz="14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'Hello Python\n'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95528" y="2697480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2697480"/>
            <a:ext cx="5440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f.write(</a:t>
            </a:r>
            <a:pPr indent="0" marL="0">
              <a:buNone/>
            </a:pPr>
            <a:r>
              <a:rPr lang="en-US" sz="14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'파이썬 파일 입출력\n'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95528" y="3026664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3026664"/>
            <a:ext cx="5440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f.close()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3657600"/>
            <a:ext cx="6217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실행 결과 화면에는 아무것도 안 나와요!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대신 test.txt 파일이 생겼어요 → 오른쪽 Colab 파일 패널 확인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31520" y="4489704"/>
            <a:ext cx="310896" cy="310896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31520" y="44897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188720" y="4434840"/>
            <a:ext cx="5669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open( ) 으로 'w' 모드 → test.txt 새로 만들기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31520" y="4946904"/>
            <a:ext cx="310896" cy="310896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31520" y="49469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2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1188720" y="4892040"/>
            <a:ext cx="5669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write( ) 로 한 줄씩 쓰기 — \n 으로 줄바꿈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31520" y="5404104"/>
            <a:ext cx="310896" cy="310896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31520" y="5404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3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1188720" y="5349240"/>
            <a:ext cx="5669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close( ) 로 닫아야 내용이 확실히 저장!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223760" y="1508760"/>
            <a:ext cx="4282135" cy="2834640"/>
          </a:xfrm>
          <a:prstGeom prst="roundRect">
            <a:avLst>
              <a:gd name="adj" fmla="val 3226"/>
            </a:avLst>
          </a:prstGeom>
          <a:solidFill>
            <a:srgbClr val="F8FAFC"/>
          </a:solidFill>
          <a:ln w="9525">
            <a:solidFill>
              <a:srgbClr val="8A93B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42048" y="1527048"/>
            <a:ext cx="4245559" cy="38404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1" name="Shape 29"/>
          <p:cNvSpPr/>
          <p:nvPr/>
        </p:nvSpPr>
        <p:spPr>
          <a:xfrm>
            <a:off x="7360920" y="1645920"/>
            <a:ext cx="109728" cy="109728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32" name="Shape 30"/>
          <p:cNvSpPr/>
          <p:nvPr/>
        </p:nvSpPr>
        <p:spPr>
          <a:xfrm>
            <a:off x="7543800" y="1645920"/>
            <a:ext cx="109728" cy="109728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33" name="Shape 31"/>
          <p:cNvSpPr/>
          <p:nvPr/>
        </p:nvSpPr>
        <p:spPr>
          <a:xfrm>
            <a:off x="7726680" y="1645920"/>
            <a:ext cx="109728" cy="109728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34" name="Shape 32"/>
          <p:cNvSpPr/>
          <p:nvPr/>
        </p:nvSpPr>
        <p:spPr>
          <a:xfrm>
            <a:off x="8001000" y="1581912"/>
            <a:ext cx="3322015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8138160" y="1581912"/>
            <a:ext cx="3093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colab — 왼쪽 📁 파일 패널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7360920" y="2011680"/>
            <a:ext cx="40078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📁 파일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7452360" y="2423160"/>
            <a:ext cx="38249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▸ 📁 sample_data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7452360" y="2788920"/>
            <a:ext cx="38249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D4ED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   📄 test.txt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7360920" y="3246120"/>
            <a:ext cx="4007815" cy="868680"/>
          </a:xfrm>
          <a:prstGeom prst="rect">
            <a:avLst/>
          </a:prstGeom>
          <a:solidFill>
            <a:srgbClr val="FEF9C3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7452360" y="3246120"/>
            <a:ext cx="38249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test.txt 를 더블클릭하면 내용을 바로 볼 수 있어요. (새로고침 🔄 버튼으로 목록 갱신)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7223760" y="4526280"/>
            <a:ext cx="4282135" cy="1097280"/>
          </a:xfrm>
          <a:prstGeom prst="roundRect">
            <a:avLst>
              <a:gd name="adj" fmla="val 10000"/>
            </a:avLst>
          </a:prstGeom>
          <a:solidFill>
            <a:srgbClr val="38BDF8">
              <a:alpha val="12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452360" y="4526280"/>
            <a:ext cx="38249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숫자 13 이 보인다면?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write( ) 가 셀의 마지막 줄이면 '쓴 글자 수' 를 보여 줘요 ('Hello Python\n' = 13글자). 오류 아님!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685800" y="580644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F472B6">
              <a:alpha val="12000"/>
            </a:srgbClr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914400" y="580644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72B6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주의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write( ) 에는 문자열만! f.write(100) → TypeError,  f.write(str(100)) 은 OK</a:t>
            </a:r>
            <a:endParaRPr lang="en-US" sz="1500" dirty="0"/>
          </a:p>
        </p:txBody>
      </p:sp>
      <p:sp>
        <p:nvSpPr>
          <p:cNvPr id="45" name="Text 43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03장 3-3, Python Tutorial — Reading and Writing Files (docs.python.org/3/tutorial/inputoutput.html)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37</a:t>
            </a:r>
            <a:endParaRPr lang="en-US" sz="1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03. 파일 입출력  ·  open( )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3-2 파일 읽기 — read( ) 로 전체 내용 가져오기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08760"/>
            <a:ext cx="6217920" cy="2011680"/>
          </a:xfrm>
          <a:prstGeom prst="roundRect">
            <a:avLst>
              <a:gd name="adj" fmla="val 4545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636776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7" name="Shape 5"/>
          <p:cNvSpPr/>
          <p:nvPr/>
        </p:nvSpPr>
        <p:spPr>
          <a:xfrm>
            <a:off x="1069848" y="1636776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8" name="Shape 6"/>
          <p:cNvSpPr/>
          <p:nvPr/>
        </p:nvSpPr>
        <p:spPr>
          <a:xfrm>
            <a:off x="1271016" y="1636776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554480" y="1563624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Colab 코드 셀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" y="1874520"/>
            <a:ext cx="6217920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95528" y="2039112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2039112"/>
            <a:ext cx="5440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 = open(</a:t>
            </a:r>
            <a:pPr indent="0" marL="0">
              <a:buNone/>
            </a:pPr>
            <a:r>
              <a:rPr lang="en-US" sz="14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'test.txt'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4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'r'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95528" y="2368296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2368296"/>
            <a:ext cx="5440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= f.read()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95528" y="2697480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2697480"/>
            <a:ext cx="5440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f.close()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95528" y="3026664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3026664"/>
            <a:ext cx="5440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(data)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85800" y="3630168"/>
            <a:ext cx="6217920" cy="978408"/>
          </a:xfrm>
          <a:prstGeom prst="roundRect">
            <a:avLst>
              <a:gd name="adj" fmla="val 747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20" name="Text 18"/>
          <p:cNvSpPr txBox="1"/>
          <p:nvPr/>
        </p:nvSpPr>
        <p:spPr>
          <a:xfrm>
            <a:off x="868680" y="37216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68680" y="4014216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Hello Python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파이썬 파일 입출력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85800" y="4718304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4D399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앞에서 쓴 test.txt 의 내용이 그대로 돌아왔어요!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223760" y="1508760"/>
            <a:ext cx="4282135" cy="2103120"/>
          </a:xfrm>
          <a:prstGeom prst="roundRect">
            <a:avLst>
              <a:gd name="adj" fmla="val 5217"/>
            </a:avLst>
          </a:prstGeom>
          <a:solidFill>
            <a:srgbClr val="0D1B3D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452360" y="1508760"/>
            <a:ext cx="382493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read( ) 는 파일 전체를 '문자열 하나' 로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data 의 실제 값 :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FACC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'Hello Python\n파이썬 파일 입출력\n'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7223760" y="3794760"/>
            <a:ext cx="4282135" cy="1783080"/>
          </a:xfrm>
          <a:prstGeom prst="roundRect">
            <a:avLst>
              <a:gd name="adj" fmla="val 6154"/>
            </a:avLst>
          </a:prstGeom>
          <a:solidFill>
            <a:srgbClr val="10193A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452360" y="3794760"/>
            <a:ext cx="3824935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읽은 다음에는?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data 는 평범한 문자열이니까 2.4 의 문자열 메서드 (split · replace · count …) 를 그대로 쓸 수 있어요!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85800" y="580644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F472B6">
              <a:alpha val="12000"/>
            </a:srgbClr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14400" y="580644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72B6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오류 주의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없는 파일을 'r' 로 열면 FileNotFoundError — 파일 이름 · 위치를 먼저 확인!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03장 3-2, Python Tutorial — Reading and Writing Files (docs.python.org/3/tutorial/inputoutput.html)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38</a:t>
            </a:r>
            <a:endParaRPr lang="en-US" sz="1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03. 파일 입출력  ·  open( )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실험 — 'w' 는 덮어쓰고, 'a' 는 이어 쓴다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63040"/>
            <a:ext cx="522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472B6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'w' 로 두 번 쓰면 → 마지막 것만 남음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1874520"/>
            <a:ext cx="5227168" cy="2615184"/>
          </a:xfrm>
          <a:prstGeom prst="roundRect">
            <a:avLst>
              <a:gd name="adj" fmla="val 3497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2002536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8" name="Shape 6"/>
          <p:cNvSpPr/>
          <p:nvPr/>
        </p:nvSpPr>
        <p:spPr>
          <a:xfrm>
            <a:off x="1069848" y="2002536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9" name="Shape 7"/>
          <p:cNvSpPr/>
          <p:nvPr/>
        </p:nvSpPr>
        <p:spPr>
          <a:xfrm>
            <a:off x="1271016" y="2002536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554480" y="1929384"/>
            <a:ext cx="412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Colab 코드 셀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" y="2240280"/>
            <a:ext cx="5227168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95528" y="24048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2404872"/>
            <a:ext cx="4449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 = open(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'memo.txt'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'w'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95528" y="26791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2679192"/>
            <a:ext cx="4449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f.write(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'첫 번째 메모\n'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795528" y="29535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2953512"/>
            <a:ext cx="4449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f.close()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95528" y="32278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3227832"/>
            <a:ext cx="4449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 = open(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'memo.txt'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'w'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795528" y="35021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280160" y="3502152"/>
            <a:ext cx="4449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f.write(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'두 번째 메모\n'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95528" y="37764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1280160" y="3776472"/>
            <a:ext cx="4449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f.close()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795528" y="40507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280160" y="4050792"/>
            <a:ext cx="4449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(open(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'memo.txt'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).read())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85800" y="4599432"/>
            <a:ext cx="5227168" cy="740664"/>
          </a:xfrm>
          <a:prstGeom prst="roundRect">
            <a:avLst>
              <a:gd name="adj" fmla="val 987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27" name="Text 25"/>
          <p:cNvSpPr txBox="1"/>
          <p:nvPr/>
        </p:nvSpPr>
        <p:spPr>
          <a:xfrm>
            <a:off x="868680" y="46908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868680" y="4983480"/>
            <a:ext cx="48614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두 번째 메모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6278728" y="1463040"/>
            <a:ext cx="522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이어서 'a' 로 쓰면 → 뒤에 추가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278728" y="1874520"/>
            <a:ext cx="5227168" cy="1792224"/>
          </a:xfrm>
          <a:prstGeom prst="roundRect">
            <a:avLst>
              <a:gd name="adj" fmla="val 5102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61608" y="2002536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32" name="Shape 30"/>
          <p:cNvSpPr/>
          <p:nvPr/>
        </p:nvSpPr>
        <p:spPr>
          <a:xfrm>
            <a:off x="6662776" y="2002536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33" name="Shape 31"/>
          <p:cNvSpPr/>
          <p:nvPr/>
        </p:nvSpPr>
        <p:spPr>
          <a:xfrm>
            <a:off x="6863944" y="2002536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7147408" y="1929384"/>
            <a:ext cx="412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Colab 코드 셀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278728" y="2240280"/>
            <a:ext cx="5227168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388456" y="24048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6873088" y="2404872"/>
            <a:ext cx="4449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 = open(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'memo.txt'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6388456" y="26791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6873088" y="2679192"/>
            <a:ext cx="4449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f.write(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'세 번째 메모\n'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6388456" y="29535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6873088" y="2953512"/>
            <a:ext cx="4449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f.close()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6388456" y="32278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  <p:sp>
        <p:nvSpPr>
          <p:cNvPr id="43" name="Text 41"/>
          <p:cNvSpPr txBox="1"/>
          <p:nvPr/>
        </p:nvSpPr>
        <p:spPr>
          <a:xfrm>
            <a:off x="6873088" y="3227832"/>
            <a:ext cx="4449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(open(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'memo.txt'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).read())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6278728" y="3776472"/>
            <a:ext cx="5227168" cy="978408"/>
          </a:xfrm>
          <a:prstGeom prst="roundRect">
            <a:avLst>
              <a:gd name="adj" fmla="val 747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45" name="Text 43"/>
          <p:cNvSpPr txBox="1"/>
          <p:nvPr/>
        </p:nvSpPr>
        <p:spPr>
          <a:xfrm>
            <a:off x="6461608" y="38679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6461608" y="4160520"/>
            <a:ext cx="486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두 번째 메모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세 번째 메모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6278728" y="4617720"/>
            <a:ext cx="5227168" cy="1005840"/>
          </a:xfrm>
          <a:prstGeom prst="roundRect">
            <a:avLst>
              <a:gd name="adj" fmla="val 10909"/>
            </a:avLst>
          </a:prstGeom>
          <a:solidFill>
            <a:srgbClr val="10193A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6507328" y="4617720"/>
            <a:ext cx="47699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실무 예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매일 매출을 sales_log.txt 에 'a' 모드로 한 줄씩 쌓으면 → 자동 판매 장부 완성!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685800" y="580644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38BDF8">
              <a:alpha val="12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914400" y="580644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\n 을 잊으면?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f.write('a'); f.write('b') → 'ab' 처럼 한 줄에 붙어요. 줄을 나누려면 끝에 \n!</a:t>
            </a:r>
            <a:endParaRPr lang="en-US" sz="1500" dirty="0"/>
          </a:p>
        </p:txBody>
      </p:sp>
      <p:sp>
        <p:nvSpPr>
          <p:cNvPr id="51" name="Text 49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03장 3-1, 3-3</a:t>
            </a:r>
            <a:endParaRPr lang="en-US" sz="1000" dirty="0"/>
          </a:p>
        </p:txBody>
      </p:sp>
      <p:sp>
        <p:nvSpPr>
          <p:cNvPr id="52" name="Text 50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39</a:t>
            </a:r>
            <a:endParaRPr lang="en-US" sz="12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03. 파일 입출력  ·  open( )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읽는 방법 3가지 — read( ) · readline( ) · readlines( 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6304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fruit.txt 내용 :  사과 ↵ 바나나 ↵ 체리 ↵</a:t>
            </a:r>
            <a:endParaRPr lang="en-US" sz="150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920240"/>
          <a:ext cx="10820095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011680"/>
                <a:gridCol w="3291840"/>
                <a:gridCol w="3322015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메서드</a:t>
                      </a:r>
                      <a:endParaRPr lang="en-US" sz="15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읽는 양</a:t>
                      </a:r>
                      <a:endParaRPr lang="en-US" sz="15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결과 모양</a:t>
                      </a:r>
                      <a:endParaRPr lang="en-US" sz="15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결과 예</a:t>
                      </a:r>
                      <a:endParaRPr lang="en-US" sz="15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3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read( )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전체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문자열 1개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4D39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'사과\n바나나\n체리\n'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readline( )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한 줄씩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문자열 1개 (호출할 때마다 다음 줄)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4D39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'사과\n'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readlines( )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전체를 줄 단위로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리스트 (3.2!)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4D39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['사과\n', '바나나\n', '체리\n']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85800" y="4343400"/>
            <a:ext cx="10820095" cy="1234440"/>
          </a:xfrm>
          <a:prstGeom prst="roundRect">
            <a:avLst>
              <a:gd name="adj" fmla="val 8889"/>
            </a:avLst>
          </a:prstGeom>
          <a:solidFill>
            <a:srgbClr val="10193A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60120" y="4343400"/>
            <a:ext cx="102714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어떤 걸 쓸까?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통째로 보거나 단어를 셀 때 = read( ),  줄마다 따로 처리할 때 = readlines( ) (리스트라서 인덱스 · len 사용 가능)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85800" y="576072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38BDF8">
              <a:alpha val="12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\n 이 보이는 이유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줄 끝의 줄바꿈 기호까지 함께 읽어서예요. print( ) 하면 진짜 줄바꿈으로 보여요.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Python Tutorial — Reading and Writing Files (docs.python.org/3/tutorial/inputoutput.html)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40</a:t>
            </a:r>
            <a:endParaRPr lang="en-US" sz="12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03. 파일 입출력  ·  open( )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with 문 — close( ) 를 자동으로 해 주는 안전한 방법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63040"/>
            <a:ext cx="522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9D0E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기본 방식 (close 직접)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1874520"/>
            <a:ext cx="5227168" cy="1938528"/>
          </a:xfrm>
          <a:prstGeom prst="roundRect">
            <a:avLst>
              <a:gd name="adj" fmla="val 4717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2002536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8" name="Shape 6"/>
          <p:cNvSpPr/>
          <p:nvPr/>
        </p:nvSpPr>
        <p:spPr>
          <a:xfrm>
            <a:off x="1069848" y="2002536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9" name="Shape 7"/>
          <p:cNvSpPr/>
          <p:nvPr/>
        </p:nvSpPr>
        <p:spPr>
          <a:xfrm>
            <a:off x="1271016" y="2002536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554480" y="1929384"/>
            <a:ext cx="412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Colab 코드 셀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" y="2240280"/>
            <a:ext cx="5227168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95528" y="2404872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2404872"/>
            <a:ext cx="444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 = open(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'fruit.txt'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'r'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95528" y="2715768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2715768"/>
            <a:ext cx="444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= f.read()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795528" y="3026664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3026664"/>
            <a:ext cx="444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f.close()          </a:t>
            </a:r>
            <a:pPr indent="0" marL="0">
              <a:buNone/>
            </a:pPr>
            <a:r>
              <a:rPr lang="en-US" sz="1300" i="1" dirty="0">
                <a:solidFill>
                  <a:srgbClr val="7C89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잊기 쉬움!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95528" y="3337560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3337560"/>
            <a:ext cx="444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(data)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278728" y="1463040"/>
            <a:ext cx="522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with 방식 (공식 문서 추천)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278728" y="1874520"/>
            <a:ext cx="5227168" cy="1938528"/>
          </a:xfrm>
          <a:prstGeom prst="roundRect">
            <a:avLst>
              <a:gd name="adj" fmla="val 4717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61608" y="2002536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23" name="Shape 21"/>
          <p:cNvSpPr/>
          <p:nvPr/>
        </p:nvSpPr>
        <p:spPr>
          <a:xfrm>
            <a:off x="6662776" y="2002536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4" name="Shape 22"/>
          <p:cNvSpPr/>
          <p:nvPr/>
        </p:nvSpPr>
        <p:spPr>
          <a:xfrm>
            <a:off x="6863944" y="2002536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147408" y="1929384"/>
            <a:ext cx="412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Colab 코드 셀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278728" y="2240280"/>
            <a:ext cx="5227168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388456" y="2404872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6873088" y="2404872"/>
            <a:ext cx="444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open(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'fruit.txt'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encoding=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'utf-8'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</a:t>
            </a:r>
            <a:pPr indent="0" marL="0">
              <a:buNone/>
            </a:pPr>
            <a:r>
              <a:rPr lang="en-US" sz="12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f: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6388456" y="2715768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6873088" y="2715768"/>
            <a:ext cx="444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data = f.read()        </a:t>
            </a:r>
            <a:pPr indent="0" marL="0">
              <a:buNone/>
            </a:pPr>
            <a:r>
              <a:rPr lang="en-US" sz="1200" i="1" dirty="0">
                <a:solidFill>
                  <a:srgbClr val="7C89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읽기 모드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388456" y="3026664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6873088" y="3026664"/>
            <a:ext cx="444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(data)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6388456" y="3337560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6873088" y="3337560"/>
            <a:ext cx="444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(f.closed)    </a:t>
            </a:r>
            <a:pPr indent="0" marL="0">
              <a:buNone/>
            </a:pPr>
            <a:r>
              <a:rPr lang="en-US" sz="1200" i="1" dirty="0">
                <a:solidFill>
                  <a:srgbClr val="7C89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닫혔나?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278728" y="3922776"/>
            <a:ext cx="5227168" cy="1453896"/>
          </a:xfrm>
          <a:prstGeom prst="roundRect">
            <a:avLst>
              <a:gd name="adj" fmla="val 5031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36" name="Text 34"/>
          <p:cNvSpPr txBox="1"/>
          <p:nvPr/>
        </p:nvSpPr>
        <p:spPr>
          <a:xfrm>
            <a:off x="6461608" y="401421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6461608" y="4306824"/>
            <a:ext cx="4861408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사과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바나나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체리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85800" y="3977640"/>
            <a:ext cx="5227168" cy="1645920"/>
          </a:xfrm>
          <a:prstGeom prst="roundRect">
            <a:avLst>
              <a:gd name="adj" fmla="val 6667"/>
            </a:avLst>
          </a:prstGeom>
          <a:solidFill>
            <a:srgbClr val="10193A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960120" y="3977640"/>
            <a:ext cx="467852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자동문 비유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with 블록(들여쓴 부분)이 끝나면 파이썬이 알아서 문을 닫아 줘요. 중간에 오류가 나도 닫혀요!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685800" y="580644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38BDF8">
              <a:alpha val="12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914400" y="580644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모양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with open(파일, 모드) as 이름:  ← 콜론 + 다음 줄 4칸 들여쓰기 (if 문과 같은 규칙)</a:t>
            </a:r>
            <a:endParaRPr lang="en-US" sz="1500" dirty="0"/>
          </a:p>
        </p:txBody>
      </p:sp>
      <p:sp>
        <p:nvSpPr>
          <p:cNvPr id="42" name="Text 40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Python Tutorial — Reading and Writing Files (docs.python.org/3/tutorial/inputoutput.html)</a:t>
            </a:r>
            <a:endParaRPr lang="en-US" sz="1000" dirty="0"/>
          </a:p>
        </p:txBody>
      </p:sp>
      <p:sp>
        <p:nvSpPr>
          <p:cNvPr id="43" name="Text 41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41</a:t>
            </a:r>
            <a:endParaRPr lang="en-US" sz="12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03. 파일 입출력  ·  open( )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파일 작업에서 자주 만나는 오류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508760"/>
          <a:ext cx="10820095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4206240"/>
                <a:gridCol w="3047695"/>
              </a:tblGrid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오류</a:t>
                      </a:r>
                      <a:endParaRPr lang="en-US" sz="14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언제?</a:t>
                      </a:r>
                      <a:endParaRPr lang="en-US" sz="14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해결</a:t>
                      </a:r>
                      <a:endParaRPr lang="en-US" sz="14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3A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472B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FileNotFoundError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없는 파일을 'r' 로 열 때 (이름 오타 · 위치 다름)</a:t>
                      </a:r>
                      <a:endParaRPr lang="en-US" sz="13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4D399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파일 이름 · 확장자 · 폴더 확인</a:t>
                      </a:r>
                      <a:endParaRPr lang="en-US" sz="13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472B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TypeError: write() argument must be str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f.write(100) 처럼 숫자를 쓸 때</a:t>
                      </a:r>
                      <a:endParaRPr lang="en-US" sz="13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4D399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f.write(str(100)) 또는 f-string</a:t>
                      </a:r>
                      <a:endParaRPr lang="en-US" sz="13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472B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UnicodeDecodeError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한글 파일을 다른 인코딩으로 읽을 때 (주로 Windows)</a:t>
                      </a:r>
                      <a:endParaRPr lang="en-US" sz="13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4D399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open(…, encoding='utf-8')</a:t>
                      </a:r>
                      <a:endParaRPr lang="en-US" sz="13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472B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ValueError: I/O operation on closed file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close( ) 한 뒤에 또 읽기 · 쓰기</a:t>
                      </a:r>
                      <a:endParaRPr lang="en-US" sz="13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4D399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다시 open( ) 하거나 with 블록 안에서 작업</a:t>
                      </a:r>
                      <a:endParaRPr lang="en-US" sz="13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85800" y="5303520"/>
            <a:ext cx="10820095" cy="822960"/>
          </a:xfrm>
          <a:prstGeom prst="roundRect">
            <a:avLst>
              <a:gd name="adj" fmla="val 13333"/>
            </a:avLst>
          </a:prstGeom>
          <a:solidFill>
            <a:srgbClr val="FACC15">
              <a:alpha val="12000"/>
            </a:srgbClr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14400" y="530352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Colab 주의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Colab 의 파일은 런타임이 끊기면 사라져요! 중요한 파일은 다운로드하거나 Google Drive 에 저장하세요.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Python Tutorial — Reading and Writing Files (docs.python.org/3/tutorial/inputoutput.html), Python — Built-in Exceptions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42</a:t>
            </a:r>
            <a:endParaRPr lang="en-US" sz="12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03. 파일 입출력  ·  open( )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3-4 파일 내용을 단어로 나누어 읽기 — read( ) + split( 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08760"/>
            <a:ext cx="6400800" cy="2670048"/>
          </a:xfrm>
          <a:prstGeom prst="roundRect">
            <a:avLst>
              <a:gd name="adj" fmla="val 3425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636776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7" name="Shape 5"/>
          <p:cNvSpPr/>
          <p:nvPr/>
        </p:nvSpPr>
        <p:spPr>
          <a:xfrm>
            <a:off x="1069848" y="1636776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8" name="Shape 6"/>
          <p:cNvSpPr/>
          <p:nvPr/>
        </p:nvSpPr>
        <p:spPr>
          <a:xfrm>
            <a:off x="1271016" y="1636776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554480" y="1563624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Colab 코드 셀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" y="1874520"/>
            <a:ext cx="6400800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95528" y="2039112"/>
            <a:ext cx="274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2039112"/>
            <a:ext cx="5623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open(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'sale.txt'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'w'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encoding=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'utf-8'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</a:t>
            </a:r>
            <a:pPr indent="0" marL="0">
              <a:buNone/>
            </a:pPr>
            <a:r>
              <a:rPr lang="en-US" sz="12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f: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95528" y="2286000"/>
            <a:ext cx="274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2286000"/>
            <a:ext cx="5623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f.write(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'Python is easy and fun\n'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795528" y="2532888"/>
            <a:ext cx="274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2532888"/>
            <a:ext cx="5623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f.write(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'Data analysis with Python\n'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95528" y="2779776"/>
            <a:ext cx="274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2779776"/>
            <a:ext cx="5623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open(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'sale.txt'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encoding=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'utf-8'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</a:t>
            </a:r>
            <a:pPr indent="0" marL="0">
              <a:buNone/>
            </a:pPr>
            <a:r>
              <a:rPr lang="en-US" sz="12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f: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95528" y="3026664"/>
            <a:ext cx="274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280160" y="3026664"/>
            <a:ext cx="5623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data = f.read()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795528" y="3273552"/>
            <a:ext cx="274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3273552"/>
            <a:ext cx="5623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words = data.split()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95528" y="3520440"/>
            <a:ext cx="274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280160" y="3520440"/>
            <a:ext cx="5623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(words)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795528" y="3767328"/>
            <a:ext cx="274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280160" y="3767328"/>
            <a:ext cx="5623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'단어 수 :'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len(words))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85800" y="4288536"/>
            <a:ext cx="6400800" cy="1216152"/>
          </a:xfrm>
          <a:prstGeom prst="roundRect">
            <a:avLst>
              <a:gd name="adj" fmla="val 6015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28" name="Text 26"/>
          <p:cNvSpPr txBox="1"/>
          <p:nvPr/>
        </p:nvSpPr>
        <p:spPr>
          <a:xfrm>
            <a:off x="868680" y="43799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868680" y="4672584"/>
            <a:ext cx="603504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['Python', 'is', 'easy', 'and', 'fun', 'Data',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'analysis', 'with', 'Python']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단어 수 : 9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7406640" y="1508760"/>
            <a:ext cx="4099255" cy="868680"/>
          </a:xfrm>
          <a:prstGeom prst="roundRect">
            <a:avLst>
              <a:gd name="adj" fmla="val 10526"/>
            </a:avLst>
          </a:prstGeom>
          <a:solidFill>
            <a:srgbClr val="0D1B3D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543800" y="1508760"/>
            <a:ext cx="38249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7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read( )</a:t>
            </a:r>
            <a:endParaRPr lang="en-US" sz="16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파일 전체 → 문자열 하나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9309964" y="2395728"/>
            <a:ext cx="292608" cy="182880"/>
          </a:xfrm>
          <a:prstGeom prst="downArrow">
            <a:avLst/>
          </a:prstGeom>
          <a:solidFill>
            <a:srgbClr val="38BDF8"/>
          </a:solidFill>
          <a:ln/>
        </p:spPr>
      </p:sp>
      <p:sp>
        <p:nvSpPr>
          <p:cNvPr id="33" name="Shape 31"/>
          <p:cNvSpPr/>
          <p:nvPr/>
        </p:nvSpPr>
        <p:spPr>
          <a:xfrm>
            <a:off x="7406640" y="2606040"/>
            <a:ext cx="4099255" cy="868680"/>
          </a:xfrm>
          <a:prstGeom prst="roundRect">
            <a:avLst>
              <a:gd name="adj" fmla="val 10526"/>
            </a:avLst>
          </a:prstGeom>
          <a:solidFill>
            <a:srgbClr val="0D1B3D"/>
          </a:solidFill>
          <a:ln w="19050">
            <a:solidFill>
              <a:srgbClr val="FACC15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543800" y="2606040"/>
            <a:ext cx="38249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7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split( )</a:t>
            </a:r>
            <a:endParaRPr lang="en-US" sz="16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공백 · 줄바꿈 기준으로 잘라 → 리스트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9309964" y="3493008"/>
            <a:ext cx="292608" cy="182880"/>
          </a:xfrm>
          <a:prstGeom prst="downArrow">
            <a:avLst/>
          </a:prstGeom>
          <a:solidFill>
            <a:srgbClr val="FACC15"/>
          </a:solidFill>
          <a:ln/>
        </p:spPr>
      </p:sp>
      <p:sp>
        <p:nvSpPr>
          <p:cNvPr id="36" name="Shape 34"/>
          <p:cNvSpPr/>
          <p:nvPr/>
        </p:nvSpPr>
        <p:spPr>
          <a:xfrm>
            <a:off x="7406640" y="3703320"/>
            <a:ext cx="4099255" cy="868680"/>
          </a:xfrm>
          <a:prstGeom prst="roundRect">
            <a:avLst>
              <a:gd name="adj" fmla="val 10526"/>
            </a:avLst>
          </a:prstGeom>
          <a:solidFill>
            <a:srgbClr val="0D1B3D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543800" y="3703320"/>
            <a:ext cx="38249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7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len( )</a:t>
            </a:r>
            <a:endParaRPr lang="en-US" sz="16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리스트 칸 수 = 단어 수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7406640" y="4892040"/>
            <a:ext cx="4099255" cy="731520"/>
          </a:xfrm>
          <a:prstGeom prst="roundRect">
            <a:avLst>
              <a:gd name="adj" fmla="val 15000"/>
            </a:avLst>
          </a:prstGeom>
          <a:solidFill>
            <a:srgbClr val="38BDF8">
              <a:alpha val="12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635240" y="4892040"/>
            <a:ext cx="36420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복습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split( ) 은 2.4 문자열 메서드, len( ) 은 2.4 함수!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685800" y="580644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34D399">
              <a:alpha val="12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914400" y="580644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PBL 예고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04. PBL 3번 '텍스트 파일 단어 수 세기' 가 바로 이 방법이에요!</a:t>
            </a:r>
            <a:endParaRPr lang="en-US" sz="1500" dirty="0"/>
          </a:p>
        </p:txBody>
      </p:sp>
      <p:sp>
        <p:nvSpPr>
          <p:cNvPr id="42" name="Text 40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03장 3-4, Python Library — str.split</a:t>
            </a:r>
            <a:endParaRPr lang="en-US" sz="1000" dirty="0"/>
          </a:p>
        </p:txBody>
      </p:sp>
      <p:sp>
        <p:nvSpPr>
          <p:cNvPr id="43" name="Text 41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43</a:t>
            </a:r>
            <a:endParaRPr lang="en-US" sz="12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03. 파일 입출력  ·  open( )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3-5 종합 예제 — 환전 결과를 파일에 저장하기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08760"/>
            <a:ext cx="6949440" cy="2816352"/>
          </a:xfrm>
          <a:prstGeom prst="roundRect">
            <a:avLst>
              <a:gd name="adj" fmla="val 3247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636776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7" name="Shape 5"/>
          <p:cNvSpPr/>
          <p:nvPr/>
        </p:nvSpPr>
        <p:spPr>
          <a:xfrm>
            <a:off x="1069848" y="1636776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8" name="Shape 6"/>
          <p:cNvSpPr/>
          <p:nvPr/>
        </p:nvSpPr>
        <p:spPr>
          <a:xfrm>
            <a:off x="1271016" y="1636776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554480" y="1563624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Colab 코드 셀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" y="1874520"/>
            <a:ext cx="6949440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95528" y="2039112"/>
            <a:ext cx="274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2039112"/>
            <a:ext cx="6172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rate = 1400                           </a:t>
            </a:r>
            <a:pPr indent="0" marL="0">
              <a:buNone/>
            </a:pPr>
            <a:r>
              <a:rPr lang="en-US" sz="1200" i="1" dirty="0">
                <a:solidFill>
                  <a:srgbClr val="7C89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 USD = 1400원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95528" y="2304288"/>
            <a:ext cx="274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2304288"/>
            <a:ext cx="6172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usd = float(input(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'환전할 달러 금액 : '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795528" y="2569464"/>
            <a:ext cx="274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2569464"/>
            <a:ext cx="6172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krw = usd * rate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95528" y="2834640"/>
            <a:ext cx="274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2834640"/>
            <a:ext cx="6172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f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'{usd:,.2f}달러 = {krw:,.0f}원'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95528" y="3099816"/>
            <a:ext cx="274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280160" y="3099816"/>
            <a:ext cx="6172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 = open(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'test5.txt'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'w'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encoding=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'utf-8'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795528" y="3364992"/>
            <a:ext cx="274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3364992"/>
            <a:ext cx="6172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f.write(result + 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'\n'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95528" y="3630168"/>
            <a:ext cx="274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280160" y="3630168"/>
            <a:ext cx="6172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f.close()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795528" y="3895344"/>
            <a:ext cx="274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280160" y="3895344"/>
            <a:ext cx="6172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(result)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85800" y="4434840"/>
            <a:ext cx="6949440" cy="978408"/>
          </a:xfrm>
          <a:prstGeom prst="roundRect">
            <a:avLst>
              <a:gd name="adj" fmla="val 747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28" name="Text 26"/>
          <p:cNvSpPr txBox="1"/>
          <p:nvPr/>
        </p:nvSpPr>
        <p:spPr>
          <a:xfrm>
            <a:off x="868680" y="45262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5257800" y="452628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ACC15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▮ = 키보드로 입력한 값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868680" y="4818888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환전할 달러 금액 : </a:t>
            </a:r>
            <a:pPr indent="0" marL="0">
              <a:lnSpc>
                <a:spcPts val="1885"/>
              </a:lnSpc>
              <a:buNone/>
            </a:pPr>
            <a:r>
              <a:rPr lang="en-US" sz="1300" b="1" u="sng" dirty="0">
                <a:solidFill>
                  <a:srgbClr val="FACC15"/>
                </a:solidFill>
                <a:uFill>
                  <a:solidFill>
                    <a:srgbClr val="FACC15"/>
                  </a:solidFill>
                </a:uFill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endParaRPr lang="en-US" sz="1300" dirty="0"/>
          </a:p>
          <a:p>
            <a:pPr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100.00달러 = 140,000원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7955280" y="1581912"/>
            <a:ext cx="347472" cy="347472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7955280" y="15819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8458200" y="1508760"/>
            <a:ext cx="30476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입력 — float(input( )) 로 달러 받기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7955280" y="2130552"/>
            <a:ext cx="347472" cy="347472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7955280" y="21305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2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8458200" y="2057400"/>
            <a:ext cx="30476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계산 — 원화 = 달러 × 1400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7955280" y="2679192"/>
            <a:ext cx="347472" cy="3474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7955280" y="26791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3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8458200" y="2606040"/>
            <a:ext cx="30476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저장 — test5.txt 에 write( )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7955280" y="3227832"/>
            <a:ext cx="347472" cy="347472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7955280" y="32278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4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8458200" y="3154680"/>
            <a:ext cx="30476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출력 — print( ) 로 화면에도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7955280" y="3840480"/>
            <a:ext cx="3550615" cy="914400"/>
          </a:xfrm>
          <a:prstGeom prst="roundRect">
            <a:avLst>
              <a:gd name="adj" fmla="val 12000"/>
            </a:avLst>
          </a:prstGeom>
          <a:solidFill>
            <a:srgbClr val="0D1B3D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8183880" y="3840480"/>
            <a:ext cx="3093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test5.txt 내용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ACC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100.00달러 = 140,000원</a:t>
            </a:r>
            <a:endParaRPr lang="en-US" sz="1500" dirty="0"/>
          </a:p>
        </p:txBody>
      </p:sp>
      <p:sp>
        <p:nvSpPr>
          <p:cNvPr id="45" name="Shape 43"/>
          <p:cNvSpPr/>
          <p:nvPr/>
        </p:nvSpPr>
        <p:spPr>
          <a:xfrm>
            <a:off x="7955280" y="4892040"/>
            <a:ext cx="3550615" cy="777240"/>
          </a:xfrm>
          <a:prstGeom prst="roundRect">
            <a:avLst>
              <a:gd name="adj" fmla="val 14118"/>
            </a:avLst>
          </a:prstGeom>
          <a:solidFill>
            <a:srgbClr val="10193A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8183880" y="4892040"/>
            <a:ext cx="3093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총출동!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input · float · f-string · open · write · close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685800" y="580644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38BDF8">
              <a:alpha val="12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914400" y="580644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바꿔 보기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'w' 를 'a' 로 바꾸면 환전할 때마다 기록이 쌓이는 '환전 장부' 가 돼요!</a:t>
            </a:r>
            <a:endParaRPr lang="en-US" sz="1500" dirty="0"/>
          </a:p>
        </p:txBody>
      </p:sp>
      <p:sp>
        <p:nvSpPr>
          <p:cNvPr id="49" name="Text 47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03장 3-5</a:t>
            </a:r>
            <a:endParaRPr lang="en-US" sz="1000" dirty="0"/>
          </a:p>
        </p:txBody>
      </p:sp>
      <p:sp>
        <p:nvSpPr>
          <p:cNvPr id="50" name="Text 48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44</a:t>
            </a:r>
            <a:endParaRPr lang="en-US" sz="12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03. 파일 입출력  ·  open( )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03. 파일 입출력 핵심 정리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54480"/>
            <a:ext cx="10820095" cy="777240"/>
          </a:xfrm>
          <a:prstGeom prst="roundRect">
            <a:avLst>
              <a:gd name="adj" fmla="val 14118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773936"/>
            <a:ext cx="347472" cy="34747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55448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3단계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4343400" y="1554480"/>
            <a:ext cx="69796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open( ) 열기 → write( ) / read( ) 작업 → close( ) 닫기 (with 문이면 자동 닫기)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85800" y="2468880"/>
            <a:ext cx="10820095" cy="777240"/>
          </a:xfrm>
          <a:prstGeom prst="roundRect">
            <a:avLst>
              <a:gd name="adj" fmla="val 14118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688336"/>
            <a:ext cx="347472" cy="34747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463040" y="246888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모드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4343400" y="2468880"/>
            <a:ext cx="69796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r 읽기(없으면 오류) · w 쓰기(덮어쓰기 ⚠) · a 추가(뒤에 이어 쓰기)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685800" y="3383280"/>
            <a:ext cx="10820095" cy="777240"/>
          </a:xfrm>
          <a:prstGeom prst="roundRect">
            <a:avLst>
              <a:gd name="adj" fmla="val 14118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602736"/>
            <a:ext cx="347472" cy="34747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463040" y="338328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쓰기 · 읽기</a:t>
            </a:r>
            <a:endParaRPr lang="en-US" sz="1800" dirty="0"/>
          </a:p>
        </p:txBody>
      </p:sp>
      <p:sp>
        <p:nvSpPr>
          <p:cNvPr id="16" name="Text 11"/>
          <p:cNvSpPr txBox="1"/>
          <p:nvPr/>
        </p:nvSpPr>
        <p:spPr>
          <a:xfrm>
            <a:off x="4343400" y="3383280"/>
            <a:ext cx="69796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write(문자열) + \n 줄바꿈,  read( ) 전체 · readline( ) 한 줄 · readlines( ) 리스트</a:t>
            </a: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685800" y="4297680"/>
            <a:ext cx="10820095" cy="777240"/>
          </a:xfrm>
          <a:prstGeom prst="roundRect">
            <a:avLst>
              <a:gd name="adj" fmla="val 14118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517136"/>
            <a:ext cx="347472" cy="34747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463040" y="429768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활용</a:t>
            </a:r>
            <a:endParaRPr lang="en-US" sz="1800" dirty="0"/>
          </a:p>
        </p:txBody>
      </p:sp>
      <p:sp>
        <p:nvSpPr>
          <p:cNvPr id="20" name="Text 14"/>
          <p:cNvSpPr txBox="1"/>
          <p:nvPr/>
        </p:nvSpPr>
        <p:spPr>
          <a:xfrm>
            <a:off x="4343400" y="4297680"/>
            <a:ext cx="69796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read( ).split( ) → 단어 리스트, len( ) 단어 수,  encoding='utf-8' 로 한글 안전</a:t>
            </a:r>
            <a:endParaRPr lang="en-US" sz="1600" dirty="0"/>
          </a:p>
        </p:txBody>
      </p:sp>
      <p:sp>
        <p:nvSpPr>
          <p:cNvPr id="21" name="Shape 15"/>
          <p:cNvSpPr/>
          <p:nvPr/>
        </p:nvSpPr>
        <p:spPr>
          <a:xfrm>
            <a:off x="685800" y="576072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38BDF8">
              <a:alpha val="12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다음으로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03장 정리와 실습 체크리스트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45</a:t>
            </a:r>
            <a:endParaRPr lang="en-US" sz="12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03장 마무리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오늘 배운 것 한 장 요약 — 입력 → 처리 → 출력 → 저장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54480"/>
            <a:ext cx="10820095" cy="960120"/>
          </a:xfrm>
          <a:prstGeom prst="roundRect">
            <a:avLst>
              <a:gd name="adj" fmla="val 11429"/>
            </a:avLst>
          </a:prstGeom>
          <a:solidFill>
            <a:srgbClr val="0D1B3D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1554480"/>
            <a:ext cx="822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8BDF8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01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783080" y="155448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입력문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3886200" y="1554480"/>
            <a:ext cx="74368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input('프롬프트') → 항상 문자열!  숫자는 int( ) · float( ),  글자로는 str( 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85800" y="2697480"/>
            <a:ext cx="10820095" cy="960120"/>
          </a:xfrm>
          <a:prstGeom prst="roundRect">
            <a:avLst>
              <a:gd name="adj" fmla="val 11429"/>
            </a:avLst>
          </a:prstGeom>
          <a:solidFill>
            <a:srgbClr val="0D1B3D"/>
          </a:solidFill>
          <a:ln w="19050">
            <a:solidFill>
              <a:srgbClr val="FACC1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2697480"/>
            <a:ext cx="822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ACC15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02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1783080" y="269748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출력문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3886200" y="2697480"/>
            <a:ext cx="74368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print(a, b) · sep= · end=,  f'{값:,}' f'{값:.2f}' f'{값:.1%}',  \n \t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85800" y="3840480"/>
            <a:ext cx="10820095" cy="960120"/>
          </a:xfrm>
          <a:prstGeom prst="roundRect">
            <a:avLst>
              <a:gd name="adj" fmla="val 11429"/>
            </a:avLst>
          </a:prstGeom>
          <a:solidFill>
            <a:srgbClr val="0D1B3D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4400" y="3840480"/>
            <a:ext cx="822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4D399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03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1783080" y="384048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파일 입출력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3886200" y="3840480"/>
            <a:ext cx="74368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open(파일, 'r' / 'w' / 'a') → read( ) · write( ) → close( )  (with 로 자동 닫기)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85800" y="5120640"/>
            <a:ext cx="10820095" cy="594360"/>
          </a:xfrm>
          <a:prstGeom prst="roundRect">
            <a:avLst>
              <a:gd name="adj" fmla="val 18462"/>
            </a:avLst>
          </a:prstGeom>
          <a:solidFill>
            <a:srgbClr val="FACC15">
              <a:alpha val="12000"/>
            </a:srgbClr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14400" y="5120640"/>
            <a:ext cx="103628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한 줄 요약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묻고(input) → 바꾸고(int · float) → 계산하고 → 보여 주고(print · f-string) → 남긴다(open · write)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85800" y="580644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38BDF8">
              <a:alpha val="12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14400" y="580644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다음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04. PBL 연습문제 (별도 파일) — 계산기 · 파일 복사 · 단어 수 세기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46</a:t>
            </a:r>
            <a:endParaRPr lang="en-US" sz="12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03장 마무리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실습 체크리스트 — Chap03 실습 노트북에서 해 보기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54480"/>
            <a:ext cx="5272888" cy="1097280"/>
          </a:xfrm>
          <a:prstGeom prst="roundRect">
            <a:avLst>
              <a:gd name="adj" fmla="val 10000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901952"/>
            <a:ext cx="384048" cy="38404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682496"/>
            <a:ext cx="4267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1. input + type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1554480" y="2103120"/>
            <a:ext cx="426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숫자를 입력하고 type( ) 으로 str 확인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85800" y="2834640"/>
            <a:ext cx="5272888" cy="1097280"/>
          </a:xfrm>
          <a:prstGeom prst="roundRect">
            <a:avLst>
              <a:gd name="adj" fmla="val 10000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3182112"/>
            <a:ext cx="384048" cy="38404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554480" y="2962656"/>
            <a:ext cx="4267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2. int · float 변환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1554480" y="3383280"/>
            <a:ext cx="426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원의 둘레 · 키오스크 결제 금액 만들기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85800" y="4114800"/>
            <a:ext cx="5272888" cy="1097280"/>
          </a:xfrm>
          <a:prstGeom prst="roundRect">
            <a:avLst>
              <a:gd name="adj" fmla="val 10000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4462272"/>
            <a:ext cx="384048" cy="384048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554480" y="4242816"/>
            <a:ext cx="4267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3. sep · end</a:t>
            </a:r>
            <a:endParaRPr lang="en-US" sz="1700" dirty="0"/>
          </a:p>
        </p:txBody>
      </p:sp>
      <p:sp>
        <p:nvSpPr>
          <p:cNvPr id="16" name="Text 11"/>
          <p:cNvSpPr txBox="1"/>
          <p:nvPr/>
        </p:nvSpPr>
        <p:spPr>
          <a:xfrm>
            <a:off x="1554480" y="4663440"/>
            <a:ext cx="426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날짜 2025-03-01, 한 줄 출력 실험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6233008" y="1554480"/>
            <a:ext cx="5272888" cy="1097280"/>
          </a:xfrm>
          <a:prstGeom prst="roundRect">
            <a:avLst>
              <a:gd name="adj" fmla="val 10000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7328" y="1901952"/>
            <a:ext cx="384048" cy="384048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101688" y="1682496"/>
            <a:ext cx="4267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4. f-string 서식</a:t>
            </a:r>
            <a:endParaRPr lang="en-US" sz="1700" dirty="0"/>
          </a:p>
        </p:txBody>
      </p:sp>
      <p:sp>
        <p:nvSpPr>
          <p:cNvPr id="20" name="Text 14"/>
          <p:cNvSpPr txBox="1"/>
          <p:nvPr/>
        </p:nvSpPr>
        <p:spPr>
          <a:xfrm>
            <a:off x="7101688" y="2103120"/>
            <a:ext cx="426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:,  :.2f  :.1%  로 매출 보고 한 줄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6233008" y="2834640"/>
            <a:ext cx="5272888" cy="1097280"/>
          </a:xfrm>
          <a:prstGeom prst="roundRect">
            <a:avLst>
              <a:gd name="adj" fmla="val 10000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7328" y="3182112"/>
            <a:ext cx="384048" cy="384048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7101688" y="2962656"/>
            <a:ext cx="4267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5. 파일 w · a · r</a:t>
            </a:r>
            <a:endParaRPr lang="en-US" sz="1700" dirty="0"/>
          </a:p>
        </p:txBody>
      </p:sp>
      <p:sp>
        <p:nvSpPr>
          <p:cNvPr id="24" name="Text 17"/>
          <p:cNvSpPr txBox="1"/>
          <p:nvPr/>
        </p:nvSpPr>
        <p:spPr>
          <a:xfrm>
            <a:off x="7101688" y="3383280"/>
            <a:ext cx="426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memo.txt 덮어쓰기 vs 이어 쓰기 확인</a:t>
            </a:r>
            <a:endParaRPr lang="en-US" sz="1400" dirty="0"/>
          </a:p>
        </p:txBody>
      </p:sp>
      <p:sp>
        <p:nvSpPr>
          <p:cNvPr id="25" name="Shape 18"/>
          <p:cNvSpPr/>
          <p:nvPr/>
        </p:nvSpPr>
        <p:spPr>
          <a:xfrm>
            <a:off x="6233008" y="4114800"/>
            <a:ext cx="5272888" cy="1097280"/>
          </a:xfrm>
          <a:prstGeom prst="roundRect">
            <a:avLst>
              <a:gd name="adj" fmla="val 10000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7328" y="4462272"/>
            <a:ext cx="384048" cy="384048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7101688" y="4242816"/>
            <a:ext cx="4267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6. 종합</a:t>
            </a:r>
            <a:endParaRPr lang="en-US" sz="1700" dirty="0"/>
          </a:p>
        </p:txBody>
      </p:sp>
      <p:sp>
        <p:nvSpPr>
          <p:cNvPr id="28" name="Text 20"/>
          <p:cNvSpPr txBox="1"/>
          <p:nvPr/>
        </p:nvSpPr>
        <p:spPr>
          <a:xfrm>
            <a:off x="7101688" y="4663440"/>
            <a:ext cx="426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환전 결과 test5.txt 저장 · 단어 수 세기</a:t>
            </a:r>
            <a:endParaRPr lang="en-US" sz="1400" dirty="0"/>
          </a:p>
        </p:txBody>
      </p:sp>
      <p:sp>
        <p:nvSpPr>
          <p:cNvPr id="29" name="Shape 21"/>
          <p:cNvSpPr/>
          <p:nvPr/>
        </p:nvSpPr>
        <p:spPr>
          <a:xfrm>
            <a:off x="685800" y="5486400"/>
            <a:ext cx="10820095" cy="640080"/>
          </a:xfrm>
          <a:prstGeom prst="roundRect">
            <a:avLst>
              <a:gd name="adj" fmla="val 17143"/>
            </a:avLst>
          </a:prstGeom>
          <a:solidFill>
            <a:srgbClr val="34D399">
              <a:alpha val="12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0" name="Text 22"/>
          <p:cNvSpPr txBox="1"/>
          <p:nvPr/>
        </p:nvSpPr>
        <p:spPr>
          <a:xfrm>
            <a:off x="914400" y="548640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input 실습 팁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input( ) 셀을 실행하면 입력 칸이 뜰 때까지 기다리세요. 값을 넣고 Enter 를 눌러야 다음 셀로 넘어가요!</a:t>
            </a:r>
            <a:endParaRPr lang="en-US" sz="1500" dirty="0"/>
          </a:p>
        </p:txBody>
      </p:sp>
      <p:sp>
        <p:nvSpPr>
          <p:cNvPr id="31" name="Text 23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47</a:t>
            </a:r>
            <a:endParaRPr lang="en-US" sz="12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03장 마무리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참고문헌 및 참고자료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63040"/>
            <a:ext cx="1082009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김진성. 「비즈니스 데이터 분석 with Python」 03장 입력과 출력 (01. 입력문 · 02. 출력문 · 03. 파일 입출력 · 04. PBL). WikiDocs. https://wikidocs.net/229300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김진성. Chap03 입력과 출력 실습 노트북 (.ipynb)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Python Software Foundation. The Python Tutorial — Input and Output (Fancier Output Formatting, Reading and Writing Files). https://docs.python.org/3/tutorial/inputoutput.html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Python Software Foundation. Built-in Functions — input( ), print( ), open( ), int( ), float( ), str( ). https://docs.python.org/3/library/functions.html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Python Software Foundation. Format Specification Mini-Language. https://docs.python.org/3/library/string.html#formatspec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Python Software Foundation. printf-style String Formatting. https://docs.python.org/3/library/stdtypes.html#printf-style-string-formatting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Python Software Foundation. Lexical analysis — String and Bytes literals (escape sequences). https://docs.python.org/3/reference/lexical_analysis.html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Python Software Foundation. Built-in Exceptions. https://docs.python.org/3/library/exceptions.html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48</a:t>
            </a:r>
            <a:endParaRPr lang="en-US" sz="12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1463040"/>
            <a:ext cx="3657600" cy="36576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14400" y="237744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dirty="0">
                <a:solidFill>
                  <a:srgbClr val="FFFFFF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감사합니다.</a:t>
            </a:r>
            <a:endParaRPr lang="en-US" sz="540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3474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비즈니스 데이터 분석 with Python  ·  03장. 입력과 출력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818CF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질문은 언제든 환영합니다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49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49</Slides>
  <Notes>49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비즈니스 데이터 분석 with Python - 03장. 입력과 출력</dc:title>
  <dc:subject>PptxGenJS Presentation</dc:subject>
  <dc:creator>김진성</dc:creator>
  <cp:lastModifiedBy>김진성</cp:lastModifiedBy>
  <cp:revision>1</cp:revision>
  <dcterms:created xsi:type="dcterms:W3CDTF">2026-10-05T23:02:13Z</dcterms:created>
  <dcterms:modified xsi:type="dcterms:W3CDTF">2026-10-05T23:02:13Z</dcterms:modified>
</cp:coreProperties>
</file>