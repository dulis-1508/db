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2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3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83c66dd-2d49-29c6-bec5-028248c30b38}">
          <p14:sldIdLst>
            <p14:sldId id="256"/>
            <p14:sldId id="257"/>
            <p14:sldId id="258"/>
            <p14:sldId id="259"/>
            <p14:sldId id="260"/>
          </p14:sldIdLst>
        </p14:section>
        <p14:section name="1.1 파이썬 역사" id="{7289d562-d68c-2378-c98c-0aa1c6510658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1.2 파이썬 에디터" id="{5395a845-f870-8817-8cba-e8f4cf28fb49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1.3 파이썬 라이브러리" id="{45f6c1c2-5103-66d4-274f-d7383f367332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1.4 파이썬이 필요한 이유" id="{9376f893-e184-8775-5f7f-4fa9e033eae1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마무리" id="{e279d79a-1b6e-53d6-20bd-5ac3183cb4b1}">
          <p14:sldIdLst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개발자가 사용하는 언어 (Stack Overflow 2025,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사용 비율(%)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ACC1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JavaScript</c:v>
                  </c:pt>
                  <c:pt idx="1">
                    <c:v>HTML/CSS</c:v>
                  </c:pt>
                  <c:pt idx="2">
                    <c:v>SQL</c:v>
                  </c:pt>
                  <c:pt idx="3">
                    <c:v>Python</c:v>
                  </c:pt>
                  <c:pt idx="4">
                    <c:v>Bash/Shell</c:v>
                  </c:pt>
                  <c:pt idx="5">
                    <c:v>TypeScript</c:v>
                  </c:pt>
                  <c:pt idx="6">
                    <c:v>Java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</c:v>
                </c:pt>
                <c:pt idx="1">
                  <c:v>61.9</c:v>
                </c:pt>
                <c:pt idx="2">
                  <c:v>58.6</c:v>
                </c:pt>
                <c:pt idx="3">
                  <c:v>57.9</c:v>
                </c:pt>
                <c:pt idx="4">
                  <c:v>48.7</c:v>
                </c:pt>
                <c:pt idx="5">
                  <c:v>43.6</c:v>
                </c:pt>
                <c:pt idx="6">
                  <c:v>29.4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9D0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3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FACC15"/>
            </a:solidFill>
            <a:ln w="38100" cap="flat">
              <a:solidFill>
                <a:srgbClr val="FACC1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ACC15"/>
              </a:solidFill>
              <a:ln w="9525" cap="flat">
                <a:solidFill>
                  <a:srgbClr val="FACC1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1960</c:v>
                  </c:pt>
                  <c:pt idx="1">
                    <c:v>1965</c:v>
                  </c:pt>
                  <c:pt idx="2">
                    <c:v>1970</c:v>
                  </c:pt>
                  <c:pt idx="3">
                    <c:v>1975</c:v>
                  </c:pt>
                  <c:pt idx="4">
                    <c:v>1980</c:v>
                  </c:pt>
                  <c:pt idx="5">
                    <c:v>1985</c:v>
                  </c:pt>
                  <c:pt idx="6">
                    <c:v>1990</c:v>
                  </c:pt>
                  <c:pt idx="7">
                    <c:v>1995</c:v>
                  </c:pt>
                  <c:pt idx="8">
                    <c:v>2000</c:v>
                  </c:pt>
                  <c:pt idx="9">
                    <c:v>2005</c:v>
                  </c:pt>
                  <c:pt idx="10">
                    <c:v>2010</c:v>
                  </c:pt>
                  <c:pt idx="11">
                    <c:v>2015</c:v>
                  </c:pt>
                  <c:pt idx="12">
                    <c:v>2020</c:v>
                  </c:pt>
                  <c:pt idx="13">
                    <c:v>2023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9.9</c:v>
                </c:pt>
                <c:pt idx="1">
                  <c:v>14.6</c:v>
                </c:pt>
                <c:pt idx="2">
                  <c:v>21.7</c:v>
                </c:pt>
                <c:pt idx="3">
                  <c:v>44.2</c:v>
                </c:pt>
                <c:pt idx="4">
                  <c:v>84.4</c:v>
                </c:pt>
                <c:pt idx="5">
                  <c:v>94.5</c:v>
                </c:pt>
                <c:pt idx="6">
                  <c:v>168.7</c:v>
                </c:pt>
                <c:pt idx="7">
                  <c:v>228.8</c:v>
                </c:pt>
                <c:pt idx="8">
                  <c:v>248.4</c:v>
                </c:pt>
                <c:pt idx="9">
                  <c:v>360.5</c:v>
                </c:pt>
                <c:pt idx="10">
                  <c:v>532.4</c:v>
                </c:pt>
                <c:pt idx="11">
                  <c:v>616</c:v>
                </c:pt>
                <c:pt idx="12">
                  <c:v>701.7</c:v>
                </c:pt>
                <c:pt idx="13">
                  <c:v>869.8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D0E8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C9D0E8"/>
                    </a:solidFill>
                    <a:latin typeface="+mn-lt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0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5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D0E8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C9D0E8"/>
                    </a:solidFill>
                    <a:latin typeface="+mn-lt"/>
                  </a:rPr>
                  <a:t>GDP 합계 (조 달러)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0E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3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World GDP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1960</c:v>
                  </c:pt>
                  <c:pt idx="1">
                    <c:v>1965</c:v>
                  </c:pt>
                  <c:pt idx="2">
                    <c:v>1970</c:v>
                  </c:pt>
                  <c:pt idx="3">
                    <c:v>1975</c:v>
                  </c:pt>
                  <c:pt idx="4">
                    <c:v>1980</c:v>
                  </c:pt>
                  <c:pt idx="5">
                    <c:v>1985</c:v>
                  </c:pt>
                  <c:pt idx="6">
                    <c:v>1990</c:v>
                  </c:pt>
                  <c:pt idx="7">
                    <c:v>1995</c:v>
                  </c:pt>
                  <c:pt idx="8">
                    <c:v>2000</c:v>
                  </c:pt>
                  <c:pt idx="9">
                    <c:v>2005</c:v>
                  </c:pt>
                  <c:pt idx="10">
                    <c:v>2010</c:v>
                  </c:pt>
                  <c:pt idx="11">
                    <c:v>2015</c:v>
                  </c:pt>
                  <c:pt idx="12">
                    <c:v>2020</c:v>
                  </c:pt>
                  <c:pt idx="13">
                    <c:v>2023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9.9</c:v>
                </c:pt>
                <c:pt idx="1">
                  <c:v>14.6</c:v>
                </c:pt>
                <c:pt idx="2">
                  <c:v>21.7</c:v>
                </c:pt>
                <c:pt idx="3">
                  <c:v>44.2</c:v>
                </c:pt>
                <c:pt idx="4">
                  <c:v>84.4</c:v>
                </c:pt>
                <c:pt idx="5">
                  <c:v>94.5</c:v>
                </c:pt>
                <c:pt idx="6">
                  <c:v>168.7</c:v>
                </c:pt>
                <c:pt idx="7">
                  <c:v>228.8</c:v>
                </c:pt>
                <c:pt idx="8">
                  <c:v>248.4</c:v>
                </c:pt>
                <c:pt idx="9">
                  <c:v>360.5</c:v>
                </c:pt>
                <c:pt idx="10">
                  <c:v>532.4</c:v>
                </c:pt>
                <c:pt idx="11">
                  <c:v>616</c:v>
                </c:pt>
                <c:pt idx="12">
                  <c:v>701.7</c:v>
                </c:pt>
                <c:pt idx="13">
                  <c:v>869.8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D0E8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C9D0E8"/>
                    </a:solidFill>
                    <a:latin typeface="+mn-lt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0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5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D0E8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C9D0E8"/>
                    </a:solidFill>
                    <a:latin typeface="+mn-lt"/>
                  </a:rPr>
                  <a:t>GDP 합계 (조 달러)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0E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B3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파이썬은 1989년 귀도 반 로섬이 취미로 만들기 시작한 언어입니다. 이름은 뱀이 아니라 코미디 쇼에서 왔다는 점을 짚어 주세요. 2와 3은 호환되지 않으며, 수업에서는 Python 3을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JavaScript, HTML/CSS는 웹 개발자가 많아 높게 나옵니다. 파이썬은 데이터·AI 붐으로 2025년 한 해에만 7%p 상승했습니다. 원문의 Stack Overflow Insights(질문 비중 증가) 내용을 최신 설문 수치로 보완했습니다.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예시는 python=3.8이었으나, 3.8은 2024년 10월 지원 종료되어 3.12로 바꿔 표기했습니다.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내용: 표준 라이브러리는 200개 이상의 핵심 모듈로 구성되며, 대부분 C 언어로 작성되어 있다. I/O 같은 기본 시스템 기능을 제공한다.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주의: 이 데이터에는 국가뿐 아니라 'World', 'High income' 같은 지역·소득 그룹 합계 행도 섞여 있어, 단순 합계(2023년 약 870조 달러)는 실제 세계 GDP(약 105조 달러)보다 훨씬 큽니다. 추세를 보는 용도로만 해석하고, 정확한 값은 Country Name == 'World' 행으로 확인하도록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는 대괄호 두 겹 [[ ]] — 표(2차원) 형태로, y 는 한 겹 [ ] — 한 열(1차원)로 꺼낸다는 점은 08장에서 다시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image" Target="../media/image-43-7.png"/><Relationship Id="rId8" Type="http://schemas.openxmlformats.org/officeDocument/2006/relationships/image" Target="../media/image-43-8.png"/><Relationship Id="rId9" Type="http://schemas.openxmlformats.org/officeDocument/2006/relationships/image" Target="../media/image-4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384048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01장. 파이썬 준비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01. 파이썬 이해  ·  1.1 역사 / 1.2 에디터 / 1.3 라이브러리 / 1.4 필요한 이유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00. 수업 안내 — 한 학기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기초 문법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6366F1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01장. 파이썬 준비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23744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523744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02장. 변수와 데이터 유형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127248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03장. 입력문과 출력문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730752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730752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04장. 조건문과 반복문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334256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334256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05장. 함수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937760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37760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06장. 클래스와 상속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분석 도구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83938" y="1920240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2538" y="1920240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07장. NumPy (수치 계산)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83938" y="2523744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2538" y="2523744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08장. Pandas (데이터 처리)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83938" y="3127248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2538" y="3127248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09장. Matplotlib (데이터 시각화)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3938" y="3730752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2538" y="3730752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10장. Folium (지도)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83938" y="4334256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2538" y="4334256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11장. BeautifulSoup (웹 크롤링)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82077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분석 실전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082077" y="1920240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10677" y="1920240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12장. 통계 분석과 머신 러닝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82077" y="2523744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10677" y="2523744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13장. 공공 데이터 분석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082077" y="3127248"/>
            <a:ext cx="3423818" cy="512064"/>
          </a:xfrm>
          <a:prstGeom prst="roundRect">
            <a:avLst>
              <a:gd name="adj" fmla="val 2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10677" y="3127248"/>
            <a:ext cx="30580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14장. 비즈니스 프로젝트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326538" y="19202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◀ 오늘 배울 내용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 — 01장. 파이썬 준비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실습 파일 : Chap01_파이썬준비_실습.ipynb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역사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누가, 왜 만들었을까?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59404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33724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64" y="26289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33724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3733724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에디터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3733724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코드는 어디에 쓰고 실행할까?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233008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07328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68" y="26289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07328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6507328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라이브러리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남이 만든 기능을 빌려 쓰는 법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9006611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80931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262890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80931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1.4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9280931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파이썬이 필요한 이유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280931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엑셀만으로는 부족한 5가지 순간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01장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코딩이 처음이어도 괜찮아요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이번 장은 '코드를 잘 쓰는 법'이 아니라, 파이썬이 어떤 도구인지 감을 잡는 시간입니다.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272888" cy="1280160"/>
          </a:xfrm>
          <a:prstGeom prst="roundRect">
            <a:avLst>
              <a:gd name="adj" fmla="val 857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42316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06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0240" y="235000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1  ·  알아보기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743200"/>
            <a:ext cx="380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파이썬이 어떻게 생겨났고 왜 인기가 많은지 설명할 수 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33008" y="2148840"/>
            <a:ext cx="5272888" cy="1280160"/>
          </a:xfrm>
          <a:prstGeom prst="roundRect">
            <a:avLst>
              <a:gd name="adj" fmla="val 857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07328" y="242316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606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67448" y="235000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2  ·  구분하기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467448" y="2743200"/>
            <a:ext cx="380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코드를 쓰는 프로그램(에디터)의 종류와 차이를 구분할 수 있다.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85800" y="3657600"/>
            <a:ext cx="5272888" cy="1280160"/>
          </a:xfrm>
          <a:prstGeom prst="roundRect">
            <a:avLst>
              <a:gd name="adj" fmla="val 857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0120" y="393192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20240" y="385876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3  ·  이해하기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920240" y="4251960"/>
            <a:ext cx="380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라이브러리와 import, pip가 무엇인지 말로 설명할 수 있다.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233008" y="3657600"/>
            <a:ext cx="5272888" cy="1280160"/>
          </a:xfrm>
          <a:prstGeom prst="roundRect">
            <a:avLst>
              <a:gd name="adj" fmla="val 857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07328" y="393192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41148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67448" y="3858768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4  ·  비교하기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467448" y="4251960"/>
            <a:ext cx="380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 대신 파이썬을 쓰면 좋은 상황을 예로 들 수 있다.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85800" y="548640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걱정 마세요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오늘 나오는 코드는 '이런 게 가능하구나' 하고 구경만 해도 충분합니다. 문법은 02장부터 하나씩 배웁니다.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01장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나오는 용어, 비유로 먼저 익히기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973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73736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프로그래밍 언어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5146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컴퓨터와 대화하는 '외국어'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그중 가장 배우기 쉬운 언어 중 하나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3938" y="150876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2538" y="173736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58" y="18973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9778" y="173736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(Code)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25146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그 언어로 쓴 '명령문'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예) print("안녕") → 화면에 안녕을 써 줘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82077" y="150876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10677" y="173736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697" y="18973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87917" y="173736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에디터 (Editor)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310677" y="25146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코드를 쓰는 '워드 프로그램'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310677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한글·워드로 글을 쓰듯, 에디터로 코드를 씀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85800" y="384048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2291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91640" y="4069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라이브러리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4846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미리 만들어 둔 기능 '도서관'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" y="52578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책(기능)을 빌려서(import) 사용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383938" y="384048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612538" y="406908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558" y="42291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389778" y="4069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4612538" y="4846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라이브러리를 받아오는 '앱스토어'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4612538" y="52578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install 이름 → 설치 끝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8082077" y="384048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10677" y="406908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697" y="422910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087917" y="4069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디버깅 (Debugging)</a:t>
            </a:r>
            <a:endParaRPr lang="en-US" sz="1800" dirty="0"/>
          </a:p>
        </p:txBody>
      </p:sp>
      <p:sp>
        <p:nvSpPr>
          <p:cNvPr id="39" name="Text 31"/>
          <p:cNvSpPr txBox="1"/>
          <p:nvPr/>
        </p:nvSpPr>
        <p:spPr>
          <a:xfrm>
            <a:off x="8310677" y="4846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코드 속 '벌레(오류)' 잡기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310677" y="52578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오류를 찾아서 고치는 과정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역사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누가, 언제, 왜 만들었을까?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프로그래밍 언어란 무엇인가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35년의 역사 타임라인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파이썬이 쉬운 이유와 인기 순위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파이썬 역사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프로그래밍 언어 = 사람과 컴퓨터 사이의 통역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2024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194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사람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"화면에 '안녕'이라고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써 줘"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0480" y="2743200"/>
            <a:ext cx="563728" cy="45720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11880" y="3291840"/>
            <a:ext cx="1020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코드로 작성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32808" y="192024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21945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2808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코드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815688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print("안녕")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787488" y="2743200"/>
            <a:ext cx="563728" cy="45720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558888" y="3291840"/>
            <a:ext cx="1020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579815" y="192024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21945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79815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컴퓨터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762695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화면에  안녕  출력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85800" y="434340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60120" y="4343400"/>
            <a:ext cx="10271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컴퓨터는 0과 1만 이해합니다.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그래서 사람이 이해하기 쉬운 '프로그래밍 언어'로 명령을 쓰면, 컴퓨터가 알아들을 수 있게 바꿔서 실행해 줍니다. 파이썬은 영어 문장처럼 읽히도록 만들어져 처음 배우기에 좋습니다.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줄 요약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프로그래밍 언어는 컴퓨터에게 일을 시키기 위한 '외국어'이고, 파이썬은 그중 쉬운 언어입니다.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파이썬 역사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파이썬, 한눈에 보는 35년의 역사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481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파이썬의 시간표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2651760"/>
            <a:ext cx="10820095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4515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1989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459459" y="2523744"/>
            <a:ext cx="256032" cy="256032"/>
          </a:xfrm>
          <a:prstGeom prst="ellipse">
            <a:avLst/>
          </a:prstGeom>
          <a:solidFill>
            <a:srgbClr val="818CF8"/>
          </a:solidFill>
          <a:ln w="38100">
            <a:solidFill>
              <a:srgbClr val="0A11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8795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크리스마스 휴가 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취미로 개발 시작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567864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1991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262808" y="2523744"/>
            <a:ext cx="256032" cy="256032"/>
          </a:xfrm>
          <a:prstGeom prst="ellipse">
            <a:avLst/>
          </a:prstGeom>
          <a:solidFill>
            <a:srgbClr val="818CF8"/>
          </a:solidFill>
          <a:ln w="38100">
            <a:solidFill>
              <a:srgbClr val="0A112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22144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버전 공개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(0.9.0)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371213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2000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066157" y="2523744"/>
            <a:ext cx="256032" cy="256032"/>
          </a:xfrm>
          <a:prstGeom prst="ellipse">
            <a:avLst/>
          </a:prstGeom>
          <a:solidFill>
            <a:srgbClr val="818CF8"/>
          </a:solidFill>
          <a:ln w="38100">
            <a:solidFill>
              <a:srgbClr val="0A112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493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2.0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유니코드 지원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174562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2008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869506" y="2523744"/>
            <a:ext cx="256032" cy="256032"/>
          </a:xfrm>
          <a:prstGeom prst="ellipse">
            <a:avLst/>
          </a:prstGeom>
          <a:solidFill>
            <a:srgbClr val="FACC15"/>
          </a:solidFill>
          <a:ln w="38100">
            <a:solidFill>
              <a:srgbClr val="0A112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8842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지금 문법의 시작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977911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472B6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2020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8672855" y="2523744"/>
            <a:ext cx="256032" cy="256032"/>
          </a:xfrm>
          <a:prstGeom prst="ellipse">
            <a:avLst/>
          </a:prstGeom>
          <a:solidFill>
            <a:srgbClr val="F472B6"/>
          </a:solidFill>
          <a:ln w="38100">
            <a:solidFill>
              <a:srgbClr val="0A112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32191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공식 지원 종료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781261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2025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0476205" y="2523744"/>
            <a:ext cx="256032" cy="256032"/>
          </a:xfrm>
          <a:prstGeom prst="ellipse">
            <a:avLst/>
          </a:prstGeom>
          <a:solidFill>
            <a:srgbClr val="34D399"/>
          </a:solidFill>
          <a:ln w="38100">
            <a:solidFill>
              <a:srgbClr val="0A112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735541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3.14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최신 버전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5800" y="379476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" y="4050792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87952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600200" y="405079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누가 만들었나?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914400" y="4709160"/>
            <a:ext cx="3012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귀도 반 로섬 (Guido van Rossum)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네덜란드 출신 프로그래머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383938" y="379476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612538" y="4050792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698" y="4187952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298338" y="405079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이름이 '파이썬'?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4612538" y="4709160"/>
            <a:ext cx="3012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영국 코미디 TV 쇼 〈몬티 파이썬〉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에서 따온 이름 — 뱀이 아니에요!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8082077" y="379476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310677" y="4050792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837" y="4187952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996477" y="4050792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 버전 vs 3 버전</a:t>
            </a:r>
            <a:endParaRPr lang="en-US" sz="1700" dirty="0"/>
          </a:p>
        </p:txBody>
      </p:sp>
      <p:sp>
        <p:nvSpPr>
          <p:cNvPr id="40" name="Text 34"/>
          <p:cNvSpPr txBox="1"/>
          <p:nvPr/>
        </p:nvSpPr>
        <p:spPr>
          <a:xfrm>
            <a:off x="8310677" y="4709160"/>
            <a:ext cx="30123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서로 호환되지 않아요.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2는 2020년에 은퇴했습니다.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초보자 포인트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수업에서는 Python 3을 씁니다. print 'hi' 처럼 괄호 없는 예제는 옛날 Python 2 코드예요.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python.org 릴리스 기록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파이썬 역사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파이썬을 이끈 사람들과 커뮤니티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120640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914400" cy="914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884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귀도 반 로섬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Guido van Rossum · 네덜란드 CWI 연구소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1989.12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3063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ABC 언어의 뒤를 잇는 언어로 개발 시작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BDFL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3840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'자비로운 종신 독재자' — 커뮤니티가 붙여 준 별명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617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2018.07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331720" y="4617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리더 자리에서 물러나고 커뮤니티 운영으로 전환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554480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파이썬이 성장한 비결 : 열린 커뮤니티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26480" y="2103120"/>
            <a:ext cx="5379415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55080" y="228600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44602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178040" y="2221992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누구나 참여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7178040" y="258775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 세계 개발자가 함께 개선 (2.0부터 커뮤니티 중심 개발)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126480" y="3264408"/>
            <a:ext cx="5379415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55080" y="3447288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60730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178040" y="338328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무료 · 오픈소스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178040" y="374904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누구나 무료로 설치하고 사용 가능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126480" y="4425696"/>
            <a:ext cx="5379415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355080" y="4608576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4768596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178040" y="4544568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기업들도 채택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178040" y="4910328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Google, Dropbox, IBM, Cisco, Mozilla, Quora 등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알아 두기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오픈소스 = 설계도(소스 코드)가 공개되어 누구나 보고, 쓰고, 고칠 수 있는 소프트웨어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Wikipedia 'History of Python'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파이썬 역사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파이썬은 왜 '쉬운 언어'라고 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똑같이 화면에 Hello, World! 를 출력하는 코드를 비교해 봅시다.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B923C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Java (자바)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5227168" cy="2249424"/>
          </a:xfrm>
          <a:prstGeom prst="roundRect">
            <a:avLst>
              <a:gd name="adj" fmla="val 406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5511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5511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271016" y="25511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247802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Hello.java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29535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5351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Hello {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32644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6440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a) {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5753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7530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8862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886200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41970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197096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201168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 (파이썬)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78728" y="242316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5511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5511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5511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247802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hello.py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78892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9535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95351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78728" y="3429000"/>
            <a:ext cx="5227168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1608" y="3584448"/>
            <a:ext cx="256032" cy="256032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873088" y="3429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단 1줄로 끝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884768" y="342900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일을 훨씬 짧게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278728" y="4114800"/>
            <a:ext cx="5227168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4270248"/>
            <a:ext cx="256032" cy="256032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6873088" y="4114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영어 문장처럼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8884768" y="411480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 = '출력해라'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6278728" y="4800600"/>
            <a:ext cx="5227168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4956048"/>
            <a:ext cx="256032" cy="256032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6873088" y="4800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들여쓰기로 구분</a:t>
            </a:r>
            <a:endParaRPr lang="en-US" sz="1600" dirty="0"/>
          </a:p>
        </p:txBody>
      </p:sp>
      <p:sp>
        <p:nvSpPr>
          <p:cNvPr id="43" name="Text 38"/>
          <p:cNvSpPr txBox="1"/>
          <p:nvPr/>
        </p:nvSpPr>
        <p:spPr>
          <a:xfrm>
            <a:off x="8884768" y="480060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 { } 대신 칸 맞추기</a:t>
            </a:r>
            <a:endParaRPr lang="en-US" sz="1500" dirty="0"/>
          </a:p>
        </p:txBody>
      </p:sp>
      <p:sp>
        <p:nvSpPr>
          <p:cNvPr id="44" name="Text 39"/>
          <p:cNvSpPr txBox="1"/>
          <p:nvPr/>
        </p:nvSpPr>
        <p:spPr>
          <a:xfrm>
            <a:off x="685800" y="4855464"/>
            <a:ext cx="522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자바는 5줄, 괄호와 세미콜론( ; )이 많아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처음 보면 어디가 핵심인지 찾기 어렵습니다.</a:t>
            </a:r>
            <a:endParaRPr lang="en-US" sz="1500" dirty="0"/>
          </a:p>
        </p:txBody>
      </p:sp>
      <p:sp>
        <p:nvSpPr>
          <p:cNvPr id="45" name="Shape 40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그래서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'코드 읽기 쉬운 언어'로 불리며, 비전공자의 첫 프로그래밍 언어로 가장 많이 추천됩니다.</a:t>
            </a:r>
            <a:endParaRPr lang="en-US" sz="1600" dirty="0"/>
          </a:p>
        </p:txBody>
      </p:sp>
      <p:sp>
        <p:nvSpPr>
          <p:cNvPr id="47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python.org, Oracle Java 문서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파이썬 역사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지금, 세계에서 가장 인기 있는 언어 중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675120" cy="4023360"/>
          </a:xfrm>
          <a:prstGeom prst="roundRect">
            <a:avLst>
              <a:gd name="adj" fmla="val 272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822960" y="16002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508760"/>
            <a:ext cx="3870655" cy="1188720"/>
          </a:xfrm>
          <a:prstGeom prst="roundRect">
            <a:avLst>
              <a:gd name="adj" fmla="val 923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508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+7%p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1508760"/>
            <a:ext cx="2179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1년 새 사용률 상승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(2024→2025, 역대 최대)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35240" y="2880360"/>
            <a:ext cx="3870655" cy="1188720"/>
          </a:xfrm>
          <a:prstGeom prst="roundRect">
            <a:avLst>
              <a:gd name="adj" fmla="val 923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4D399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1위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880360"/>
            <a:ext cx="2179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IEEE Spectrum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(종합 · 구인 수요)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35240" y="4251960"/>
            <a:ext cx="3870655" cy="1188720"/>
          </a:xfrm>
          <a:prstGeom prst="roundRect">
            <a:avLst>
              <a:gd name="adj" fmla="val 923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4251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1위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4251960"/>
            <a:ext cx="2179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TIOBE 인기 지수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(검색량 기반, 2026)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인기일까?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분석 · 인공지능(AI) · 자동화의 핵심 도구이기 때문. 브라우저용 PyScript(2022)도 등장!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Stack Overflow Developer Survey 2025, IEEE Spectrum Top Programming Languages 2025, TIOBE Index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파이썬 역사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1.1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프로그래밍 언어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컴퓨터에게 일을 시키기 위한 '외국어'. 파이썬은 영어 문장처럼 읽혀 배우기 쉽다.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탄생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1989년 귀도 반 로섬이 시작, 이름은 코미디 쇼 〈몬티 파이썬〉에서 유래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버전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2와 3은 호환되지 않음. 지금은 Python 3 (최신 3.14)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인기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· AI 분야 덕분에 각종 순위 1위권 — 개발자 57.9%가 사용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그럼 파이썬 코드는 어디에 쓰고 실행할까요? → 1.2 파이썬 에디터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에디터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코드는 어디에 쓰고, 어떻게 실행할까?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에디터란 무엇이고 어떤 기능이 있나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대표 에디터 7가지 비교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우리 수업은 무엇을 쓰나 — Google Colab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에디터 = 코드를 쓰는 '워드 프로그램'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181448" cy="3017520"/>
          </a:xfrm>
          <a:prstGeom prst="roundRect">
            <a:avLst>
              <a:gd name="adj" fmla="val 3636"/>
            </a:avLst>
          </a:prstGeom>
          <a:solidFill>
            <a:srgbClr val="0D1B3D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9773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783080"/>
            <a:ext cx="371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글을 쓸 때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148840"/>
            <a:ext cx="371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한글 · MS 워드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05840" y="2880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834640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문서 작성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05840" y="342900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383280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맞춤법 검사 (빨간 밑줄)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05840" y="397764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584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931920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인쇄해서 결과 확인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24448" y="1554480"/>
            <a:ext cx="5181448" cy="3017520"/>
          </a:xfrm>
          <a:prstGeom prst="roundRect">
            <a:avLst>
              <a:gd name="adj" fmla="val 3636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98768" y="1783080"/>
            <a:ext cx="777240" cy="777240"/>
          </a:xfrm>
          <a:prstGeom prst="ellipse">
            <a:avLst/>
          </a:prstGeom>
          <a:solidFill>
            <a:srgbClr val="FACC15">
              <a:alpha val="40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078" y="1977390"/>
            <a:ext cx="388620" cy="3886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604608" y="1783080"/>
            <a:ext cx="371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코드를 쓸 때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604608" y="2148840"/>
            <a:ext cx="371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에디터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644488" y="2880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44488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101688" y="2834640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작성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644488" y="342900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44488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101688" y="3383280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문법 오류 표시 (빨간 밑줄)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644488" y="397764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644488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7101688" y="3931920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실행해서 결과 확인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5867248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=</a:t>
            </a:r>
            <a:endParaRPr lang="en-US" sz="3000" dirty="0"/>
          </a:p>
        </p:txBody>
      </p:sp>
      <p:sp>
        <p:nvSpPr>
          <p:cNvPr id="34" name="Shape 30"/>
          <p:cNvSpPr/>
          <p:nvPr/>
        </p:nvSpPr>
        <p:spPr>
          <a:xfrm>
            <a:off x="685800" y="4754880"/>
            <a:ext cx="1082009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60120" y="475488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정의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에디터(editor)는 파이썬 코드를 작성하고 실행할 수 있는 소프트웨어 도구입니다. 파이썬으로 프로그램을 만들려면 에디터가 필요합니다.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좋은 소식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 Colab을 쓰면 아무것도 설치하지 않고 인터넷 브라우저에서 바로 코드를 쓸 수 있습니다.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에디터가 해 주는 7가지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2164" y="1737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82164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685800" cy="6858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9088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" y="251460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작성 · 문법 강조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단어 종류별로 색을 칠해 읽기 쉽게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59404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55768" y="1737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55768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88004" y="1737360"/>
            <a:ext cx="685800" cy="6858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454" y="190881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88004" y="251460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자동 완성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88004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앞 글자만 쓰면 나머지를 추천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33008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371" y="1737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229371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61608" y="1737360"/>
            <a:ext cx="685800" cy="6858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058" y="190881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61608" y="251460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디버깅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461608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줄씩 실행하며 오류 찾기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006611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1002975" y="1737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1002975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235211" y="1737360"/>
            <a:ext cx="685800" cy="6858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661" y="1908810"/>
            <a:ext cx="342900" cy="3429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235211" y="251460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즉시 실행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235211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버튼 하나로 실행, 결과 바로 확인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685800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682164" y="393192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268216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14400" y="3931920"/>
            <a:ext cx="685800" cy="6858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4103370"/>
            <a:ext cx="342900" cy="3429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14400" y="470916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포맷팅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914400" y="507492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들여쓰기 · 띄어쓰기 자동 정리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3459404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455768" y="393192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5455768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3688004" y="3931920"/>
            <a:ext cx="685800" cy="6858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454" y="4103370"/>
            <a:ext cx="342900" cy="34290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3688004" y="470916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버전 관리 (Git)</a:t>
            </a:r>
            <a:endParaRPr lang="en-US" sz="1600" dirty="0"/>
          </a:p>
        </p:txBody>
      </p:sp>
      <p:sp>
        <p:nvSpPr>
          <p:cNvPr id="46" name="Text 38"/>
          <p:cNvSpPr txBox="1"/>
          <p:nvPr/>
        </p:nvSpPr>
        <p:spPr>
          <a:xfrm>
            <a:off x="3688004" y="507492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변경 기록 저장, 협업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6233008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8229371" y="393192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8229371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6461608" y="3931920"/>
            <a:ext cx="685800" cy="6858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3058" y="4103370"/>
            <a:ext cx="342900" cy="34290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461608" y="470916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플러그인 · 확장</a:t>
            </a:r>
            <a:endParaRPr lang="en-US" sz="1600" dirty="0"/>
          </a:p>
        </p:txBody>
      </p:sp>
      <p:sp>
        <p:nvSpPr>
          <p:cNvPr id="53" name="Text 44"/>
          <p:cNvSpPr txBox="1"/>
          <p:nvPr/>
        </p:nvSpPr>
        <p:spPr>
          <a:xfrm>
            <a:off x="6461608" y="507492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기능을 앱처럼 추가</a:t>
            </a:r>
            <a:endParaRPr lang="en-US" sz="1400" dirty="0"/>
          </a:p>
        </p:txBody>
      </p:sp>
      <p:sp>
        <p:nvSpPr>
          <p:cNvPr id="54" name="Shape 45"/>
          <p:cNvSpPr/>
          <p:nvPr/>
        </p:nvSpPr>
        <p:spPr>
          <a:xfrm>
            <a:off x="9006611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9235211" y="3840480"/>
            <a:ext cx="20420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처음엔 이것만!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작성  ④ 실행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두 가지만 알면 충분합니다. 나머지는 쓰다 보면 자연스럽게 익혀요.</a:t>
            </a:r>
            <a:endParaRPr lang="en-US" sz="1500" dirty="0"/>
          </a:p>
        </p:txBody>
      </p:sp>
      <p:sp>
        <p:nvSpPr>
          <p:cNvPr id="56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57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눈으로 보는 '문법 강조'와 '자동 완성'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3B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메모장에서 쓴 코드 (색 없음)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181448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판매 데이터 읽기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pd.read_csv("sales.csv")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46304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에디터에서 쓴 코드 (문법 강조)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181448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670849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690966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93128" y="1929384"/>
            <a:ext cx="408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24448" y="2240280"/>
            <a:ext cx="518144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417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18808" y="2404872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3417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18808" y="2679192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판매 데이터 읽기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3417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18808" y="2953512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pd.read_csv(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"sales.csv"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24448" y="3474720"/>
            <a:ext cx="182880" cy="1828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98768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명령어 (import, as)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3248" y="3474720"/>
            <a:ext cx="182880" cy="182880"/>
          </a:xfrm>
          <a:prstGeom prst="rect">
            <a:avLst/>
          </a:prstGeom>
          <a:solidFill>
            <a:srgbClr val="7C89B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27568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주석 = 메모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982048" y="3474720"/>
            <a:ext cx="182880" cy="18288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56368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"문자열"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74904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자동 완성 : 'pd.re' 까지만 치면…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4160520"/>
            <a:ext cx="5181448" cy="457200"/>
          </a:xfrm>
          <a:prstGeom prst="roundRect">
            <a:avLst>
              <a:gd name="adj" fmla="val 1200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1605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</a:t>
            </a:r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148840" y="4617720"/>
            <a:ext cx="2377440" cy="960120"/>
          </a:xfrm>
          <a:prstGeom prst="rect">
            <a:avLst/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4617720"/>
            <a:ext cx="23774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28600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4937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read_excel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5257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read_json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4663440"/>
            <a:ext cx="120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← 후보 목록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Tab 키로 선택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24448" y="3749040"/>
            <a:ext cx="5181448" cy="1828800"/>
          </a:xfrm>
          <a:prstGeom prst="roundRect">
            <a:avLst>
              <a:gd name="adj" fmla="val 6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3048" y="3749040"/>
            <a:ext cx="4724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중요할까?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색깔 덕분에 오타를 바로 알아챌 수 있고(따옴표를 안 닫으면 노란색이 끝까지 번짐), 긴 함수 이름을 외우지 않아도 됩니다.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초보자 포인트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색이 이상하게 변했다면? 따옴표나 괄호를 안 닫은 경우가 대부분입니다.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대표 파이썬 에디터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50644" y="1783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50644" y="1783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데이터 분석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Notebook · 셀 단위 실행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59404" y="15087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1737360"/>
            <a:ext cx="594360" cy="5943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24248" y="1783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724248" y="1783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우리 수업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688004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88004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웹에서 쓰는 Jupyter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33008" y="15087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737360"/>
            <a:ext cx="594360" cy="5943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97851" y="1783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7851" y="1783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개발자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461608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PyCharm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461608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JetBrains의 전문가용 IDE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06611" y="15087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211" y="1737360"/>
            <a:ext cx="594360" cy="5943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271455" y="1783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0271455" y="1783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개발자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235211" y="246888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VS Code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235211" y="288036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마이크로소프트 · 가볍고 확장 多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85800" y="374904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77640"/>
            <a:ext cx="594360" cy="59436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950644" y="40233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1950644" y="40233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입문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14400" y="470916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IDLE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" y="512064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설치 시 기본 제공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3459404" y="374904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8004" y="3977640"/>
            <a:ext cx="594360" cy="59436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724248" y="40233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724248" y="40233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데이터 분석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3688004" y="470916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Spyder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3688004" y="512064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과학 계산 · 데이터 분석용 IDE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6233008" y="374904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3977640"/>
            <a:ext cx="594360" cy="59436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7497851" y="40233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7497851" y="40233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데이터 분석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461608" y="470916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6461608" y="5120640"/>
            <a:ext cx="2133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에디터+라이브러리 종합 세트</a:t>
            </a:r>
            <a:endParaRPr lang="en-US" sz="1400" dirty="0"/>
          </a:p>
        </p:txBody>
      </p:sp>
      <p:sp>
        <p:nvSpPr>
          <p:cNvPr id="47" name="Shape 38"/>
          <p:cNvSpPr/>
          <p:nvPr/>
        </p:nvSpPr>
        <p:spPr>
          <a:xfrm>
            <a:off x="9006611" y="374904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9235211" y="3886200"/>
            <a:ext cx="20420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IDE 란?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통합 개발 환경. 작성 · 실행 · 디버깅을 한 프로그램에서 모두 하는 '종합 작업실'</a:t>
            </a:r>
            <a:endParaRPr lang="en-US" sz="1400" dirty="0"/>
          </a:p>
        </p:txBody>
      </p:sp>
      <p:sp>
        <p:nvSpPr>
          <p:cNvPr id="49" name="Shape 4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 Colab (= 웹에서 쓰는 Jupyter Notebook)을 사용합니다. 구글 계정만 있으면 OK!</a:t>
            </a:r>
            <a:endParaRPr lang="en-US" sz="1600" dirty="0"/>
          </a:p>
        </p:txBody>
      </p:sp>
      <p:sp>
        <p:nvSpPr>
          <p:cNvPr id="51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각 에디터 공식 사이트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Jupyter Notebook — '셀' 단위로 실행하는 공책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766560" cy="4069080"/>
          </a:xfrm>
          <a:prstGeom prst="roundRect">
            <a:avLst>
              <a:gd name="adj" fmla="val 2697"/>
            </a:avLst>
          </a:prstGeom>
          <a:solidFill>
            <a:srgbClr val="0B1330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76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00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Chap01_파이썬준비_실습.ipynb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2011680"/>
            <a:ext cx="6766560" cy="9144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508760" y="2194560"/>
            <a:ext cx="5760720" cy="685800"/>
          </a:xfrm>
          <a:prstGeom prst="rect">
            <a:avLst/>
          </a:prstGeom>
          <a:solidFill>
            <a:srgbClr val="10193A"/>
          </a:solidFill>
          <a:ln w="6350">
            <a:solidFill>
              <a:srgbClr val="8A93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45920" y="21945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## 첫 번째 실습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달력을 출력해 봅시다.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508760" y="3063240"/>
            <a:ext cx="5760720" cy="777240"/>
          </a:xfrm>
          <a:prstGeom prst="rect">
            <a:avLst/>
          </a:prstGeom>
          <a:solidFill>
            <a:srgbClr val="070D20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45920" y="3063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calendar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(calendar.month(2026, 1))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05840" y="3429000"/>
            <a:ext cx="320040" cy="3200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3511296"/>
            <a:ext cx="137160" cy="1554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45920" y="39776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January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Tu We Th Fr Sa Su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1  2  3  4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6  7  8  9 10 11 …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772400" y="1508760"/>
            <a:ext cx="373349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95528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95528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412480" y="1636776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텍스트 셀 (Markdown)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412480" y="1984248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설명 · 메모를 적는 칸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772400" y="2560320"/>
            <a:ext cx="373349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955280" y="272491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95528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412480" y="2688336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셀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412480" y="3035808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코드를 적는 칸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772400" y="3611880"/>
            <a:ext cx="373349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955280" y="37764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955280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8412480" y="3739896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실행 ▶ (Shift + Enter)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8412480" y="4087368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하나만 실행 — 조금씩 확인 가능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7772400" y="4663440"/>
            <a:ext cx="373349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955280" y="48280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95528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8412480" y="4791456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8412480" y="5138928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바로 아래에 결과가 나타남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6995160" y="237744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99516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995160" y="329184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9951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6995160" y="411480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699516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장점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· 설명 · 그래프를 한 문서에 담을 수 있어, 분석 과정을 기록하는 '실험 노트'로 딱 좋습니다.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Project Jupyter (jupyter.org)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PyCharm  vs  ③ Visual Studio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27168" cy="4069080"/>
          </a:xfrm>
          <a:prstGeom prst="roundRect">
            <a:avLst>
              <a:gd name="adj" fmla="val 269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719072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PyCharm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13055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JetBrains가 만든 파이썬 전용 IDE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529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74320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문법 오류를 실시간으로 찾아 알려 줌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832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273552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고급 디버깅 : 한 단계씩 실행하며 분석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1363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3803904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Git · 데이터베이스 · 웹 프레임워크 통합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960120" y="4983480"/>
            <a:ext cx="4678528" cy="411480"/>
          </a:xfrm>
          <a:prstGeom prst="roundRect">
            <a:avLst>
              <a:gd name="adj" fmla="val 22222"/>
            </a:avLst>
          </a:prstGeom>
          <a:solidFill>
            <a:srgbClr val="21D789">
              <a:alpha val="15000"/>
            </a:srgbClr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1097280" y="498348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이런 사람에게 : 본격적인 파이썬 개발자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278728" y="1508760"/>
            <a:ext cx="5227168" cy="4069080"/>
          </a:xfrm>
          <a:prstGeom prst="roundRect">
            <a:avLst>
              <a:gd name="adj" fmla="val 269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1737360"/>
            <a:ext cx="731520" cy="7315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67448" y="1719072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VS Code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7467448" y="213055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마이크로소프트의 가벼운 만능 에디터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2852928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64528" y="274320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외 여러 언어 지원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338328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64528" y="3273552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수천 개 확장 기능으로 내 맘대로 구성</a:t>
            </a:r>
            <a:endParaRPr lang="en-US" sz="15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391363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64528" y="3803904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 안에서 터미널 · Git · 디버깅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6553048" y="4983480"/>
            <a:ext cx="4678528" cy="411480"/>
          </a:xfrm>
          <a:prstGeom prst="roundRect">
            <a:avLst>
              <a:gd name="adj" fmla="val 22222"/>
            </a:avLst>
          </a:prstGeom>
          <a:solidFill>
            <a:srgbClr val="3B9CE8">
              <a:alpha val="15000"/>
            </a:srgbClr>
          </a:solidFill>
          <a:ln/>
        </p:spPr>
      </p:sp>
      <p:sp>
        <p:nvSpPr>
          <p:cNvPr id="28" name="Text 18"/>
          <p:cNvSpPr txBox="1"/>
          <p:nvPr/>
        </p:nvSpPr>
        <p:spPr>
          <a:xfrm>
            <a:off x="6690208" y="498348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이런 사람에게 : 여러 언어를 함께 쓰는 사람</a:t>
            </a:r>
            <a:endParaRPr lang="en-US" sz="1400" dirty="0"/>
          </a:p>
        </p:txBody>
      </p:sp>
      <p:sp>
        <p:nvSpPr>
          <p:cNvPr id="29" name="Text 1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jetbrains.com/pycharm, code.visualstudio.com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다 무료 버전이 있지만 컴퓨터에 설치가 필요합니다. 이번 학기에는 몰라도 괜찮아요.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④ IDLE  vs  ⑤ Spyder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27168" cy="4069080"/>
          </a:xfrm>
          <a:prstGeom prst="roundRect">
            <a:avLst>
              <a:gd name="adj" fmla="val 269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719072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IDLE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13055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파이썬을 설치하면 함께 깔리는 기본 에디터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529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74320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단순한 화면 — 초보자에게 적합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832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273552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작성한 코드를 바로 실행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1363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3803904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간단한 디버깅 (단계별 실행)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960120" y="4983480"/>
            <a:ext cx="4678528" cy="411480"/>
          </a:xfrm>
          <a:prstGeom prst="roundRect">
            <a:avLst>
              <a:gd name="adj" fmla="val 22222"/>
            </a:avLst>
          </a:prstGeom>
          <a:solidFill>
            <a:srgbClr val="FACC15">
              <a:alpha val="15000"/>
            </a:srgbClr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1097280" y="498348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이런 사람에게 : 파이썬을 막 설치해 본 입문자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278728" y="1508760"/>
            <a:ext cx="5227168" cy="4069080"/>
          </a:xfrm>
          <a:prstGeom prst="roundRect">
            <a:avLst>
              <a:gd name="adj" fmla="val 269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1737360"/>
            <a:ext cx="731520" cy="7315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67448" y="1719072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Spyder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7467448" y="213055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과학자 · 엔지니어용 IDE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2852928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64528" y="274320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과학 계산 · 데이터 분석에 최적화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338328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64528" y="3273552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변수 값을 표로 보는 '변수 탐색기'</a:t>
            </a:r>
            <a:endParaRPr lang="en-US" sz="15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391363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64528" y="3803904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플러그인으로 기능 확장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6553048" y="4983480"/>
            <a:ext cx="4678528" cy="411480"/>
          </a:xfrm>
          <a:prstGeom prst="roundRect">
            <a:avLst>
              <a:gd name="adj" fmla="val 22222"/>
            </a:avLst>
          </a:prstGeom>
          <a:solidFill>
            <a:srgbClr val="EE2B2B">
              <a:alpha val="15000"/>
            </a:srgbClr>
          </a:solidFill>
          <a:ln/>
        </p:spPr>
      </p:sp>
      <p:sp>
        <p:nvSpPr>
          <p:cNvPr id="28" name="Text 18"/>
          <p:cNvSpPr txBox="1"/>
          <p:nvPr/>
        </p:nvSpPr>
        <p:spPr>
          <a:xfrm>
            <a:off x="6690208" y="498348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이런 사람에게 : MATLAB · R 같은 분석 화면이 익숙한 사람</a:t>
            </a:r>
            <a:endParaRPr lang="en-US" sz="1400" dirty="0"/>
          </a:p>
        </p:txBody>
      </p:sp>
      <p:sp>
        <p:nvSpPr>
          <p:cNvPr id="29" name="Text 1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docs.python.org/3/library/idle.html, spyder-ide.org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Spyder는 아래에서 볼 Anaconda를 설치하면 함께 들어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⑥ Anaconda — 데이터 분석 '종합 선물 세트'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400800" cy="4023360"/>
          </a:xfrm>
          <a:prstGeom prst="roundRect">
            <a:avLst>
              <a:gd name="adj" fmla="val 2727"/>
            </a:avLst>
          </a:prstGeom>
          <a:solidFill>
            <a:srgbClr val="0D1B3D"/>
          </a:solidFill>
          <a:ln w="19050">
            <a:solidFill>
              <a:srgbClr val="44A8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37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하나만 설치하면 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2514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651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31546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언어 본체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71800" y="2514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51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71800" y="31546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97180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패키지 관리자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83480" y="2514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6517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983480" y="31546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Navigator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98348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클릭으로 실행하는 메뉴판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0120" y="397764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41148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0120" y="4617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960120" y="4910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에디터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971800" y="397764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11480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971800" y="4617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Spyder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2971800" y="4910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분석용 IDE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983480" y="397764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411480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983480" y="4617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RStudio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4983480" y="4910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 언어 에디터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7406640" y="1554480"/>
            <a:ext cx="409925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635240" y="169164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쓰나?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7635240" y="2057400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분석 · 머신러닝에 필요한 도구와 패키지를 한 번에 설치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7406640" y="2926080"/>
            <a:ext cx="409925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635240" y="306324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장점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7635240" y="3429000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패키지 관리와 환경 설정이 편리해 데이터 과학자들이 선호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7406640" y="4297680"/>
            <a:ext cx="409925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7635240" y="443484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7635240" y="4800600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공식 웹사이트(anaconda.com)에서 설치 파일 다운로드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스마트폰을 사면 카메라 · 메모 · 계산기 앱이 기본으로 깔려 있듯, Anaconda에는 분석 도구가 기본으로 들어 있어요.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Anaconda Documentation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Conda로 '가상 환경'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가상 환경 = 프로젝트별 '독립된 방'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14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3500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방 A : 수업용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743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3.12 + pandas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342900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703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5387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방 B : 회사 업무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3931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3.10 + 옛날 라이브러리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4709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방마다 설치한 것이 섞이지 않아 서로 충돌하지 않습니다.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5379415" cy="2249424"/>
          </a:xfrm>
          <a:prstGeom prst="roundRect">
            <a:avLst>
              <a:gd name="adj" fmla="val 406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4"/>
          <p:cNvSpPr/>
          <p:nvPr/>
        </p:nvSpPr>
        <p:spPr>
          <a:xfrm>
            <a:off x="651052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5"/>
          <p:cNvSpPr/>
          <p:nvPr/>
        </p:nvSpPr>
        <p:spPr>
          <a:xfrm>
            <a:off x="671169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995160" y="1563624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Prompt (터미널)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26480" y="1874520"/>
            <a:ext cx="537941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236208" y="20391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720840" y="2039112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'myenv'라는 이름의 방 만들기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236208" y="23500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720840" y="2350008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--name myenv python=3.12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236208" y="26609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720840" y="2660904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236208" y="2971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720840" y="2971800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그 방에 라이브러리 설치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236208" y="32826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6720840" y="3282696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numpy pandas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11066983" y="236829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11066983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11066983" y="330098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1066983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126480" y="3931920"/>
            <a:ext cx="5379415" cy="804672"/>
          </a:xfrm>
          <a:prstGeom prst="roundRect">
            <a:avLst>
              <a:gd name="adj" fmla="val 1363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309360" y="409651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3093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766560" y="3986784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create --name 이름 python=버전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6766560" y="4270248"/>
            <a:ext cx="45564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 가상 환경을 지정한 파이썬 버전으로 만든다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6126480" y="4809744"/>
            <a:ext cx="5379415" cy="804672"/>
          </a:xfrm>
          <a:prstGeom prst="roundRect">
            <a:avLst>
              <a:gd name="adj" fmla="val 1363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09360" y="497433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630936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6766560" y="4864608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install 패키지1 패키지2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6766560" y="5148072"/>
            <a:ext cx="45564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라이브러리를 한 번에 설치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사용자는?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Colab은 구글이 환경을 미리 준비해 두어 가상 환경을 만들 필요가 없습니다. 개념만 알아 두세요!</a:t>
            </a:r>
            <a:endParaRPr lang="en-US" sz="1600" dirty="0"/>
          </a:p>
        </p:txBody>
      </p:sp>
      <p:sp>
        <p:nvSpPr>
          <p:cNvPr id="48" name="Text 4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Conda User Guide (docs.conda.io)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나에게 맞는 에디터는? — 선택 가이드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400800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013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바로 시작하고 싶다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269480" y="1792224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9" name="Shape 6"/>
          <p:cNvSpPr/>
          <p:nvPr/>
        </p:nvSpPr>
        <p:spPr>
          <a:xfrm>
            <a:off x="8092440" y="1554480"/>
            <a:ext cx="3413455" cy="841248"/>
          </a:xfrm>
          <a:prstGeom prst="roundRect">
            <a:avLst>
              <a:gd name="adj" fmla="val 13043"/>
            </a:avLst>
          </a:prstGeom>
          <a:solidFill>
            <a:srgbClr val="10193A"/>
          </a:solidFill>
          <a:ln w="25400">
            <a:solidFill>
              <a:srgbClr val="FACC1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74650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961120" y="1554480"/>
            <a:ext cx="24076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85800" y="2578608"/>
            <a:ext cx="6400800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2549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578608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컴퓨터에서 데이터 분석을 하고 싶다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269480" y="2816352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6" name="Shape 11"/>
          <p:cNvSpPr/>
          <p:nvPr/>
        </p:nvSpPr>
        <p:spPr>
          <a:xfrm>
            <a:off x="8092440" y="2578608"/>
            <a:ext cx="3413455" cy="841248"/>
          </a:xfrm>
          <a:prstGeom prst="roundRect">
            <a:avLst>
              <a:gd name="adj" fmla="val 13043"/>
            </a:avLst>
          </a:prstGeom>
          <a:solidFill>
            <a:srgbClr val="10193A"/>
          </a:solidFill>
          <a:ln w="12700">
            <a:solidFill>
              <a:srgbClr val="44A8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77063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1120" y="2578608"/>
            <a:ext cx="24076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+ Jupyter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685800" y="3602736"/>
            <a:ext cx="6400800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962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3602736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여러 언어로 프로그램을 만들고 싶다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7269480" y="384048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16"/>
          <p:cNvSpPr/>
          <p:nvPr/>
        </p:nvSpPr>
        <p:spPr>
          <a:xfrm>
            <a:off x="8092440" y="3602736"/>
            <a:ext cx="3413455" cy="841248"/>
          </a:xfrm>
          <a:prstGeom prst="roundRect">
            <a:avLst>
              <a:gd name="adj" fmla="val 13043"/>
            </a:avLst>
          </a:prstGeom>
          <a:solidFill>
            <a:srgbClr val="10193A"/>
          </a:solidFill>
          <a:ln w="12700">
            <a:solidFill>
              <a:srgbClr val="3B9CE8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79476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61120" y="3602736"/>
            <a:ext cx="24076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VS Code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685800" y="4626864"/>
            <a:ext cx="6400800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73752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63040" y="4626864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전문 개발자가 되고 싶다</a:t>
            </a:r>
            <a:endParaRPr lang="en-US" sz="1700" dirty="0"/>
          </a:p>
        </p:txBody>
      </p:sp>
      <p:sp>
        <p:nvSpPr>
          <p:cNvPr id="29" name="Shape 20"/>
          <p:cNvSpPr/>
          <p:nvPr/>
        </p:nvSpPr>
        <p:spPr>
          <a:xfrm>
            <a:off x="7269480" y="4864608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30" name="Shape 21"/>
          <p:cNvSpPr/>
          <p:nvPr/>
        </p:nvSpPr>
        <p:spPr>
          <a:xfrm>
            <a:off x="8092440" y="4626864"/>
            <a:ext cx="3413455" cy="841248"/>
          </a:xfrm>
          <a:prstGeom prst="roundRect">
            <a:avLst>
              <a:gd name="adj" fmla="val 13043"/>
            </a:avLst>
          </a:prstGeom>
          <a:solidFill>
            <a:srgbClr val="10193A"/>
          </a:solidFill>
          <a:ln w="12700">
            <a:solidFill>
              <a:srgbClr val="21D789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4818888"/>
            <a:ext cx="457200" cy="4572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961120" y="4626864"/>
            <a:ext cx="24076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PyCharm</a:t>
            </a:r>
            <a:endParaRPr lang="en-US" sz="1800" dirty="0"/>
          </a:p>
        </p:txBody>
      </p:sp>
      <p:sp>
        <p:nvSpPr>
          <p:cNvPr id="33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에디터는 '연필 종류'일 뿐, 파이썬 문법은 어디서나 똑같습니다. 우리는 Colab으로 시작해요!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파이썬 에디터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1.2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에디터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코드를 쓰고 실행하는 프로그램 (= 코드용 워드 프로그램)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주요 기능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문법 강조 · 자동 완성 · 디버깅 · 즉시 실행 · 포맷팅 · Git · 확장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종류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Jupyter · Colab · PyCharm · VS Code · IDLE · Spyder · Anaconda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 Colab — 설치 없이 웹에서 쓰는 Jupyter Notebook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에디터를 열었다면, 남이 만든 기능을 빌려 쓰는 법을 배워 봅시다 → 1.3 라이브러리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라이브러리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남이 만든 기능을 빌려 쓰는 법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라이브러리 = 도서관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 라이브러리와 외부 라이브러리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import 와 pip 사용법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라이브러리 = 기능을 빌려 주는 '도서관'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178308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도서관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= 라이브러리 (library)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math …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90672" y="2788920"/>
            <a:ext cx="351434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2" name="Shape 9"/>
          <p:cNvSpPr/>
          <p:nvPr/>
        </p:nvSpPr>
        <p:spPr>
          <a:xfrm>
            <a:off x="3515258" y="16002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69638" y="178308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78" y="19888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1525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책 한 권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515258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= 모듈 · 기능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652418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read_csv, sqrt …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20130" y="2788920"/>
            <a:ext cx="351434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9" name="Shape 15"/>
          <p:cNvSpPr/>
          <p:nvPr/>
        </p:nvSpPr>
        <p:spPr>
          <a:xfrm>
            <a:off x="6344717" y="16002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99097" y="178308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837" y="19888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44717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빌리기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44717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= import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481877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749589" y="2788920"/>
            <a:ext cx="351434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6" name="Shape 21"/>
          <p:cNvSpPr/>
          <p:nvPr/>
        </p:nvSpPr>
        <p:spPr>
          <a:xfrm>
            <a:off x="9174175" y="16002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928555" y="178308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198882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174175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읽고 활용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9174175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= 코드에서 사용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9311335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pd.read_csv(…)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85800" y="452628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60120" y="452628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정의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라이브러리는 다른 프로그램에서 반복해서 쓸 수 있도록 미리 작성해 둔 코드 모음입니다. 파이썬에서는 '패키지(package)'라고도 부릅니다. 수학 계산 · 날짜 처리 · 데이터 분석 기능을 import 한 줄로 불러와 바로 씁니다.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모든 기능을 처음부터 만들 필요가 없다! — 이것이 파이썬이 강력한 이유입니다.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라이브러리가 없다면? vs 있다면?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직접 만들기 — 제곱근(√) 구하기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249424"/>
          </a:xfrm>
          <a:prstGeom prst="roundRect">
            <a:avLst>
              <a:gd name="adj" fmla="val 406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직접 계산 (뉴턴 방법)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= x / 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026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2666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range(20):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3375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37560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guess = (guess + x / guess) / 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6484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648456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(guess)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261104"/>
            <a:ext cx="522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계산 원리(수학)를 알아야 하고, 코드가 길고, 틀리기 쉽습니다.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라이브러리 쓰기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math 라이브러리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(math.sqrt(2))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78728" y="3374136"/>
            <a:ext cx="5227168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461608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61608" y="3758184"/>
            <a:ext cx="486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1.4142135623730951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78728" y="4288536"/>
            <a:ext cx="522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누군가 이미 정확하게 만들어 둔 기능을 '빌려서' 단 2줄!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포인트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왼쪽 코드는 이해하지 않아도 됩니다. '라이브러리 덕분에 짧아진다'는 느낌만 기억하세요.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표준 라이브러리 문서 (docs.python.org/3/library/math.html)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라이브러리는 크게 두 종류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4861408" cy="4069080"/>
          </a:xfrm>
          <a:prstGeom prst="roundRect">
            <a:avLst>
              <a:gd name="adj" fmla="val 2697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64208"/>
            <a:ext cx="376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표준 라이브러리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029968"/>
            <a:ext cx="376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설치 시 '기본 탑재'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05840" y="265176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265176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443429" y="265176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443429" y="265176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881018" y="265176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81018" y="265176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05840" y="329184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329184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443429" y="329184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443429" y="329184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881018" y="329184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881018" y="329184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069080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설치 없이 바로 import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45720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비유 : 스마트폰 기본 앱 (계산기, 시계, 달력)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547208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VS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6644488" y="1508760"/>
            <a:ext cx="4861408" cy="4069080"/>
          </a:xfrm>
          <a:prstGeom prst="roundRect">
            <a:avLst>
              <a:gd name="adj" fmla="val 2697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808" y="1691640"/>
            <a:ext cx="548640" cy="5486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604608" y="1664208"/>
            <a:ext cx="376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외부 라이브러리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604608" y="2029968"/>
            <a:ext cx="376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필요할 때 '추가 설치'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964528" y="265176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64528" y="265176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402117" y="265176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8402117" y="265176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9839706" y="265176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9839706" y="265176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964528" y="329184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964528" y="329184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8402117" y="329184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8402117" y="329184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9839706" y="3291840"/>
            <a:ext cx="1346149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9839706" y="3291840"/>
            <a:ext cx="1346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6918808" y="4069080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pip install 로 설치 후 import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6918808" y="45720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비유 : 앱스토어에서 내려받는 앱 (전 세계 개발자 · 기업이 만들어 공개)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기억하기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표준 = 기본 앱,  외부 = 앱스토어 앱.  둘 다 쓰기 전에는 import 가 필요합니다!</a:t>
            </a:r>
            <a:endParaRPr lang="en-US" sz="1600" dirty="0"/>
          </a:p>
        </p:txBody>
      </p:sp>
      <p:sp>
        <p:nvSpPr>
          <p:cNvPr id="44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표준 라이브러리 — 설치 없이 바로 쓰는 기본 도구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544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200개+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2402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핵심 모듈 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3938" y="1508760"/>
            <a:ext cx="3423818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15544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0번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22402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추가 설치 필요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82077" y="1508760"/>
            <a:ext cx="3423818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55448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C 언어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356397" y="22402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대부분의 내부 구현 (그래서 빠름)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2926080"/>
            <a:ext cx="10820095" cy="54864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72384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수학 계산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926080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math.sqrt(16) → 4.0</a:t>
            </a:r>
            <a:endParaRPr lang="en-US" sz="14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62102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2588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288036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무작위 숫자 (난수)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172200" y="3474720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random.randint(1, 6) → 주사위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85800" y="4023360"/>
            <a:ext cx="10820095" cy="54864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966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32588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28803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날짜 · 시간 처리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172200" y="4023360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datetime.date.today() → 오늘 날짜</a:t>
            </a:r>
            <a:endParaRPr lang="en-US" sz="14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1830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25880" y="4572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288036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운영체제 (폴더 · 파일)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172200" y="4572000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os.listdir() → 폴더 안 파일 목록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85800" y="5120640"/>
            <a:ext cx="10820095" cy="54864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6694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32588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288036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JSON 데이터 처리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6172200" y="5120640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json.loads(…) → 웹 데이터 읽기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The Python Standard Library (docs.python.org)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① calendar 로 달력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852160" cy="1426464"/>
          </a:xfrm>
          <a:prstGeom prst="roundRect">
            <a:avLst>
              <a:gd name="adj" fmla="val 641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8521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calendar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04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048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(calendar.calendar(2026))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9048" y="20848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9048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9048" y="245059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99048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163824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3284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import calendar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'달력' 라이브러리를 빌려 온다 (표준이라 설치 X)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215384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print( calendar.calendar(2026) 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690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2026년 달력을 만들어서(calendar) 화면에 출력(print)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1508760"/>
            <a:ext cx="4647895" cy="3063240"/>
          </a:xfrm>
          <a:prstGeom prst="roundRect">
            <a:avLst>
              <a:gd name="adj" fmla="val 238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704088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1892808"/>
            <a:ext cx="4282135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2026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January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Tu We Th Fr Sa Su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1  2  3  4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5  6  7  8  9 10 11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12 13 14 15 16 17 18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19 20 21 22 23 24 25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26 27 28 29 30 31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… (12월까지 계속)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4709160"/>
            <a:ext cx="464789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86600" y="4709160"/>
            <a:ext cx="4190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명령 프롬프트(cmd)에서는  </a:t>
            </a:r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calendar 2024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로도 실행 가능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직접 해 보기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2026 을 내가 태어난 해로 바꿔 실행해 보세요. 표준 라이브러리 전체 목록 : docs.python.org/3/library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docs.python.org/3/library/calendar.html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import 문 읽는 법 — 앞으로 계속 나올 3가지 모양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37360"/>
            <a:ext cx="365760" cy="3657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63040" y="1709928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070D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00200" y="170992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calendar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1709928"/>
            <a:ext cx="35963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라이브러리 통째로 빌리기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12848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calendar.month(…)  처럼 '라이브러리이름.기능' 으로 사용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2926080"/>
            <a:ext cx="1082009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63040" y="3081528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070D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00200" y="308152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081528"/>
            <a:ext cx="35963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빌리고 별명(as) 붙이기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584448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이름이 길어서 pd 로 줄여 부름 → pd.read_csv(…)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4297680"/>
            <a:ext cx="1082009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48056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63040" y="4453128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070D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00200" y="445312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sklearn.linear_model </a:t>
            </a:r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LinearRegression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453128"/>
            <a:ext cx="35963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필요한 기능만 쏙 빌리기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956048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책장(sklearn)의 칸(linear_model)에서 책 1권만 → LinearRegression()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관례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→ pd,  numpy → np,  matplotlib.pyplot → plt  는 전 세계 공통 별명이에요.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Modules (docs.python.org/3/tutorial/modules.html)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외부 라이브러리 설치하기 — pip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373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PyPI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라이브러리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'앱스토어' (인터넷)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11880" y="2377440"/>
            <a:ext cx="929488" cy="41148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0" name="Shape 7"/>
          <p:cNvSpPr/>
          <p:nvPr/>
        </p:nvSpPr>
        <p:spPr>
          <a:xfrm>
            <a:off x="4724248" y="155448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17373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24248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install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724248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내려받아 설치하는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명령어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650328" y="2377440"/>
            <a:ext cx="929488" cy="41148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5" name="Shape 11"/>
          <p:cNvSpPr/>
          <p:nvPr/>
        </p:nvSpPr>
        <p:spPr>
          <a:xfrm>
            <a:off x="8762695" y="155448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17373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62695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환경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762695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이제 import 해서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사용 가능!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379476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컴퓨터 (명령 프롬프트 · 터미널)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85800" y="420624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334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17"/>
          <p:cNvSpPr/>
          <p:nvPr/>
        </p:nvSpPr>
        <p:spPr>
          <a:xfrm>
            <a:off x="1069848" y="4334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18"/>
          <p:cNvSpPr/>
          <p:nvPr/>
        </p:nvSpPr>
        <p:spPr>
          <a:xfrm>
            <a:off x="1271016" y="4334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554480" y="426110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터미널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5800" y="457200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68680" y="473659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278728" y="379476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 (코드 셀)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278728" y="420624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61608" y="4334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5"/>
          <p:cNvSpPr/>
          <p:nvPr/>
        </p:nvSpPr>
        <p:spPr>
          <a:xfrm>
            <a:off x="6662776" y="4334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6"/>
          <p:cNvSpPr/>
          <p:nvPr/>
        </p:nvSpPr>
        <p:spPr>
          <a:xfrm>
            <a:off x="6863944" y="4334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147408" y="426110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278728" y="457200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6461608" y="473659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pandas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6278728" y="5321808"/>
            <a:ext cx="522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앞에 ! 를 붙인다 = '파이썬 코드가 아니라 터미널 명령이야'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알아 두기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Colab에는 pandas · numpy · matplotlib 등이 이미 설치되어 있어, 대부분 바로 import 하면 됩니다.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pip documentation (pip.pypa.io), PyPI (pypi.org)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꼭 알아야 할 외부 라이브러리 5가지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944563" cy="397764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322" y="17830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9748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pandas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분석 · 처리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파이썬 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'엑셀 시트'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18002" y="46634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8002" y="4663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08장에서 배움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04683" y="1554480"/>
            <a:ext cx="1944563" cy="397764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05" y="178308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04683" y="269748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NumPy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996123" y="31546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수치 계산 · 배열 연산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041843" y="365760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초고속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'공학용 계산기'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236885" y="46634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236885" y="4663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07장에서 배움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123566" y="1554480"/>
            <a:ext cx="1944563" cy="397764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178308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23566" y="269748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215006" y="31546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시각화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260726" y="365760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그래프 그리는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'도화지'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5455768" y="46634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455768" y="4663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09장에서 배움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342449" y="1554480"/>
            <a:ext cx="1944563" cy="397764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971" y="1783080"/>
            <a:ext cx="731520" cy="7315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42449" y="269748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33889" y="31546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머신러닝 알고리즘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479609" y="365760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데이터로 배우는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'예측 기계'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7674651" y="46634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674651" y="4663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12장에서 배움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561332" y="1554480"/>
            <a:ext cx="1944563" cy="397764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854" y="1783080"/>
            <a:ext cx="731520" cy="7315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561332" y="269748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TensorFlow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652772" y="31546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딥러닝 프레임워크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9698492" y="3657600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인공지능의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'두뇌 공장'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9893534" y="46634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893534" y="4663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심화 학습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공식 사이트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pandas.pydata.org · numpy.org · matplotlib.org · scikit-learn.org · tensorflow.org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각 라이브러리 공식 사이트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표준 vs 외부 라이브러리 — 한 장으로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12768"/>
                <a:gridCol w="4312768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구분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표준 라이브러리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외부 라이브러리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0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 여부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파이썬 설치 시 기본 제공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별도 설치 필요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사용 방법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바로 import 가능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pip 등으로 설치 후 import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특징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기본 기능 제공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특정 분야의 고급 기능 제공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만든 곳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파이썬 개발팀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 세계 개발자 · 기업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예시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math, datetime, os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pandas, numpy, matplotlib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정리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다양한 외부 라이브러리 덕분에 데이터 분석 · AI · 웹 개발에서 가장 널리 쓰이는 언어가 되었습니다.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파이썬 라이브러리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1.3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라이브러리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미리 만들어 둔 기능 모음 (= 도서관). '패키지'라고도 부름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표준 라이브러리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기본 탑재 — math, random, datetime, os, json, calendar …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외부 라이브러리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install 로 추가 설치 (Colab은 !pip) — pandas, numpy …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import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import 이름 / import 이름 as 별명 / from 이름 import 기능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 도구들로 엑셀이 어려운 일을 어떻게 해결할까요? → 1.4 파이썬이 필요한 이유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파이썬이 필요한 이유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엑셀도 좋지만, 엑셀만으로는 부족한 5가지 순간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빅데이터 · 웹 데이터 · 시각화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반복 업무 자동화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고급 분석과 머신러닝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엑셀도 좋지만, 이럴 때는 파이썬이 필요해요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1944563" cy="310896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00882" y="2240280"/>
            <a:ext cx="914400" cy="914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482" y="2468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337560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빅데이터 처리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수백만 줄 데이터도 몇 초 만에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04683" y="1600200"/>
            <a:ext cx="1944563" cy="310896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33283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419765" y="2240280"/>
            <a:ext cx="914400" cy="914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65" y="24688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96123" y="3337560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웹 데이터 연계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041843" y="3794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인터넷 데이터를 바로 불러오기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123566" y="1600200"/>
            <a:ext cx="1944563" cy="310896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52166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5638648" y="2240280"/>
            <a:ext cx="914400" cy="914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4688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15006" y="3337560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다양한 시각화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60726" y="3794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엑셀에 없는 그래프까지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342449" y="1600200"/>
            <a:ext cx="1944563" cy="310896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571049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857531" y="2240280"/>
            <a:ext cx="914400" cy="914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31" y="24688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33889" y="3337560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반복 업무 자동화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479609" y="3794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매일 하는 일을 버튼 한 번에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561332" y="1600200"/>
            <a:ext cx="1944563" cy="3108960"/>
          </a:xfrm>
          <a:prstGeom prst="roundRect">
            <a:avLst>
              <a:gd name="adj" fmla="val 56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789932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10076414" y="2240280"/>
            <a:ext cx="914400" cy="91440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014" y="246888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52772" y="3337560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고급 분석 · 모델링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698492" y="3794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예측 · 머신러닝 · AI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85800" y="489204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60120" y="48920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오해 금지!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엑셀이 나쁜 도구라는 뜻이 아닙니다. 작은 표 정리는 엑셀, 크고 반복적이고 복잡한 분석은 파이썬 — 역할이 다릅니다.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1 · 빅데이터 — 세계은행 데이터는 얼마나 클까?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481328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Kaggle 「World Development Indicators」 (세계은행)  ·  파일 : Indicators.csv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057400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1031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574.3MB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8803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크기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83938" y="2057400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8258" y="21031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34D399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150만+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658258" y="28803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행 수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82077" y="2057400"/>
            <a:ext cx="3423818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56397" y="21031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1,000+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56397" y="28803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연간 지표 종류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어떤 데이터가 들어 있나?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85800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41148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기대 수명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029968" y="411480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029968" y="41148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출생률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008376" y="411480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008376" y="41148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사망률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986784" y="411480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986784" y="41148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영아 사망률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513832" y="411480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13832" y="41148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이산화탄소 배출량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589520" y="411480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589520" y="41148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노령 인구 부양비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665208" y="411480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665208" y="41148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국제 이민자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85800" y="461772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85800" y="461772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무기 수출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029968" y="46177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029968" y="46177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유선 전화 가입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922776" y="4617720"/>
            <a:ext cx="475488" cy="384048"/>
          </a:xfrm>
          <a:prstGeom prst="roundRect">
            <a:avLst>
              <a:gd name="adj" fmla="val 50000"/>
            </a:avLst>
          </a:prstGeom>
          <a:solidFill>
            <a:srgbClr val="6366F1">
              <a:alpha val="3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922776" y="4617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…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한마디로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 세계 수백 개 국가의 경제 발전 지표를 수십 년치 모아 둔 '초대형 표'입니다.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Kaggle World Development Indicators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1 · 엑셀로 열면 vs 파이썬으로 열면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0D1B3D"/>
          </a:solidFill>
          <a:ln w="19050">
            <a:solidFill>
              <a:srgbClr val="FA6F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69164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 (Excel)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46888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여는 데 한참 · 열리지 않기도 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7180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수십만 줄 넘으면 멈춤 · 메모리 부족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47472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시트 최대 1,048,576행 — 넘으면 잘림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78728" y="150876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16916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84568" y="169164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(pandas)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598768" y="246888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574MB 파일도 코드 한 줄로 읽기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98768" y="297180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실제로 약 3초도 채 걸리지 않음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598768" y="347472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행 수 제한 없음 (컴퓨터 메모리만큼)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5800" y="4343400"/>
            <a:ext cx="6126480" cy="1600200"/>
          </a:xfrm>
          <a:prstGeom prst="roundRect">
            <a:avLst>
              <a:gd name="adj" fmla="val 57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8680" y="44714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Shape 15"/>
          <p:cNvSpPr/>
          <p:nvPr/>
        </p:nvSpPr>
        <p:spPr>
          <a:xfrm>
            <a:off x="1069848" y="44714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6"/>
          <p:cNvSpPr/>
          <p:nvPr/>
        </p:nvSpPr>
        <p:spPr>
          <a:xfrm>
            <a:off x="1271016" y="44714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554480" y="4398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85800" y="4709160"/>
            <a:ext cx="612648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95528" y="487375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280160" y="4873752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95528" y="517550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280160" y="5175504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 = pd.read_csv(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'/content/Indicators.csv'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95528" y="547725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280160" y="5477256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373368" y="488746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373368" y="4887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373368" y="518922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373368" y="51892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373368" y="549097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373368" y="54909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7040880" y="4434840"/>
            <a:ext cx="4465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pandas를 pd 라는 별명으로 빌려 오기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040880" y="4864608"/>
            <a:ext cx="4465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CSV 파일을 읽어 indicator 라는 이름에 담기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7040880" y="5294376"/>
            <a:ext cx="4465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이름만 쓰면 표가 화면에 보임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Microsoft 지원 'Excel 사양 및 제한'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실제 비즈니스 데이터는 이만큼 큽니다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예시 : 중국 최대 배달 플랫폼 메이퇀(美团)의 하루 주문 건수 (2025년 기준)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엑셀 한 시트 최대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29000" y="2450592"/>
            <a:ext cx="54864" cy="45720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21024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3B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약 105만 행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337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평소 하루 주문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29000" y="3410712"/>
            <a:ext cx="2206630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7279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약 6,000만 건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297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피크 · 프로모션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29000" y="4370832"/>
            <a:ext cx="5516575" cy="45720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82735" y="4297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최대 1억 5,000만 건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5800" y="507492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0749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생각해 보기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 시트 한 장에는 하루 주문의 2%도 못 담습니다. 이런 데이터를 다루려면 파이썬 같은 도구가 필요해요.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피크 시간 · 프로모션 기간에는 하루 1억 2,000만 ~ 1억 5,000만 건까지 폭증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(메이퇀 주문 수치), Microsoft Excel 사양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2 · 인터넷(Web)의 데이터와 바로 연결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013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공공데이터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56032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614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560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금융 데이터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85800" y="35204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2160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520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뉴스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85800" y="448056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81728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480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SNS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3429000" y="2926080"/>
            <a:ext cx="914400" cy="54864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329184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웹사이트 · API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26280" y="210312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10193A"/>
          </a:solidFill>
          <a:ln w="19050">
            <a:solidFill>
              <a:srgbClr val="FACC1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331720"/>
            <a:ext cx="731520" cy="7315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52628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자동으로 수집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7086600" y="2926080"/>
            <a:ext cx="822960" cy="54864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16"/>
          <p:cNvSpPr/>
          <p:nvPr/>
        </p:nvSpPr>
        <p:spPr>
          <a:xfrm>
            <a:off x="8092440" y="2103120"/>
            <a:ext cx="3413455" cy="2194560"/>
          </a:xfrm>
          <a:prstGeom prst="roundRect">
            <a:avLst>
              <a:gd name="adj" fmla="val 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433408" y="2331720"/>
            <a:ext cx="731520" cy="731520"/>
          </a:xfrm>
          <a:prstGeom prst="ellipse">
            <a:avLst/>
          </a:prstGeom>
          <a:solidFill>
            <a:srgbClr val="34D399">
              <a:alpha val="50000"/>
            </a:srgbClr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288" y="25146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092440" y="320040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분석 · 시각화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4526280" y="4526280"/>
            <a:ext cx="697961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4754880" y="452628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컴퓨터의 파일 중심 → 웹 데이터 자동 수집이 어려움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웹 스크래핑(Web Scraping) · API로 인터넷 데이터를 직접 가져옴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용어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API = 프로그램끼리 데이터를 주고받는 '창구'.  웹 스크래핑 = 웹페이지 내용을 자동으로 긁어 오기 (11장)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2 · 코드 해설 — 인터넷의 GDP 데이터 바로 읽기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949440" cy="2066544"/>
          </a:xfrm>
          <a:prstGeom prst="roundRect">
            <a:avLst>
              <a:gd name="adj" fmla="val 442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9494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1343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"https://raw.githubusercontent.com/datasets/gdp/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877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master/data/gdp.csv"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6207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pd.read_csv(url)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13639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data.head()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96328" y="203911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9632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96328" y="23134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9632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96328" y="286207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963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96328" y="313639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9632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666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 (앞 5줄)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59352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1463040"/>
                <a:gridCol w="914400"/>
                <a:gridCol w="20116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Country 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Country Code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Afghanistan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3.521418e+09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Afghanistan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2.813572e+09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Afghanistan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3.825701e+09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Afghanistan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4.520947e+09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9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Afghanistan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5.224897e+09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>
                    <a:lnL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7909560" y="1508760"/>
            <a:ext cx="359633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9244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09244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549640" y="1636776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라이브러리 빌리기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549640" y="1984248"/>
            <a:ext cx="2773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→ pd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909560" y="2514600"/>
            <a:ext cx="359633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92440" y="267919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092440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549640" y="2642616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주소 저장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8549640" y="2990088"/>
            <a:ext cx="2773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CSV 파일의 인터넷 주소를 url 에 담기 (실제로는 한 줄)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909560" y="3520440"/>
            <a:ext cx="359633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92440" y="36850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09244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549640" y="3648456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읽어 오기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8549640" y="3995928"/>
            <a:ext cx="2773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다운로드 없이 인터넷에서 바로 읽기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909560" y="4526280"/>
            <a:ext cx="359633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092440" y="46908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09244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8549640" y="4654296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앞부분 보기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8549640" y="5001768"/>
            <a:ext cx="2773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head() = 맨 앞 5줄만 미리 보기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Value 의 3.521418e+09 = 3.52 × 10⁹ ≈ 35억 달러 (2000년 아프가니스탄 GDP)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datasets/gdp (github.com/datasets/gdp, 세계은행 자료)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3 · 숫자보다 그림 — 다양한 시각화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2716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 차트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03120"/>
            <a:ext cx="467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막대 · 꺾은선 · 원형 등 기본 차트는 쉽게 만들 수 있지만, 종류와 표현 방식(지도, 대화형, 수백 개 자동 생성 등)에 한계가 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508760"/>
            <a:ext cx="5227168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6459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시각화 라이브러리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048" y="216712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964528" y="2103120"/>
            <a:ext cx="403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Matplotlib  </a:t>
            </a:r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기본 그래프의 표준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6426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64528" y="2578608"/>
            <a:ext cx="403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Seaborn  </a:t>
            </a:r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통계 그래프를 예쁘게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311810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64528" y="3054096"/>
            <a:ext cx="403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Plotly  </a:t>
            </a:r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마우스로 움직이는 대화형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85800" y="3794760"/>
            <a:ext cx="1574749" cy="1691640"/>
          </a:xfrm>
          <a:prstGeom prst="roundRect">
            <a:avLst>
              <a:gd name="adj" fmla="val 696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15" y="402336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" y="4892040"/>
            <a:ext cx="157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꺾은선 (추세)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2534869" y="3794760"/>
            <a:ext cx="1574749" cy="1691640"/>
          </a:xfrm>
          <a:prstGeom prst="roundRect">
            <a:avLst>
              <a:gd name="adj" fmla="val 696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6484" y="4023360"/>
            <a:ext cx="731520" cy="7315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534869" y="4892040"/>
            <a:ext cx="157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막대 (비교)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383938" y="3794760"/>
            <a:ext cx="1574749" cy="1691640"/>
          </a:xfrm>
          <a:prstGeom prst="roundRect">
            <a:avLst>
              <a:gd name="adj" fmla="val 696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553" y="4023360"/>
            <a:ext cx="731520" cy="7315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383938" y="4892040"/>
            <a:ext cx="157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 (비율)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233008" y="3794760"/>
            <a:ext cx="1574749" cy="1691640"/>
          </a:xfrm>
          <a:prstGeom prst="roundRect">
            <a:avLst>
              <a:gd name="adj" fmla="val 696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4622" y="4023360"/>
            <a:ext cx="731520" cy="7315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233008" y="4892040"/>
            <a:ext cx="157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산점도 (관계)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8082077" y="3794760"/>
            <a:ext cx="1574749" cy="1691640"/>
          </a:xfrm>
          <a:prstGeom prst="roundRect">
            <a:avLst>
              <a:gd name="adj" fmla="val 696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691" y="4023360"/>
            <a:ext cx="731520" cy="7315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082077" y="4892040"/>
            <a:ext cx="157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히트맵 (패턴)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9931146" y="3794760"/>
            <a:ext cx="1574749" cy="1691640"/>
          </a:xfrm>
          <a:prstGeom prst="roundRect">
            <a:avLst>
              <a:gd name="adj" fmla="val 696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2761" y="4023360"/>
            <a:ext cx="731520" cy="73152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931146" y="4892040"/>
            <a:ext cx="157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지도 (10장)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시각화?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표로는 안 보이던 패턴과 추세가 그래프 한 장으로 한눈에 보입니다.</a:t>
            </a:r>
            <a:endParaRPr lang="en-US" sz="1600" dirty="0"/>
          </a:p>
        </p:txBody>
      </p:sp>
      <p:sp>
        <p:nvSpPr>
          <p:cNvPr id="36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matplotlib.org, seaborn.pydata.org, plotly.com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3 · 코드 해설 — 꺾은선 그래프 그리기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675120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6751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134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8775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data.groupby(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'Year'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'Value'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].sum().plot()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6207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22008" y="203911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2200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22008" y="258775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2200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22008" y="286207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2200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438144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53415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3534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438144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도구 빌리기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matplotlib.pyplot → plt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4014216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11022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1102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014216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묶고 · 합치고 · 그리기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Year로 묶고 → Value 합계 → plot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5800" y="4590288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468630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4686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325880" y="4590288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화면에 보여 주기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plt.show()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35240" y="1508760"/>
            <a:ext cx="3870655" cy="4069080"/>
          </a:xfrm>
          <a:prstGeom prst="roundRect">
            <a:avLst>
              <a:gd name="adj" fmla="val 283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7726680" y="1874520"/>
          <a:ext cx="3687775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Shape 3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앞 슬라이드의 data 를 그대로 사용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그래프 모양 : 1960년 이후 세계 경제 규모가 꾸준히 커진 추세가 한눈에 보입니다.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datasets/gdp (세계은행) — 그래프는 해당 코드를 실제 실행한 결과 (5년 간격 표시)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3 · 코드 해설 — 막대그래프에 제목 · 축 이름 달기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675120" cy="2340864"/>
          </a:xfrm>
          <a:prstGeom prst="roundRect">
            <a:avLst>
              <a:gd name="adj" fmla="val 390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6751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134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data.groupby(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'Year'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'Value'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].sum().plot(kind=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8775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 GDP by Year'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6207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'Year'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1363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'GDP'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4107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22008" y="23134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2200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22008" y="258775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2200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22008" y="286207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2200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22008" y="313639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2200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3986784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408279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4082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325880" y="3986784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kind='bar'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그래프 종류를 막대로 (한 단어만 변경!)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" y="4562856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465886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8680" y="46588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4562856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plt.title( )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그래프 맨 위 제목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" y="5138928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523494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8680" y="5234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325880" y="5138928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plt.xlabel( ) / ylabel( )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가로축 · 세로축 이름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35240" y="1508760"/>
            <a:ext cx="3870655" cy="4069080"/>
          </a:xfrm>
          <a:prstGeom prst="roundRect">
            <a:avLst>
              <a:gd name="adj" fmla="val 283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7726680" y="1874520"/>
          <a:ext cx="3687775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Shape 4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포인트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kind 값만 'line', 'bar', 'pie' … 로 바꾸면 다른 그래프가 됩니다. 9장에서 자세히 배워요.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datasets/gdp (세계은행) — 그래프는 해당 코드를 실제 실행한 결과 (5년 간격 표시)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4 · 매일 · 매주 · 매달 반복되는 업무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예) 매일 판매 데이터 정리 · 매주 매출 보고서 · 매월 고객 분석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 방식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2700">
            <a:solidFill>
              <a:srgbClr val="FA6F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68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열기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2670048"/>
            <a:ext cx="228600" cy="274320"/>
          </a:xfrm>
          <a:prstGeom prst="rightArrow">
            <a:avLst/>
          </a:prstGeom>
          <a:solidFill>
            <a:srgbClr val="8A93B8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246888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2700">
            <a:solidFill>
              <a:srgbClr val="FA6F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2468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정리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2670048"/>
            <a:ext cx="228600" cy="274320"/>
          </a:xfrm>
          <a:prstGeom prst="rightArrow">
            <a:avLst/>
          </a:prstGeom>
          <a:solidFill>
            <a:srgbClr val="8A9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7800" y="246888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2700">
            <a:solidFill>
              <a:srgbClr val="FA6F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2468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수식 입력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69480" y="2670048"/>
            <a:ext cx="228600" cy="274320"/>
          </a:xfrm>
          <a:prstGeom prst="rightArrow">
            <a:avLst/>
          </a:prstGeom>
          <a:solidFill>
            <a:srgbClr val="8A9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543800" y="246888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2700">
            <a:solidFill>
              <a:srgbClr val="FA6F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2468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그래프 만들기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51460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378440" y="2423160"/>
            <a:ext cx="1127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× 매번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처음부터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방식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3931920"/>
            <a:ext cx="8823960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931920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번 코드로 작성 (위 4단계를 코드에 담기)</a:t>
            </a:r>
            <a:endParaRPr lang="en-US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3995928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378440" y="3886200"/>
            <a:ext cx="1127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▶ 실행만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반복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85800" y="4846320"/>
            <a:ext cx="1082009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60120" y="484632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데이터가 조금만 바뀌어도 엑셀은 전 과정을 다시 해야 하지만, 파이썬은 새 데이터로 같은 코드를 다시 실행하면 끝입니다.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업무 자동화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'한 번 만들고, 계속 쓴다' — 실무자들이 파이썬을 배우는 가장 큰 이유입니다.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4 · 코드 해설 — 여러 CSV 파일을 하나로 합치기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190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sales_2022.csv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228600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048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sales_2023.csv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" y="2971800"/>
            <a:ext cx="2651760" cy="54864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9067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sales_2024.csv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74720" y="2240280"/>
            <a:ext cx="731520" cy="45720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33832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343400" y="1600200"/>
            <a:ext cx="2194560" cy="1920240"/>
          </a:xfrm>
          <a:prstGeom prst="roundRect">
            <a:avLst>
              <a:gd name="adj" fmla="val 5714"/>
            </a:avLst>
          </a:prstGeom>
          <a:solidFill>
            <a:srgbClr val="10193A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8288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343400" y="2560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(합쳐진 표 1개)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85800" y="3749040"/>
            <a:ext cx="5852160" cy="2231136"/>
          </a:xfrm>
          <a:prstGeom prst="roundRect">
            <a:avLst>
              <a:gd name="adj" fmla="val 409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68680" y="38770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Shape 15"/>
          <p:cNvSpPr/>
          <p:nvPr/>
        </p:nvSpPr>
        <p:spPr>
          <a:xfrm>
            <a:off x="1069848" y="38770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16"/>
          <p:cNvSpPr/>
          <p:nvPr/>
        </p:nvSpPr>
        <p:spPr>
          <a:xfrm>
            <a:off x="1271016" y="38770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554480" y="3803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85800" y="4114800"/>
            <a:ext cx="58521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95528" y="4279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280160" y="42793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세 개의 CSV 파일을 하나의 데이터로 결합하기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95528" y="4535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280160" y="45354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95528" y="47914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280160" y="479145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glob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95528" y="50474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280160" y="50474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= glob.glob(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'/content/*.csv'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95528" y="5303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280160" y="53035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pd.concat([pd.read_csv(f)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files])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795528" y="5559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280160" y="55595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099048" y="478231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6099048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099048" y="503834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099048" y="5038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099048" y="529437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6099048" y="5294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812280" y="1600200"/>
            <a:ext cx="4693615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995160" y="176479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995160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7452360" y="1728216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import glob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7452360" y="2075688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이름 패턴으로 파일을 찾아 주는 표준 라이브러리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6812280" y="2788920"/>
            <a:ext cx="4693615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995160" y="295351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699516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5"/>
          <p:cNvSpPr txBox="1"/>
          <p:nvPr/>
        </p:nvSpPr>
        <p:spPr>
          <a:xfrm>
            <a:off x="7452360" y="2916936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glob.glob('/content/*.csv')</a:t>
            </a:r>
            <a:endParaRPr lang="en-US" sz="1600" dirty="0"/>
          </a:p>
        </p:txBody>
      </p:sp>
      <p:sp>
        <p:nvSpPr>
          <p:cNvPr id="52" name="Text 46"/>
          <p:cNvSpPr txBox="1"/>
          <p:nvPr/>
        </p:nvSpPr>
        <p:spPr>
          <a:xfrm>
            <a:off x="7452360" y="3264408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* = '아무 이름이나'. 폴더 안 모든 CSV 파일 목록 만들기</a:t>
            </a:r>
            <a:endParaRPr lang="en-US" sz="1400" dirty="0"/>
          </a:p>
        </p:txBody>
      </p:sp>
      <p:sp>
        <p:nvSpPr>
          <p:cNvPr id="53" name="Shape 47"/>
          <p:cNvSpPr/>
          <p:nvPr/>
        </p:nvSpPr>
        <p:spPr>
          <a:xfrm>
            <a:off x="6812280" y="3977640"/>
            <a:ext cx="4693615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995160" y="41422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699516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7452360" y="4105656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pd.concat([ … for f in files ])</a:t>
            </a:r>
            <a:endParaRPr lang="en-US" sz="1600" dirty="0"/>
          </a:p>
        </p:txBody>
      </p:sp>
      <p:sp>
        <p:nvSpPr>
          <p:cNvPr id="57" name="Text 51"/>
          <p:cNvSpPr txBox="1"/>
          <p:nvPr/>
        </p:nvSpPr>
        <p:spPr>
          <a:xfrm>
            <a:off x="7452360" y="4453128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목록의 파일을 하나씩 읽어(read_csv) 위아래로 이어 붙이기(concat)</a:t>
            </a:r>
            <a:endParaRPr lang="en-US" sz="1400" dirty="0"/>
          </a:p>
        </p:txBody>
      </p:sp>
      <p:sp>
        <p:nvSpPr>
          <p:cNvPr id="58" name="Shape 52"/>
          <p:cNvSpPr/>
          <p:nvPr/>
        </p:nvSpPr>
        <p:spPr>
          <a:xfrm>
            <a:off x="6812280" y="5257800"/>
            <a:ext cx="4693615" cy="502920"/>
          </a:xfrm>
          <a:prstGeom prst="roundRect">
            <a:avLst>
              <a:gd name="adj" fmla="val 218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7040880" y="5257800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엑셀이라면?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3개를 열어 복사 · 붙여넣기 반복</a:t>
            </a:r>
            <a:endParaRPr lang="en-US" sz="1400" dirty="0"/>
          </a:p>
        </p:txBody>
      </p:sp>
      <p:sp>
        <p:nvSpPr>
          <p:cNvPr id="60" name="Text 5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4 · 코드 해설 — 월별 매출 합계 (엑셀의 '통합' 기능)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766560" cy="2487168"/>
          </a:xfrm>
          <a:prstGeom prst="roundRect">
            <a:avLst>
              <a:gd name="adj" fmla="val 36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월별 통합된 합계 계산하기 (엑셀 통합 기능)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295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95144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511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51176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glob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072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0720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= glob.glob(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'/content/*.csv'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63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63240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pd.concat([pd.read_csv(f)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files],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3192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19272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ignore_index=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75304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'month'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].sum()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13448" y="331012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13448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13448" y="356616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13448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178808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34340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2336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ignore_index=True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45171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합칠 때 행 번호를 0번부터 새로 매기기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4910328"/>
            <a:ext cx="6766560" cy="658368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507492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8680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49651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groupby('month')['sales'].sum()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52486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month(월)별로 묶어서 → sales(매출)를 → 합계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26680" y="1508760"/>
            <a:ext cx="3779215" cy="4069080"/>
          </a:xfrm>
          <a:prstGeom prst="roundRect">
            <a:avLst>
              <a:gd name="adj" fmla="val 290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55280" y="164592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groupby 를 그림으로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955280" y="2148840"/>
            <a:ext cx="1463040" cy="347472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95528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1월   100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955280" y="2532888"/>
            <a:ext cx="1463040" cy="347472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955280" y="2532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2월   80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955280" y="2916936"/>
            <a:ext cx="1463040" cy="347472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955280" y="29169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1월   50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955280" y="3300984"/>
            <a:ext cx="1463040" cy="347472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955280" y="33009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2월   70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555480" y="2606040"/>
            <a:ext cx="54864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50" name="Shape 48"/>
          <p:cNvSpPr/>
          <p:nvPr/>
        </p:nvSpPr>
        <p:spPr>
          <a:xfrm>
            <a:off x="10241280" y="2377440"/>
            <a:ext cx="1036015" cy="384048"/>
          </a:xfrm>
          <a:prstGeom prst="rect">
            <a:avLst/>
          </a:prstGeom>
          <a:solidFill>
            <a:srgbClr val="6366F1">
              <a:alpha val="60000"/>
            </a:srgb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241280" y="2377440"/>
            <a:ext cx="1036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1월   150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241280" y="2834640"/>
            <a:ext cx="1036015" cy="384048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241280" y="2834640"/>
            <a:ext cx="1036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2월   150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7955280" y="3886200"/>
            <a:ext cx="3322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달끼리 모아서(group) 더한다(sum) = 엑셀의 '피벗 테이블 · 부분합'과 같은 일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7955280" y="507492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(숫자는 이해를 돕기 위한 예시)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반복 작업을 자동화해 업무 효율을 크게 높여 줍니다.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5 · 예측하고 판단하는 고급 분석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2499284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265176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고객 이탈 예측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632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어떤 고객이 떠날까?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59404" y="1554480"/>
            <a:ext cx="2499284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33724" y="178308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1965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33724" y="265176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매출 예측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733724" y="30632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다음 달 매출은?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33008" y="1554480"/>
            <a:ext cx="2499284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07328" y="178308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19659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07328" y="265176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추천 시스템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507328" y="30632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 고객이 좋아할 상품은?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06611" y="1554480"/>
            <a:ext cx="2499284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80931" y="178308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9659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0931" y="265176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신용 평가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280931" y="30632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대출을 갚을 수 있을까?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85800" y="3840480"/>
            <a:ext cx="10820095" cy="1691640"/>
          </a:xfrm>
          <a:prstGeom prst="roundRect">
            <a:avLst>
              <a:gd name="adj" fmla="val 6486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60120" y="3886200"/>
            <a:ext cx="84426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A6F6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엑셀만으로는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복잡한 통계 분석이나 머신러닝 모델을 적용하기 어렵습니다.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파이썬은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NumPy · Pandas · scikit-learn · TensorFlow · PyTorch 등으로 고급 분석과 머신러닝을 쉽게 구현합니다.</a:t>
            </a:r>
            <a:endParaRPr lang="en-US" sz="16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655" y="4434840"/>
            <a:ext cx="457200" cy="457200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015" y="4434840"/>
            <a:ext cx="457200" cy="457200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4375" y="4434840"/>
            <a:ext cx="457200" cy="4572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용어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머신러닝 = 컴퓨터가 데이터 속 규칙을 스스로 학습해 예측하는 기술 (12장)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예시 · 광고비를 늘리면 매출이 얼마나 오를까?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943600" cy="4023360"/>
          </a:xfrm>
          <a:prstGeom prst="roundRect">
            <a:avLst>
              <a:gd name="adj" fmla="val 272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4892040"/>
            <a:ext cx="4937760" cy="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783080"/>
            <a:ext cx="0" cy="3108960"/>
          </a:xfrm>
          <a:prstGeom prst="line">
            <a:avLst/>
          </a:prstGeom>
          <a:noFill/>
          <a:ln w="19050">
            <a:solidFill>
              <a:srgbClr val="8A93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광고비 (advertising) 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↑ 매출 (sales)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4292194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Shape 9"/>
          <p:cNvSpPr/>
          <p:nvPr/>
        </p:nvSpPr>
        <p:spPr>
          <a:xfrm>
            <a:off x="2033626" y="4175150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2868" y="3794760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60574" y="3941064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196742" y="3502152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584448" y="3414370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2154" y="3209544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359859" y="3004718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96028" y="2887675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2197" y="2536546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19902" y="2419502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1476756" y="2346350"/>
            <a:ext cx="4458614" cy="2194560"/>
          </a:xfrm>
          <a:prstGeom prst="line">
            <a:avLst/>
          </a:prstGeom>
          <a:noFill/>
          <a:ln w="38100">
            <a:solidFill>
              <a:srgbClr val="FACC1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23790" y="220004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회귀선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(모양 이해용 예시 그림)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155448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선형 회귀 (Linear Regression)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011680"/>
            <a:ext cx="4602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점들 사이를 가장 잘 지나는 직선을 찾아, 광고비로 매출을 예측합니다.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03720" y="2788920"/>
            <a:ext cx="4602175" cy="914400"/>
          </a:xfrm>
          <a:prstGeom prst="roundRect">
            <a:avLst>
              <a:gd name="adj" fmla="val 12000"/>
            </a:avLst>
          </a:prstGeom>
          <a:solidFill>
            <a:srgbClr val="070D20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2788920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</a:t>
            </a:r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advertising + </a:t>
            </a:r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886200"/>
            <a:ext cx="4602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  회귀계수 (기울기)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광고비 1 늘 때 매출이 늘어나는 양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  절편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광고비가 0일 때 기본 매출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파일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광고비와 매출액 데이터 : data.csv  (열 이름 advertising, sales)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이유 5 · 코드 해설 — 12줄로 만드는 머신러닝 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63040"/>
            <a:ext cx="6766560" cy="4096512"/>
          </a:xfrm>
          <a:prstGeom prst="roundRect">
            <a:avLst>
              <a:gd name="adj" fmla="val 223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910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5910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5910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179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1993392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993392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276856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76856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sklearn.linear_model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LinearRegression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60320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60320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pd.read_csv(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'/content/data.csv'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43784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43784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data[[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'advertising'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127248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127248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data[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10712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410712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694176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694176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977640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977640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model.coef_[0]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261104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261104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model.intercept_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4544568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544568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"회귀계수:"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" y="4828032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4828032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"절편:"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5111496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5111496"/>
            <a:ext cx="5532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f"회귀식: sales = {a:.2f} × advertising + {b:.2f}"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13448" y="199796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13448" y="19979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13448" y="256489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013448" y="2564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13448" y="284835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013448" y="28483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13448" y="341528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013448" y="34152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13448" y="369874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013448" y="36987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013448" y="398221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013448" y="39822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13448" y="454914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013448" y="4549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726680" y="1463040"/>
            <a:ext cx="377921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16276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90956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366760" y="1517904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도구 준비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8366760" y="18013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+ 회귀 모델 빌리기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726680" y="2148840"/>
            <a:ext cx="377921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09560" y="23134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90956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366760" y="2203704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읽기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8366760" y="24871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data.csv 불러오기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726680" y="2834640"/>
            <a:ext cx="377921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09560" y="29992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9095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8366760" y="2889504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x(원인) · y(결과) 정하기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8366760" y="31729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광고비 → 매출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726680" y="3520440"/>
            <a:ext cx="377921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09560" y="36850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790956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8366760" y="3575304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만들고 학습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8366760" y="38587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fit = 데이터로 공부시키기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7726680" y="4206240"/>
            <a:ext cx="377921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09560" y="43708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90956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8366760" y="4261104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꺼내기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8366760" y="45445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기울기 a, 절편 b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726680" y="4892040"/>
            <a:ext cx="377921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09560" y="50566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790956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8366760" y="4946904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</a:t>
            </a:r>
            <a:endParaRPr lang="en-US" sz="1500" dirty="0"/>
          </a:p>
        </p:txBody>
      </p:sp>
      <p:sp>
        <p:nvSpPr>
          <p:cNvPr id="78" name="Text 76"/>
          <p:cNvSpPr txBox="1"/>
          <p:nvPr/>
        </p:nvSpPr>
        <p:spPr>
          <a:xfrm>
            <a:off x="8366760" y="523036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:.2f = 소수 둘째 자리까지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포인트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복잡한 통계 계산은 라이브러리가 대신! 우리는 '무엇을 예측할지'만 정하면 됩니다.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scikit-learn.org (LinearRegression)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1.4  ·  파이썬이 필요한 이유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1.4 핵심 정리 — 엑셀 vs 파이썬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12768"/>
                <a:gridCol w="4312768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상황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엑셀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파이썬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541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빅데이터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약 105만 행 제한 · 느려짐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수백만 행도 몇 초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웹 데이터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로컬 파일 중심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URL · API로 바로 수집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시각화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기본 차트 위주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Matplotlib · Seaborn · Plotly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반복 업무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매번 손으로 다시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코드 한 번 → 실행만 반복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고급 분석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통계 · 머신러닝 어려움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scikit-learn · TensorFlow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단순한 데이터 처리부터 통계 분석 · 예측 모델링 · 인공지능까지 할 수 있는 강력한 데이터 분석 도구입니다.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배운 것 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55448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파이썬은?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554480"/>
            <a:ext cx="7253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1989년 귀도 반 로섬이 만든 '읽기 쉬운' 언어. 지금은 Python 3 시대, 인기 1위권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542032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4203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54203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어디에 쓰나?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542032"/>
            <a:ext cx="7253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에디터에 쓴다. 우리는 설치 없는 Google Colab 사용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529584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52958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529584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어떻게 강력하나?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3529584"/>
            <a:ext cx="7253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라이브러리를 import 해서 빌려 쓴다. 외부 라이브러리는 pip로 설치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517136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51713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517136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배우나?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4517136"/>
            <a:ext cx="7253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빅데이터 · 웹 · 시각화 · 자동화 · 머신러닝 — 엑셀의 한계를 넘는다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 Colab을 열고 직접 첫 코드를 실행해 봅니다!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참고문헌 및 참고자료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「비즈니스 데이터 분석 with Python」. WikiDocs. https://wikidocs.net/book/9257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Standard Library. https://docs.python.org/3/library/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Tutorial — Modules. https://docs.python.org/3/tutorial/modules.html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Wikipedia. History of Python. https://en.wikipedia.org/wiki/History_of_Python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Stack Overflow. (2025). 2025 Developer Survey. https://survey.stackoverflow.co/2025/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IEEE Spectrum. (2025). The Top Programming Languages 2025. https://spectrum.ieee.org/top-programming-languages-2025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TIOBE Software. TIOBE Index. https://www.tiobe.com/tiobe-index/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Project Jupyter. https://jupyter.org  ·  Google Colab. https://colab.research.google.com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Documentation. https://docs.anaconda.com  ·  Conda User Guide. https://docs.conda.io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documentation. https://pip.pypa.io  ·  PyPI. https://pypi.org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· NumPy · Matplotlib · scikit-learn · TensorFlow 공식 문서 (pandas.pydata.org, numpy.org, matplotlib.org, scikit-learn.org, tensorflow.org)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Microsoft Support. Excel specifications and limits. https://support.microsoft.com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Kaggle. World Development Indicators. https://www.kaggle.com/datasets/kaggle/world-development-indicators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datasets/gdp — Country, Regional and World GDP. https://github.com/datasets/gdp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01장. 파이썬 준비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- 01장. 파이썬 준비</dc:title>
  <dc:subject>PptxGenJS Presentation</dc:subject>
  <dc:creator>김진성</dc:creator>
  <cp:lastModifiedBy>김진성</cp:lastModifiedBy>
  <cp:revision>1</cp:revision>
  <dcterms:created xsi:type="dcterms:W3CDTF">2026-10-05T15:05:55Z</dcterms:created>
  <dcterms:modified xsi:type="dcterms:W3CDTF">2026-10-05T15:05:55Z</dcterms:modified>
</cp:coreProperties>
</file>