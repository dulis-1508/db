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9fde92c-a324-0042-d1e5-89682199525a}">
          <p14:sldIdLst>
            <p14:sldId id="256"/>
            <p14:sldId id="257"/>
            <p14:sldId id="258"/>
            <p14:sldId id="259"/>
          </p14:sldIdLst>
        </p14:section>
        <p14:section name="2.1 파이썬 설치" id="{d3b395c0-ccee-16af-946b-fb1a32e7e4e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2.2 파이썬 패키지 설치" id="{bb746dc0-3987-7bf4-cd41-fd305af7d7d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2.3 Google Colab" id="{e59da778-b275-c2ab-60d2-3339dc606728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마무리" id="{721c0ab9-66ed-30c9-09a6-e268a063da3a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01장. 파이썬 준비 — 02. 파이썬 시작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2.1 파이썬 설치  /  2.2 파이썬 패키지 설치  /  2.3 Google Colab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 ·  각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01장 · 02. 파이썬 시작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Chap01_파이썬준비_실습.ipynb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640330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설치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Anaconda 설치하고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코드 실행하기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3978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48" y="264033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3978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703978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패키지 설치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4703978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· conda 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도구 추가하기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82077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02117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287" y="2640330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02117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8402117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웹에서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쓰기 (우리 수업!)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파이썬 시작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미션 : 내 손으로 첫 파이썬 코드 실행하기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수업이 끝나면 할 수 있어요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쓰는 3가지 방법을 구분한다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862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Anaconda를 설치하고 Jupyter를 연다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753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4838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/ conda 로 패키지를 설치한다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9709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4105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Colab에서 코드를 쓰고 실행 · 저장한다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1888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63040" y="4727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Colab에 내 데이터 파일을 불러온다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675120" y="1554480"/>
            <a:ext cx="4830775" cy="1152144"/>
          </a:xfrm>
          <a:prstGeom prst="roundRect">
            <a:avLst>
              <a:gd name="adj" fmla="val 79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58000" y="16824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2"/>
          <p:cNvSpPr/>
          <p:nvPr/>
        </p:nvSpPr>
        <p:spPr>
          <a:xfrm>
            <a:off x="7059168" y="16824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3"/>
          <p:cNvSpPr/>
          <p:nvPr/>
        </p:nvSpPr>
        <p:spPr>
          <a:xfrm>
            <a:off x="7260336" y="16824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543800" y="1609344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나의 첫 코드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675120" y="1920240"/>
            <a:ext cx="483077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784848" y="20848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2084832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Python!"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6675120" y="2880360"/>
            <a:ext cx="483077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19"/>
          <p:cNvSpPr txBox="1"/>
          <p:nvPr/>
        </p:nvSpPr>
        <p:spPr>
          <a:xfrm>
            <a:off x="685800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3264408"/>
            <a:ext cx="44650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Python!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675120" y="3931920"/>
            <a:ext cx="4830775" cy="1600200"/>
          </a:xfrm>
          <a:prstGeom prst="roundRect">
            <a:avLst>
              <a:gd name="adj" fmla="val 6857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949440" y="3931920"/>
            <a:ext cx="4282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print( ) 란?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 안의 내용을 화면에 '출력'하는 명령입니다. 따옴표 " " 안의 글자는 그대로 보여 줍니다.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걱정 마세요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설치가 잘 안 되어도 괜찮습니다. 수업은 설치가 필요 없는 Colab으로 진행해요!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파이썬 시작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파이썬을 쓰는 3가지 방법 — 큰 그림 먼저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파이썬만 설치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python.org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18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빈 주방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언어 본체만 설치. 필요한 도구는 하나씩 직접 설치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가볍다 / 직접 챙길 게 많다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3938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173736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8258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Anaconda 설치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658258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anaconda.com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58258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44A833">
              <a:alpha val="18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58258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풀옵션 주방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658258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+ 분석 패키지 + Jupyter 를 한 번에 설치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658258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편하다 / 용량이 크다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82077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180015" y="17373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0180015" y="1737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7" y="173736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56397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Google Colab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8356397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colab.research.google.com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356397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F9AB00">
              <a:alpha val="18000"/>
            </a:srgb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356397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공유 주방 (빌려 쓰기)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356397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 브라우저에서 바로 사용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8356397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제일 쉽다 / 인터넷 필요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걸 써도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문법은 똑같습니다. 차이는 '어디서, 얼마나 편하게' 쓰느냐 뿐이에요.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python.org, Anaconda Documentation (anaconda.com/docs), Google Colab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설치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Anaconda 설치하기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전 확인 사항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· Mac 설치 순서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확인과 Jupyter Notebook 첫 실행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Anaconda로 설치할까?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2926080"/>
          </a:xfrm>
          <a:prstGeom prst="roundRect">
            <a:avLst>
              <a:gd name="adj" fmla="val 375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python.org 파이썬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69748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언어 본체 + 표준 라이브러리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558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2461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등은 따로 설치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448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에디터(Jupyter)도 따로 설치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278728" y="1554480"/>
            <a:ext cx="5227168" cy="2926080"/>
          </a:xfrm>
          <a:prstGeom prst="roundRect">
            <a:avLst>
              <a:gd name="adj" fmla="val 375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83080"/>
            <a:ext cx="594360" cy="5943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330288" y="178308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Distribution</a:t>
            </a:r>
            <a:endParaRPr lang="en-US" sz="2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07208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964528" y="269748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+ 표준 라이브러리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355848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964528" y="32461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· matplotlib 등 분석 패키지 포함</a:t>
            </a:r>
            <a:endParaRPr lang="en-US" sz="15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04488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964528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Jupyter · Navigator · conda 포함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85800" y="46634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60120" y="46634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분석에 필요한 도구를 한 번에 설치해 주므로, 처음 배우는 사람에게는 Anaconda가 편합니다. (최신 Anaconda 2025.12에는 Python 3.13이 들어 있습니다)</a:t>
            </a:r>
            <a:endParaRPr lang="en-US" sz="1500" dirty="0"/>
          </a:p>
        </p:txBody>
      </p:sp>
      <p:sp>
        <p:nvSpPr>
          <p:cNvPr id="25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설치할 필요는 없습니다. 하나만 고르세요!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Anaconda Documentation (anaconda.com/docs) — Release notes 2025.12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전에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2880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830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운영체제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1284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/ macOS / Linux 중 무엇인지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74320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: 설정 → 시스템 → 정보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55448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7328" y="182880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011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21728" y="17830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 칩 종류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421728" y="221284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Apple 실리콘(M1~)인지 Intel인지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421728" y="274320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Mac : 왼쪽 위 사과 → 이 Mac에 관하여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52044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0120" y="379476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977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374904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공간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17880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설치에 수 GB가 필요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874520" y="47091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여유 공간을 넉넉히 확보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33008" y="352044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07328" y="3794760"/>
            <a:ext cx="731520" cy="73152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39776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21728" y="374904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사용자 이름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7421728" y="417880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사용자 폴더 이름에 한글 · 띄어쓰기가 있는지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421728" y="47091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C:\Users\홍길동 → 문제 생길 수 있음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가장 흔한 실패 원인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한글 사용자 이름! 설치 경로에 한글이 들어가면 오류가 날 수 있어요. 이때는 C:\anaconda3 처럼 영어 경로로 설치하세요.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순서 한눈에 보기 (Windows 기준)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다운로드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운영체제용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파일 받기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9507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2913827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6707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96707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53907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실행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96707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.exe 더블클릭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Next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67534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1854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4734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24734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81934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옵션 선택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24734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Just 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PATH 체크 안 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95561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9881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761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52761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09961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완료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52761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→ Finish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(몇 분 걸림)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3588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7908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0788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8078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237988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확인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780788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Prompt 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버전 확인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3657600"/>
            <a:ext cx="5227168" cy="1874520"/>
          </a:xfrm>
          <a:prstGeom prst="roundRect">
            <a:avLst>
              <a:gd name="adj" fmla="val 58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365760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설치되는 것들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· conda · Anaconda Navigator · Jupyter Notebook · Anaconda Prompt · 수백 개의 분석 패키지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78728" y="3657600"/>
            <a:ext cx="5227168" cy="1874520"/>
          </a:xfrm>
          <a:prstGeom prst="roundRect">
            <a:avLst>
              <a:gd name="adj" fmla="val 58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3048" y="365760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시간이 걸려요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파일이 커서 다운로드와 설치에 시간이 걸립니다. 설치 중 창이 멈춘 것처럼 보여도 기다려 주세요.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 사용자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.pkg 설치 파일을 받아 '계속' 버튼을 눌러 진행합니다. 칩 종류(Apple 실리콘 / Intel)에 맞는 파일을 고르세요.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on Windows / macOS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다운로드 — anaconda.com/download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94944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72768"/>
            <a:ext cx="691286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916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916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627632"/>
            <a:ext cx="5989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16276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https://www.anaconda.com/download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00200" y="2194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 Anaconda Distribution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44A8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31546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64-Bit Graphical Installer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14300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14300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13944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5468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13944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323088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Apple Silicon / Intel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36804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36804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6448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0" y="31546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36448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Linux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545592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64-Bit Installer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59308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59308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8580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 구성을 단순화한 그림)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955280" y="1554480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3816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13816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595360" y="168249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주소 입력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595360" y="2029968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anaconda.com/download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7955280" y="2578608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138160" y="274320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13816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8595360" y="2706624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이메일 입력은 선택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8595360" y="3054096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Skip registration 가능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7955280" y="3602736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138160" y="376732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1381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595360" y="3730752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운영체제 고르기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8595360" y="4078224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: 64-Bit 설치 파일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7955280" y="4626864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138160" y="479145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13816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8595360" y="475488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확인</a:t>
            </a:r>
            <a:endParaRPr 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8595360" y="5102352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Anaconda3-….exe 저장됨</a:t>
            </a:r>
            <a:endParaRPr lang="en-US" sz="1400" dirty="0"/>
          </a:p>
        </p:txBody>
      </p:sp>
      <p:sp>
        <p:nvSpPr>
          <p:cNvPr id="53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Anaconda Distribution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~ ④ 설치 프로그램에서 고를 것 (Windows)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583680" cy="4023360"/>
          </a:xfrm>
          <a:prstGeom prst="rect">
            <a:avLst/>
          </a:prstGeom>
          <a:solidFill>
            <a:srgbClr val="F1F5F9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658368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Anaconda3 Setup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Select Installation Type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6334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2560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Just Me (recommended)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0449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971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All Users (requires admin privileges)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6060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Destination Folder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886200"/>
            <a:ext cx="5120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886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C:\Users\student\anaconda3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3913632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455371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4480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 Anaconda3 to my PATH environment variable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965192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17320" y="4892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Register Anaconda3 as my default Python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452628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155448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68249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Just Me 선택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계정에만 설치 (공식 권장)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278892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9535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91693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경로 확인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326440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경로에 한글 · 띄어쓰기가 없어야 안전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89520" y="402336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41879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5137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PATH 추가는 체크 안 함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9884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다른 프로그램과 충돌할 수 있어 공식적으로 권장하지 않음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89520" y="5166360"/>
            <a:ext cx="3916375" cy="411480"/>
          </a:xfrm>
          <a:prstGeom prst="roundRect">
            <a:avLst>
              <a:gd name="adj" fmla="val 2666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18120" y="5166360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나머지는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기본값 그대로 Next / Install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5669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(설치 화면을 단순화한 그림 — 버전에 따라 문구가 조금 다를 수 있음)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on Windows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설치 확인 — Anaconda Prompt 에서 버전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 메뉴 → 'Anaconda Prompt' 검색 → 실행  (Mac : 터미널 앱)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21792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939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939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939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0208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963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963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8803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803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--version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4808" y="255117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64808" y="293522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480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42900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813048"/>
            <a:ext cx="5852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3.13.9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25.x.x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26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(버전 숫자는 설치 시점에 따라 다를 수 있음)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965960"/>
            <a:ext cx="428213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1305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0664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209397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 --version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44144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설치된 파이썬 버전 보기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3017520"/>
            <a:ext cx="428213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1821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14553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--version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349300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conda 패키지 관리자 버전 보기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4023360"/>
            <a:ext cx="4282135" cy="1554480"/>
          </a:xfrm>
          <a:prstGeom prst="roundRect">
            <a:avLst>
              <a:gd name="adj" fmla="val 7059"/>
            </a:avLst>
          </a:prstGeom>
          <a:solidFill>
            <a:srgbClr val="1019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4023360"/>
            <a:ext cx="3824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'python'은(는) 내부 또는 외부 명령이 아닙니다…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일반 '명령 프롬프트(cmd)'에서 입력했을 때 흔히 나와요. 꼭 'Anaconda Prompt'에서 입력하세요.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성공!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버전 숫자가 보이면 설치 완료입니다.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Verifying your installation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Navigator — 클릭으로 프로그램 실행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949440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463040" cy="402336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Navigator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Home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77440" y="17830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F37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77440" y="25146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074670" y="2926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07467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06340" y="17830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9202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06340" y="25146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JupyterLab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703570" y="2926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0357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77440" y="36118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37490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377440" y="43434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Spyder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074670" y="47548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3074670" y="4754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006340" y="36118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170" y="374904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006340" y="43434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VS Code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703570" y="47548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703570" y="4754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366260" y="2880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36626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 구성을 단순화한 그림 — 설치된 앱에 따라 다름)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955280" y="1554480"/>
            <a:ext cx="3550615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183880" y="1554480"/>
            <a:ext cx="3093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Navigator 란?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명령어 없이 마우스 클릭만으로 Jupyter · Spyder 등을 실행하고 패키지를 관리하는 '메뉴판' 프로그램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7955280" y="3566160"/>
            <a:ext cx="355061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38160" y="37307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1381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595360" y="369417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→ Launch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8595360" y="4041648"/>
            <a:ext cx="2727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브라우저에 노트북 화면이 열림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7955280" y="4754880"/>
            <a:ext cx="3550615" cy="822960"/>
          </a:xfrm>
          <a:prstGeom prst="roundRect">
            <a:avLst>
              <a:gd name="adj" fmla="val 1333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183880" y="4754880"/>
            <a:ext cx="3093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단축 경로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 메뉴에서 'Jupyter Notebook'을 바로 실행해도 됩니다.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Anaconda Navigator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 첫 실행 — 새 노트북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브라우저 열림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주소 : localhost:8888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(내 컴퓨터 안의 주소)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폴더 이동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실습 파일을 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폴더를 클릭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새 노트북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New → Notebook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Python 3 선택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실행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입력 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Shift + Enter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658368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2826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9848" y="32826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32826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54480" y="32095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Untitled.ipynb — Jupyter Notebook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520440"/>
            <a:ext cx="65836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36850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68503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Python!"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06908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" y="452628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868680" y="4617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" y="4910328"/>
            <a:ext cx="6217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Python!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589520" y="3154680"/>
            <a:ext cx="3916375" cy="2423160"/>
          </a:xfrm>
          <a:prstGeom prst="roundRect">
            <a:avLst>
              <a:gd name="adj" fmla="val 452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3154680"/>
            <a:ext cx="345917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localhost 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인터넷 사이트가 아니라 '내 컴퓨터'를 뜻하는 주소입니다. Jupyter는 내 컴퓨터에서 돌아가고, 화면만 브라우저로 보여 줍니다.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검은 창(서버)을 닫으면 Jupyter도 꺼져요!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파일은 .ipynb 확장자로 저장됩니다. Colab에서도 그대로 열 수 있어요.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Project Jupyter Documentation (docs.jupyter.org)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설치할 때 자주 만나는 문제와 해결법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68777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증상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원인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해결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 중 오류 · 실행이 안 됨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설치 경로에 한글 · 띄어쓰기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C:\anaconda3 처럼 영어 경로로 재설치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'python'은(는) 내부 또는 외부 명령이 아닙니다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일반 cmd 에서 실행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Prompt 에서 실행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설치가 너무 오래 걸림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파일이 크고 패키지가 많음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멈춘 것이 아니니 기다리기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백신 · 보안 경고 창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프로그램 설치 확인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 사이트에서 받은 파일이면 허용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Jupyter 창이 바로 꺼짐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검은 서버 창을 닫음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서버 창은 켜 둔 채 사용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그래도 안 되면?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괜찮습니다! 우리 수업은 Colab으로 진행하니, 설치 문제는 수업 후 함께 해결해요.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Troubleshooting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· python.org 에서 파이썬만 설치할 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400800" cy="3108960"/>
          </a:xfrm>
          <a:prstGeom prst="rect">
            <a:avLst/>
          </a:prstGeom>
          <a:solidFill>
            <a:srgbClr val="F1F5F9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640080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3.14 Setup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 Python 3.14 (64-bit)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60604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Install Now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Customize installation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977640"/>
            <a:ext cx="21945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Add python.exe to PATH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767328"/>
            <a:ext cx="347472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(설치 화면을 단순화한 그림)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1682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python.org/downloads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029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최신 버전 다운로드 (현재 3.14)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2697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862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825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PATH 체크 꼭!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172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맨 아래 Add python.exe to PATH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3840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4005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68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 Now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315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 설정으로 설치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헷갈리지 마세요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는 PATH 체크 안 함(권장),  python.org 설치는 PATH 체크(권장) — 설치 방법마다 다릅니다.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Documentation — Using Python on Windows (docs.python.org)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2.1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3가지 방법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python.org(빈 주방) · Anaconda(풀옵션 주방) · Colab(빌려 쓰는 주방)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설치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anaconda.com/download → Just Me → 영어 경로 → PATH 체크 안 함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확인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Prompt 에서 python --version / conda --version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실행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Navigator 또는 시작 메뉴 → 브라우저에서 New → Notebook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설치한 파이썬에 도구를 더 추가하려면? → 2.2 파이썬 패키지 설치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패키지 설치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도구를 내 파이썬에 추가하기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패키지와 패키지 관리자 (pip · conda)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꼭 알아야 할 명령어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자주 만나는 오류와 해결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복습 · 패키지 = 남이 만든 기능 묶음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기본 탑재 (표준)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파이썬만 설치해도 들어 있음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· random · datetime · 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3938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17830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8258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Anaconda가 추가 설치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58258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Anaconda를 설치하면 함께 들어옴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58258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49698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· numpy · matplotlib …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82077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7" y="17830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6397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직접 추가 설치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외 필요한 것은 사용자가 설치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356397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447837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wordcloud · folium · …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493776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0120" y="49377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패키지(package) ≈ 라이브러리(library)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이 수업에서는 같은 뜻으로 써도 괜찮습니다 (01장 1.3 참고)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질문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처럼 내 파이썬에 없는 패키지는 어떻게 설치할까?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2-2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 관리자 = 파이썬의 '앱스토어 앱'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755648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pip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9456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기본 패키지 관리자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9864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889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설치하면 함께 설치됨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15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29184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PyPI(파이썬 패키지 저장소)에서 내려받음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448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가장 많은 패키지를 찾을 수 있음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60120" y="4480560"/>
            <a:ext cx="4678528" cy="68580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1143000" y="448056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78728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8308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21728" y="1755648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conda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7421728" y="219456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전용 패키지 관리자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9864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4528" y="27889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를 설치하면 함께 설치됨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40156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4528" y="329184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저장소 · conda-forge 에서 내려받음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04488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64528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패키지끼리 버전이 맞도록 함께 관리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6553048" y="4480560"/>
            <a:ext cx="4678528" cy="68580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6735928" y="448056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pandas</a:t>
            </a:r>
            <a:endParaRPr lang="en-US" sz="1800" dirty="0"/>
          </a:p>
        </p:txBody>
      </p:sp>
      <p:sp>
        <p:nvSpPr>
          <p:cNvPr id="29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 = 앱스토어,  pip / conda = 앱스토어 앱,  install = '받기' 버튼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2-2, pip documentation (pip.pypa.io), conda User Guide (docs.conda.io)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명령어는 어디에 입력할까?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6229" y="1783080"/>
            <a:ext cx="822960" cy="82296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969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Prompt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(Mac : 터미널)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그대로 입력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F37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4368" y="1783080"/>
            <a:ext cx="822960" cy="822960"/>
          </a:xfrm>
          <a:prstGeom prst="ellipse">
            <a:avLst/>
          </a:prstGeom>
          <a:solidFill>
            <a:srgbClr val="F37626">
              <a:alpha val="4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19888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66818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 셀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612538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58258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%pip install pandas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566818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7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앞에 % 를 붙임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082077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82506" y="1783080"/>
            <a:ext cx="822960" cy="82296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246" y="19888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64957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 셀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310677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356397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pandas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264957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앞에 ! 를 붙임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85800" y="507492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60120" y="50749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! 와 % 의 뜻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'이건 파이썬 코드가 아니라 명령어(터미널) 줄이야' 라고 노트북에 알려 주는 표시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셀에서  !pip install 패키지이름  만 기억하세요!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(pip.pypa.io), IPython %pip magic, Google Colab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필수 명령어 6가지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패키지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55448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설치하기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554480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wordcloud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221992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221992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패키지==버전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221992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특정 버전 설치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458200" y="2221992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pandas==2.2.3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2889504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44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889504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패키지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2889504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최신 버전으로 업데이트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2889504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--upgrade pandas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3557016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124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557016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패키지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55701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삭제하기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458200" y="3557016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uninstall wordcloud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" y="4224528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799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224528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715000" y="4224528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설치된 패키지 목록 보기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458200" y="4224528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list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85800" y="4892040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0474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17320" y="489204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패키지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715000" y="489204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패키지 정보(버전 등) 보기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458200" y="4892040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show pandas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에서는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명령 앞에 ! 를 붙여요 →  !pip install wordcloud,  !pip list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 — User Guide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· 설치할 때 화면에 나오는 글 읽기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949440" cy="1078992"/>
          </a:xfrm>
          <a:prstGeom prst="roundRect">
            <a:avLst>
              <a:gd name="adj" fmla="val 847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wordcloud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6949440" cy="2651760"/>
          </a:xfrm>
          <a:prstGeom prst="roundRect">
            <a:avLst>
              <a:gd name="adj" fmla="val 27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686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 (예시)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6324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Collecting wordcloud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107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Downloading wordcloud-x.y.z-…whl (…kB)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75818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already satisfied: numpy in …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056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already satisfied: pillow in 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45312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Installing collected packages: wordcloud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006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Successfully installed wordcloud-x.y.z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30906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378561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48056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48280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1508760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163677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Collecting / Downloading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1984248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 에서 찾아서 내려받는 중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2487168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3816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615184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already satisfied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2962656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패키지는 이미 있음 (오류 X)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55280" y="3465576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6301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3816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3593592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Installing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595360" y="3941064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환경에 설치하는 중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55280" y="4443984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460857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138160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595360" y="457200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Successfully installed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4919472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성공! 이 줄만 확인하면 OK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글자가 많이 나와도 당황하지 마세요. 마지막 줄의 Successfully 만 확인하면 됩니다.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 — pip install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필수 명령어 (Anaconda 사용자)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90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패키지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5544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설치하기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267712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23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26771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-c conda-forge 패키지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22677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conda-forge 에서 설치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2980944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455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98094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update 패키지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9809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업데이트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3694176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587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36941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remove 패키지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80760" y="36941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삭제하기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85800" y="4407408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40740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list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080760" y="44074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설치된 패키지 목록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686800" y="1554480"/>
            <a:ext cx="2819095" cy="3456432"/>
          </a:xfrm>
          <a:prstGeom prst="roundRect">
            <a:avLst>
              <a:gd name="adj" fmla="val 389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915400" y="1554480"/>
            <a:ext cx="2361895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가 물어보면?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전에 바뀔 패키지 목록을 보여 주고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 ([y]/n)?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라고 묻습니다. y 를 입력하고 Enter!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과 비슷하죠?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· list 는 같고, 삭제는 pip uninstall / conda remove 로 단어만 달라요.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conda User Guide (docs.conda.io) — Managing packages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잘 되었는지 파이썬으로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(pd.__version__)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136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36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(np.__version__)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64808" y="20848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4808" y="281635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849624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23367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2.0.2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8097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(버전 숫자는 예시 — 환경마다 다름)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1508760"/>
            <a:ext cx="428213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163677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 가 에러 없이 되면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1984248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성공! 아무 메시지도 안 나오는 게 정상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2606040"/>
            <a:ext cx="428213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7706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0664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73405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__version__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3081528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밑줄 2개씩 — 패키지 버전 확인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23760" y="3703320"/>
            <a:ext cx="4282135" cy="1828800"/>
          </a:xfrm>
          <a:prstGeom prst="roundRect">
            <a:avLst>
              <a:gd name="adj" fmla="val 6000"/>
            </a:avLst>
          </a:prstGeom>
          <a:solidFill>
            <a:srgbClr val="1019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2360" y="3703320"/>
            <a:ext cx="38249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안 되어 있으면?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module named 'wordcloud'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다음 장에서 해결법 확인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show pandas 로도 버전을 볼 수 있어요 (Colab 에서는 !pip show pandas).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pandas · NumPy 공식 문서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만나는 오류 ① — ModuleNotFoundError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10820095" cy="1060704"/>
          </a:xfrm>
          <a:prstGeom prst="roundRect">
            <a:avLst>
              <a:gd name="adj" fmla="val 862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10042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wordcloud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56032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'wordcloud'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'wordcloud 라는 모듈(패키지)을 찾을 수 없다'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3938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8258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58258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환경에 그 패키지가 설치되어 있지 않음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2077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56397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56397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wordcloud 실행 후 다시 import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오류는 친구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빨간 글씨는 '무엇이 문제인지' 알려 주는 안내문입니다. 마지막 줄부터 읽어 보세요!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Documentation — Built-in Exceptions (ModuleNotFoundError)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만나는 오류 ② — 설치 이름 ≠ import 이름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대부분은 같지만, 몇몇 유명한 패키지는 설치할 때 이름과 불러올 때 이름이 다릅니다.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82009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  <a:gridCol w="277337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설치할 때 (pip install …)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불러올 때 (import …)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쓰는 곳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scikit-learn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sklearn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12장 머신러닝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beautifulsoup4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bs4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11장 웹 크롤링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pillow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이미지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opencv-python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영상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pandas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pandas  (같음)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08장 데이터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scikit-learn  으로 설치하고,  from sklearn.linear_model import LinearRegression  으로 불러와요.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PyPI (pypi.org) 각 패키지 페이지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과 conda, 무엇을 써야 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 을 쓴다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989320" y="187452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Shape 6"/>
          <p:cNvSpPr/>
          <p:nvPr/>
        </p:nvSpPr>
        <p:spPr>
          <a:xfrm>
            <a:off x="6812280" y="160020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160020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!pip install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6974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697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를 설치해서 쓴다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989320" y="297180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269748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040880" y="269748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install 먼저 → 없으면 pip install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85800" y="37947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794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python.org 파이썬을 쓴다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5989320" y="406908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1" name="Shape 16"/>
          <p:cNvSpPr/>
          <p:nvPr/>
        </p:nvSpPr>
        <p:spPr>
          <a:xfrm>
            <a:off x="6812280" y="379476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40880" y="379476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install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5800" y="493776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0120" y="49377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환경에서 같은 패키지를 pip 과 conda 로 번갈아 설치하면 버전이 꼬일 수 있어요. 하나를 정해서 쓰세요.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에는 pandas · numpy · matplotlib 등이 이미 설치되어 있어, 대부분 바로 import 하면 됩니다.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conda User Guide (docs.conda.io) — Using pip in an environment, wikidocs 「비즈니스 데이터 분석 with Python」(김진성) 2-2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2.2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 관리자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= 파이썬 기본 (PyPI),  conda = Anaconda 전용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어디에 입력?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Prompt/터미널 : pip install  ·  Jupyter : %pip  ·  Colab : !pip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필수 명령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· install --upgrade · uninstall(remove) · list · show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해결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ModuleNotFoundError → 설치!  ·  설치 이름 ≠ import 이름 주의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이제 우리 수업의 주 무대로! → 2.3 Google Colab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 브라우저에서 파이썬 쓰기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시작하기와 화면 구성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· 텍스트 셀 실행과 단축키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불러오기 · 저장 · 런타임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= 구글 문서처럼 쓰는 Jupyter Notebook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7830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Colaboratory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줄여서 'Colab (코랩)'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9776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Jupyter Notebook 을 기반으로 한 웹 편집기.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Chrome 등 브라우저로 접속해 언제 어디서나 코드를 작성합니다.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77840" y="155448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69164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1840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162763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필요 없음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199339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계정 + 인터넷만 있으면 OK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577840" y="256032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60720" y="269748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28460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37960" y="263347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패키지가 미리 설치됨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299923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· matplotlib 등 바로 import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577840" y="356616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60720" y="370332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385191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37960" y="363931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무료로 사용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400507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구글의 컴퓨터(가상 머신)를 빌려 씀 · GPU도 제한적으로 무료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577840" y="457200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760720" y="470916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310" y="4857750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537960" y="464515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· 공유가 쉬움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537960" y="501091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드라이브에 자동 저장, 링크로 공유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주방을 짓는 대신(Anaconda), 구글의 주방을 빌려 요리하는 것(Colab)!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2.3, Google Colab FAQ · 시작 가이드 (research.google.com/colaboratory)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vs 내 컴퓨터의 Jupyter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12768"/>
                <a:gridCol w="431276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A112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Google Colab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Jupyter (Anaconda)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필요 없음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설치 필요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실행 장소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구글의 클라우드 컴퓨터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 컴퓨터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패키지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주요 패키지 미리 설치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포함 패키지 + 직접 설치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파일 저장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구글 드라이브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 컴퓨터 폴더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인터넷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꼭 필요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없어도 사용 가능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사용 시간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무료는 시간 제한 있음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제한 없음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공통점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.ipynb 노트북 파일을 쓰고, 셀 단위로 실행합니다. 하나를 익히면 다른 것도 바로 쓸 수 있어요!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(research.google.com/colaboratory), Project Jupyter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시작하기 — 4단계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구글 로그인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Gmail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계정으로 로그인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접속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주소로 접속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(Chrome 권장)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새 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'새 노트' 버튼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또는 파일 → 새 노트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바꾸기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Untitled0.ipynb 클릭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이름 변경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383280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3401568"/>
            <a:ext cx="691286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35204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8720" y="35204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Shape 31"/>
          <p:cNvSpPr/>
          <p:nvPr/>
        </p:nvSpPr>
        <p:spPr>
          <a:xfrm>
            <a:off x="1463040" y="3456432"/>
            <a:ext cx="5989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600200" y="34564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https://colab.research.google.com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411480" cy="4114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1463040" y="3995928"/>
            <a:ext cx="27432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554480" y="3995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Chap01_파이썬준비_실습.ipynb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297680" y="403250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29768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46304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  수정   보기   삽입   런타임   도구   도움말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4400" y="4846320"/>
            <a:ext cx="6492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515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    + 텍스트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(화면을 단순화한 그림)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3383280"/>
            <a:ext cx="3550615" cy="2240280"/>
          </a:xfrm>
          <a:prstGeom prst="roundRect">
            <a:avLst>
              <a:gd name="adj" fmla="val 489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183880" y="3383280"/>
            <a:ext cx="309341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파일은 어디에 저장될까?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구글 드라이브 →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'Colab Notebooks' 폴더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 자동으로 저장됩니다.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85800" y="5943600"/>
            <a:ext cx="10820095" cy="365760"/>
          </a:xfrm>
          <a:prstGeom prst="roundRect">
            <a:avLst>
              <a:gd name="adj" fmla="val 3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규칙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Chap01_파이썬준비_실습.ipynb 처럼 장 번호를 붙이면 나중에 찾기 쉬워요.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화면 구성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7498080" cy="41148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27048"/>
            <a:ext cx="746150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459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45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581912"/>
            <a:ext cx="6537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158191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colab.research.google.com/drive/…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Chap01_파이썬준비_실습.ipynb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 수정  보기  삽입  런타임  도구  도움말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208483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49440" y="2084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공유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  + 텍스트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7960" y="26060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✓ RAM ▬ 디스크 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2971800"/>
            <a:ext cx="411480" cy="25146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40"/>
            <a:ext cx="228600" cy="2286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371600" y="3063240"/>
            <a:ext cx="653796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50876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첫 번째 실습  (텍스트 셀)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417320" y="3840480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3913632"/>
            <a:ext cx="128016" cy="15544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828800" y="3749040"/>
            <a:ext cx="6080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920240" y="3749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9202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Colab!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663440" y="201168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6634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474720" y="26060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34747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172200" y="26060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1722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68680" y="406908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686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1389888" y="422452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138988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589520" y="3822192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58952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68580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(화면을 단순화한 그림)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8458200" y="15087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595360" y="16642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5953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8961120" y="15087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노트 이름 · 메뉴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런타임 메뉴를 자주 씀</a:t>
            </a:r>
            <a:endParaRPr lang="en-US" sz="1600" dirty="0"/>
          </a:p>
        </p:txBody>
      </p:sp>
      <p:sp>
        <p:nvSpPr>
          <p:cNvPr id="47" name="Shape 41"/>
          <p:cNvSpPr/>
          <p:nvPr/>
        </p:nvSpPr>
        <p:spPr>
          <a:xfrm>
            <a:off x="8458200" y="21945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595360" y="23500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5953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8961120" y="21945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/ + 텍스트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셀 추가</a:t>
            </a:r>
            <a:endParaRPr lang="en-US" sz="1600" dirty="0"/>
          </a:p>
        </p:txBody>
      </p:sp>
      <p:sp>
        <p:nvSpPr>
          <p:cNvPr id="51" name="Shape 45"/>
          <p:cNvSpPr/>
          <p:nvPr/>
        </p:nvSpPr>
        <p:spPr>
          <a:xfrm>
            <a:off x="8458200" y="28803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8595360" y="30358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85953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8961120" y="28803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연결 상태 (RAM · 디스크)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컴퓨터와 연결됨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8458200" y="35661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8595360" y="37216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859536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8961120" y="35661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왼쪽 패널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목차 · 파일(폴더) 보기</a:t>
            </a:r>
            <a:endParaRPr lang="en-US" sz="1600" dirty="0"/>
          </a:p>
        </p:txBody>
      </p:sp>
      <p:sp>
        <p:nvSpPr>
          <p:cNvPr id="59" name="Shape 53"/>
          <p:cNvSpPr/>
          <p:nvPr/>
        </p:nvSpPr>
        <p:spPr>
          <a:xfrm>
            <a:off x="8458200" y="42519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8595360" y="44074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59536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6"/>
          <p:cNvSpPr txBox="1"/>
          <p:nvPr/>
        </p:nvSpPr>
        <p:spPr>
          <a:xfrm>
            <a:off x="8961120" y="42519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버튼 ▶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실행 (Shift+Enter)</a:t>
            </a:r>
            <a:endParaRPr lang="en-US" sz="1600" dirty="0"/>
          </a:p>
        </p:txBody>
      </p:sp>
      <p:sp>
        <p:nvSpPr>
          <p:cNvPr id="63" name="Shape 57"/>
          <p:cNvSpPr/>
          <p:nvPr/>
        </p:nvSpPr>
        <p:spPr>
          <a:xfrm>
            <a:off x="8458200" y="49377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8595360" y="50932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859536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100" dirty="0"/>
          </a:p>
        </p:txBody>
      </p:sp>
      <p:sp>
        <p:nvSpPr>
          <p:cNvPr id="66" name="Text 60"/>
          <p:cNvSpPr txBox="1"/>
          <p:nvPr/>
        </p:nvSpPr>
        <p:spPr>
          <a:xfrm>
            <a:off x="8961120" y="49377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셀 · 결과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결과는 셀 바로 아래</a:t>
            </a:r>
            <a:endParaRPr lang="en-US" sz="1600" dirty="0"/>
          </a:p>
        </p:txBody>
      </p:sp>
      <p:sp>
        <p:nvSpPr>
          <p:cNvPr id="67" name="Text 6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셀은 두 종류 — 코드 셀과 텍스트 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셀  (+ 코드)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주석(메모) — 실행 안 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count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5227168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33088"/>
            <a:ext cx="486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2628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코드를 쓰고 실행 → 결과가 아래에 나옴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텍스트 셀  (+ 텍스트)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78728" y="1874520"/>
            <a:ext cx="2522144" cy="2514600"/>
          </a:xfrm>
          <a:prstGeom prst="roundRect">
            <a:avLst>
              <a:gd name="adj" fmla="val 290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5888" y="1965960"/>
            <a:ext cx="22935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2장 실습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**매출 계산**을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 봅시다.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가격 : 1500원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수량 : 3개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19159" y="2971800"/>
            <a:ext cx="237744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5191" y="1874520"/>
            <a:ext cx="2430704" cy="2514600"/>
          </a:xfrm>
          <a:prstGeom prst="roundRect">
            <a:avLst>
              <a:gd name="adj" fmla="val 3009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12351" y="1965960"/>
            <a:ext cx="21563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2장 실습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 계산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을 해 봅시다.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가격 : 1500원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수량 : 3개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78728" y="452628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설명 · 메모를 쓰는 칸. 마크다운(Markdown) 기호로 꾸밈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마크다운 기호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 제목   **굵게**   -  목록   — 텍스트 셀을 더블클릭하면 편집, Shift+Enter 로 완성!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Markdown Guide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첫 코드 실행하기 — [ ] 안의 숫자 읽기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155448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아직 실행 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288036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2880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83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Colab!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1번째로 실행됨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20624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206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+ 20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09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2번째로 실행됨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72600" y="1554480"/>
            <a:ext cx="2133295" cy="3931920"/>
          </a:xfrm>
          <a:prstGeom prst="roundRect">
            <a:avLst>
              <a:gd name="adj" fmla="val 514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0" y="1554480"/>
            <a:ext cx="1676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[ 숫자 ] 의 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셀이 '몇 번째로' 실행되었는지를 알려 주는 번호표입니다.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마지막 줄 결과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 없이 10 + 20 만 써도, 셀의 마지막 줄 값은 자동으로 보여 줘요.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처음 실행할 때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실행은 구글 컴퓨터에 '연결'하느라 몇 초 걸려요. 두 번째부터는 빨라집니다.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꼭 외울 Colab 단축키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1907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Enter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54480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다음 셀로 이동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517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Enter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87168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제자리에 있기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419856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Enter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419856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아래에 새 셀 추가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352544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17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52544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아래에 코드 셀 추가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3008" y="15544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1608" y="171907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1608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13368" y="1554480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위에 코드 셀 추가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2487168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1608" y="26517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1608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13368" y="2487168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텍스트(마크다운) 셀로 바꾸기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3008" y="3419856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1608" y="35844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1608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13368" y="3419856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셀로 바꾸기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33008" y="4352544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1608" y="45171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61608" y="4517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113368" y="4352544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삭제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544068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외우는 요령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Ctrl + M 을 먼저 눌렀다 떼고 → 알파벳.   B = Below(아래),  A = Above(위),  M = Markdown,  D = Delete.   전체 목록 : Ctrl + M → H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도구 → 단축키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· 셀을 실행한 '순서'가 중요해요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아래 셀을 먼저 실행하면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① (아직 실행 안 함)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998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" y="30998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1016" y="30998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302666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50215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3 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② 를 먼저 실행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069080"/>
            <a:ext cx="5227168" cy="640080"/>
          </a:xfrm>
          <a:prstGeom prst="roundRect">
            <a:avLst>
              <a:gd name="adj" fmla="val 11429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'price' is not defined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006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'price 라는 이름을 아직 모른다' — 셀 ①을 실행하지 않았기 때문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위에서부터 차례대로 실행하면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1608" y="240487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① 먼저 실행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8728" y="297180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1608" y="30998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Shape 31"/>
          <p:cNvSpPr/>
          <p:nvPr/>
        </p:nvSpPr>
        <p:spPr>
          <a:xfrm>
            <a:off x="6662776" y="30998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6863944" y="30998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47408" y="302666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8728" y="333756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61608" y="350215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3 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그다음 셀 ②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4069080"/>
            <a:ext cx="5227168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46160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4453128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278728" y="484632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셀들은 '기억'을 공유합니다. 앞 셀에서 만든 값을 뒤 셀이 사용해요.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꼬였을 때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메뉴 런타임 → '모두 실행' 을 누르면 위에서부터 차례대로 다시 실행됩니다.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데이터 불러오기 ① — 파일 업로드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폴더 아이콘 클릭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왼쪽 패널의 폴더(파일) 아이콘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업로드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업로드 아이콘 클릭 또는 파일을 끌어다 놓기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경로 복사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오른쪽 ⋮ → '경로 복사'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코드에서 사용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/content/파일이름 으로 읽기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6766560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2826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9848" y="32826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32826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54480" y="32095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52044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36850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685032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40142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01421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'/content/sales_2024.csv'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" y="43434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34340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13448" y="404164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1344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974336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509320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325880" y="49743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/content/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컴퓨터의 기본 작업 폴더 (01장 예제의 경로)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72400" y="3154680"/>
            <a:ext cx="3733495" cy="2377440"/>
          </a:xfrm>
          <a:prstGeom prst="roundRect">
            <a:avLst>
              <a:gd name="adj" fmla="val 4615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01000" y="3154680"/>
            <a:ext cx="3276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: 임시 보관함!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이렇게 올린 파일은 런타임(구글 컴퓨터 연결)이 끝나면 사라집니다. 다음 날 다시 열면 또 올려야 해요.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계속 쓰는 파일이라면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다음 장의 '구글 드라이브 연결'을 사용하세요.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External data: Local files, Drive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데이터 불러오기 ② — 구글 드라이브 연결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google.colab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'/content/drive'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0954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'/content/drive/MyDrive/data/sales_2024.csv'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13448" y="204825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13448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13448" y="234086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1344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13448" y="321868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1344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3776472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160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Mounted at /content/drive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0" y="1508760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5528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163677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drive 도구 빌리기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1984248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전용 기능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0" y="2487168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9552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2615184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드라이브 연결(mount)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2962656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권한 허용 창 → 구글 계정 선택 → 허용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0" y="3465576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36301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9552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359359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드라이브 경로로 읽기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3941064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MyDrive = '내 드라이브'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5800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/content/drive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연결된 드라이브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25114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50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425114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/MyDrive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425114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드라이브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64428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6000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164428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164428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내가 만든 폴더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903741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70000"/>
            </a:srgbClr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903741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/sales_2024.csv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903741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장점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드라이브에 둔 파일은 사라지지 않아 매 수업마다 다시 올릴 필요가 없어요.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External data: Drive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이해하기 — 구글 컴퓨터를 '빌려' 쓰는 시간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런타임(runtime) 이란?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노트북에 연결된 구글의 가상 컴퓨터. 코드는 내 컴퓨터가 아니라 여기서 실행됩니다.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4904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약 90분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아무것도 안 하면 연결이 끊김 (유휴 시간)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63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최대 12시간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663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무료 버전에서 한 번에 쓸 수 있는 최대 시간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554480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메뉴에서 자주 쓰는 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2011680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011680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모두 실행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위에서부터 모든 셀 실행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75120" y="2898648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898648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세션 다시 시작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기억(변수)을 지우고 새로 시작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3785616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785616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유형 변경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 등 선택 (12장 이후)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4672584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4672584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연결 해제 및 삭제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가상 컴퓨터 반납 · 업로드 파일 삭제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기억할 것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연결이 끊겨도 노트(코드)는 드라이브에 남아요. 단, 변수와 업로드 파일은 다시 실행 · 업로드!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시간 제한은 이용 상황에 따라 바뀔 수 있음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· 공유 · 내려받기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자동 저장 (구글 드라이브)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34440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직접 저장 : Ctrl + 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34440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드라이브 → Colab Notebooks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3938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8258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197739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18378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공유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703978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932578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오른쪽 위 '공유' 버튼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703978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932578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문서처럼 링크 · 권한 설정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703978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32578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과제 제출 시 링크 공유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082077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56397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07" y="1977390"/>
            <a:ext cx="388620" cy="3886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316517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내려받기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402117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630717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→ 다운로드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402117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630717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.ipynb : 노트북 그대로 (Jupyter에서 열림)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8402117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630717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.py : 코드만 파이썬 파일로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사람 노트를 받았다면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→ '드라이브에 사본 저장' 을 먼저! 그래야 내 것으로 수정할 수 있어요.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Colab의 AI 도우미 (Gemini) 똑똑하게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1783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이런 걸 도와줘요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718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346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말로 설명하면 코드를 만들어 줌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033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566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오류가 나면 원인과 해결 방법을 설명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3484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29768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어려운 코드를 한 줄씩 풀이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278728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553048" y="1783080"/>
            <a:ext cx="777240" cy="77724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358" y="1977390"/>
            <a:ext cx="388620" cy="3886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513168" y="1783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이렇게 쓰세요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553048" y="292608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55304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010248" y="28346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먼저 스스로 오류 메시지를 읽어 보기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6553048" y="365760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553048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010248" y="3566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AI 답이 항상 맞지는 않아요 — 실행해서 확인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553048" y="438912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55304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010248" y="429768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받은 코드는 한 줄씩 이해한 뒤 사용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수업 원칙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AI는 '선생님'이 아니라 '도우미'입니다. 이해하지 못한 코드는 내 실력이 되지 않아요!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— AI 기능 (화면 · 메뉴 이름은 업데이트에 따라 달라질 수 있음)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2.3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웹에서 쓰는 Jupyter — 패키지 미리 설치, 드라이브에 저장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셀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셀(실행) · 텍스트 셀(설명) — Shift + Enter 로 실행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불러오기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업로드(/content, 임시) · 드라이브 연결(/content/drive/MyDrive, 영구)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컴퓨터를 빌리는 시간 — 끊기면 변수 · 업로드 파일은 다시!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02. 파이썬 시작 정리와 실습 체크리스트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파이썬 시작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오늘 직접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Colab 접속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colab.research.google.com 에 구글 계정으로 로그인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새 노트 만들기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이름을 Chap01_파이썬준비_실습 으로 변경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첫 코드 실행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"Hello, Colab!"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) 입력 → Shift + Enter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텍스트 셀 추가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'2장 실습'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제목 쓰기 (Ctrl + M → M)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패키지 설치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wordcloud → Successfully 확인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드라이브 연결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drive.mount(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'/content/drive'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) 실행 → 허용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제출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완성한 노트는 '공유' 버튼으로 링크를 복사해 제출합니다. (제출 방법은 수업 공지 확인)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파이썬 시작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어떻게 설치?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60020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: Just Me · 영어 경로 · PATH 체크 안 함 → Prompt 에서 버전 확인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7889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도구 추가는?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78892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/ conda install — Colab 은 !pip install, 오류는 마지막 줄부터 읽기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은?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97764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실행(Shift+Enter) · 순서 주의 · 드라이브 연결로 파일 불러오기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34924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492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02장. 변수와 데이터 유형 — Colab 에서 변수와 연산자를 직접 써 봅니다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파이썬 시작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01장. 파이썬 준비 — 02. 파이썬 시작. WikiDocs. https://wikidocs.net/205226 · /287232 · /205404 · /232742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Installing Anaconda Distribution. https://www.anaconda.com/docs/getting-started/anaconda/install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Anaconda Distribution 2025.x release notes. https://www.anaconda.com/docs/getting-started/anaconda/release/2025.x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Anaconda Navigator. https://www.anaconda.com/docs/tools/anaconda-navigator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conda. User Guide — Managing packages. https://docs.conda.io/projects/conda/en/latest/user-guide/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pip. User Guide. https://pip.pypa.io/en/stable/user_guide/  ·  PyPI. https://pypi.org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Using Python on Windows. https://docs.python.org/3/using/windows.html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Exceptions. https://docs.python.org/3/library/exceptions.html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Project Jupyter. Jupyter Notebook Documentation. https://docs.jupyter.org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Google. Colaboratory FAQ. https://research.google.com/colaboratory/faq.html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Google. Colab 시작하기 · External data (Local files, Drive). https://colab.research.google.com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01장. 파이썬 준비 · 02. 파이썬 시작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- 01장. 파이썬 준비 · 02. 파이썬 시작</dc:title>
  <dc:subject>PptxGenJS Presentation</dc:subject>
  <dc:creator>김진성</dc:creator>
  <cp:lastModifiedBy>김진성</cp:lastModifiedBy>
  <cp:revision>1</cp:revision>
  <dcterms:created xsi:type="dcterms:W3CDTF">2026-10-05T16:45:50Z</dcterms:created>
  <dcterms:modified xsi:type="dcterms:W3CDTF">2026-10-05T16:45:50Z</dcterms:modified>
</cp:coreProperties>
</file>