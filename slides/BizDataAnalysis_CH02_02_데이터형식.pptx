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86553099-8a49-9471-3b95-e1e261380300}">
          <p14:sldIdLst>
            <p14:sldId id="256"/>
            <p14:sldId id="257"/>
            <p14:sldId id="258"/>
          </p14:sldIdLst>
        </p14:section>
        <p14:section name="2.1 데이터 타입" id="{da7a9bad-a754-f8cb-c5e6-7c6bfb47beef}">
          <p14:sldIdLst>
            <p14:sldId id="259"/>
            <p14:sldId id="260"/>
            <p14:sldId id="261"/>
            <p14:sldId id="262"/>
          </p14:sldIdLst>
        </p14:section>
        <p14:section name="2.2 숫자형 데이터" id="{652c9140-6298-476e-c66c-8393aabfb483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2.3 문자형 데이터" id="{11aa7e62-fe98-e53e-0b0e-e3b9aa53cca0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2.4 함수와 메서드" id="{3fc326fb-40d5-7401-ae2b-b587c9ce90bd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마무리" id="{851666c3-7f40-5516-509c-b267fcec3a39}">
          <p14:sldIdLst>
            <p14:sldId id="299"/>
            <p14:sldId id="300"/>
            <p14:sldId id="301"/>
            <p14:sldId id="3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데이터 분석의 80%는 이런 '데이터 정리(전처리)'입니다. 08장 pandas에서도 같은 메서드를 .str.strip(), .str.replace() 형태로 그대로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image" Target="../media/image-44-5.png"/><Relationship Id="rId6" Type="http://schemas.openxmlformats.org/officeDocument/2006/relationships/image" Target="../media/image-4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463040"/>
            <a:ext cx="4023360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PYTHON FOR BUSINESS DATA ANALYSIS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920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비즈니스 데이터 분석 with Python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914400" y="2971800"/>
            <a:ext cx="146304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3246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02장. 변수와 데이터 유형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02. 데이터 형식  —  2.1 데이터 타입  /  2.2 숫자형  /  2.3 문자형  /  2.4 함수와 메서드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760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 ·  Chap02 실습 노트북  ·  Python 공식 문서로 보완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비즈니스 데이터 분석 with Python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Contents — 02장 · 02. 데이터 형식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실습 파일 : Chap02 실습 노트북 (.ipynb)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2499284" cy="3566160"/>
          </a:xfrm>
          <a:prstGeom prst="roundRect">
            <a:avLst>
              <a:gd name="adj" fmla="val 439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423160"/>
            <a:ext cx="822960" cy="8229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26289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60120" y="3474720"/>
            <a:ext cx="1950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2.1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4069080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데이터 타입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466344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값의 종류는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몇 가지일까?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459404" y="2103120"/>
            <a:ext cx="2499284" cy="3566160"/>
          </a:xfrm>
          <a:prstGeom prst="roundRect">
            <a:avLst>
              <a:gd name="adj" fmla="val 439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33724" y="2423160"/>
            <a:ext cx="822960" cy="8229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464" y="26289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733724" y="3474720"/>
            <a:ext cx="1950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2.2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3733724" y="4069080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숫자형 데이터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3733724" y="466344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int · float · complex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숫자의 3가지 모습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233008" y="2103120"/>
            <a:ext cx="2499284" cy="3566160"/>
          </a:xfrm>
          <a:prstGeom prst="roundRect">
            <a:avLst>
              <a:gd name="adj" fmla="val 439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07328" y="2423160"/>
            <a:ext cx="822960" cy="8229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068" y="262890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507328" y="3474720"/>
            <a:ext cx="1950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2.3</a:t>
            </a:r>
            <a:endParaRPr lang="en-US" sz="3000" dirty="0"/>
          </a:p>
        </p:txBody>
      </p:sp>
      <p:sp>
        <p:nvSpPr>
          <p:cNvPr id="22" name="Text 17"/>
          <p:cNvSpPr txBox="1"/>
          <p:nvPr/>
        </p:nvSpPr>
        <p:spPr>
          <a:xfrm>
            <a:off x="6507328" y="4069080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문자형 데이터</a:t>
            </a:r>
            <a:endParaRPr lang="en-US" sz="1900" dirty="0"/>
          </a:p>
        </p:txBody>
      </p:sp>
      <p:sp>
        <p:nvSpPr>
          <p:cNvPr id="23" name="Text 18"/>
          <p:cNvSpPr txBox="1"/>
          <p:nvPr/>
        </p:nvSpPr>
        <p:spPr>
          <a:xfrm>
            <a:off x="6507328" y="466344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글자를 담고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한 글자씩 꺼내기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9006611" y="2103120"/>
            <a:ext cx="2499284" cy="3566160"/>
          </a:xfrm>
          <a:prstGeom prst="roundRect">
            <a:avLst>
              <a:gd name="adj" fmla="val 4390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280931" y="2423160"/>
            <a:ext cx="822960" cy="82296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262890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80931" y="3474720"/>
            <a:ext cx="1950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2.4</a:t>
            </a:r>
            <a:endParaRPr lang="en-US" sz="3000" dirty="0"/>
          </a:p>
        </p:txBody>
      </p:sp>
      <p:sp>
        <p:nvSpPr>
          <p:cNvPr id="28" name="Text 22"/>
          <p:cNvSpPr txBox="1"/>
          <p:nvPr/>
        </p:nvSpPr>
        <p:spPr>
          <a:xfrm>
            <a:off x="9280931" y="4069080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함수와 메서드</a:t>
            </a:r>
            <a:endParaRPr lang="en-US" sz="1900" dirty="0"/>
          </a:p>
        </p:txBody>
      </p:sp>
      <p:sp>
        <p:nvSpPr>
          <p:cNvPr id="29" name="Text 23"/>
          <p:cNvSpPr txBox="1"/>
          <p:nvPr/>
        </p:nvSpPr>
        <p:spPr>
          <a:xfrm>
            <a:off x="9280931" y="4663440"/>
            <a:ext cx="20420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데이터를 다루는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도구 사용법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02. 데이터 형식 시작하기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지난 시간엔 '상자(변수)', 오늘은 '상자 속 내용물'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874520"/>
            <a:ext cx="2499284" cy="1463040"/>
          </a:xfrm>
          <a:prstGeom prst="roundRect">
            <a:avLst>
              <a:gd name="adj" fmla="val 6250"/>
            </a:avLst>
          </a:prstGeom>
          <a:solidFill>
            <a:srgbClr val="0D1B3D"/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554480"/>
            <a:ext cx="1950644" cy="548640"/>
          </a:xfrm>
          <a:prstGeom prst="roundRect">
            <a:avLst>
              <a:gd name="adj" fmla="val 16667"/>
            </a:avLst>
          </a:prstGeom>
          <a:solidFill>
            <a:srgbClr val="818C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1554480"/>
            <a:ext cx="1950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86000"/>
            <a:ext cx="24992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4500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2044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숫자 (정수)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88620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59404" y="1874520"/>
            <a:ext cx="2499284" cy="1463040"/>
          </a:xfrm>
          <a:prstGeom prst="roundRect">
            <a:avLst>
              <a:gd name="adj" fmla="val 6250"/>
            </a:avLst>
          </a:prstGeom>
          <a:solidFill>
            <a:srgbClr val="0D1B3D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33724" y="1554480"/>
            <a:ext cx="1950644" cy="54864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33724" y="1554480"/>
            <a:ext cx="1950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459404" y="2286000"/>
            <a:ext cx="24992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459404" y="352044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숫자 (실수)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459404" y="388620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33008" y="1874520"/>
            <a:ext cx="2499284" cy="1463040"/>
          </a:xfrm>
          <a:prstGeom prst="roundRect">
            <a:avLst>
              <a:gd name="adj" fmla="val 6250"/>
            </a:avLst>
          </a:prstGeom>
          <a:solidFill>
            <a:srgbClr val="0D1B3D"/>
          </a:solidFill>
          <a:ln w="25400">
            <a:solidFill>
              <a:srgbClr val="FACC1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1554480"/>
            <a:ext cx="1950644" cy="54864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07328" y="1554480"/>
            <a:ext cx="1950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233008" y="2286000"/>
            <a:ext cx="24992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'아메리카노'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233008" y="352044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글자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33008" y="388620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006611" y="1874520"/>
            <a:ext cx="2499284" cy="1463040"/>
          </a:xfrm>
          <a:prstGeom prst="roundRect">
            <a:avLst>
              <a:gd name="adj" fmla="val 6250"/>
            </a:avLst>
          </a:prstGeom>
          <a:solidFill>
            <a:srgbClr val="0D1B3D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80931" y="1554480"/>
            <a:ext cx="1950644" cy="548640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80931" y="1554480"/>
            <a:ext cx="1950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A11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006611" y="2286000"/>
            <a:ext cx="24992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006611" y="352044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참 / 거짓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006611" y="388620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85800" y="4526280"/>
            <a:ext cx="10820095" cy="1051560"/>
          </a:xfrm>
          <a:prstGeom prst="roundRect">
            <a:avLst>
              <a:gd name="adj" fmla="val 10435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0120" y="4526280"/>
            <a:ext cx="102714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왜 종류를 알아야 할까?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종류(타입)에 따라 할 수 있는 일이 달라요. 숫자는 더하고 곱할 수 있지만, 글자는 대문자로 바꾸거나 나눌 수 있어요. '4500' 과 4500 은 전혀 다른 데이터랍니다!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오늘의 순서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종류 알아보기(2.1) → 숫자(2.2) → 글자(2.3) → 데이터를 다루는 도구, 함수와 메서드(2.4)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2.1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데이터 타입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 값의 종류는 몇 가지일까?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8가지 기본 데이터 타입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type( ) 으로 타입 확인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동적 타이핑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2.1  ·  데이터 타입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파이썬의 기본 데이터 타입 — 8가지 분류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2499284" cy="182880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73352"/>
            <a:ext cx="1219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텍스트 타입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30552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0604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 Busan'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87804" y="16916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087804" y="1691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오늘 2.3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59404" y="1508760"/>
            <a:ext cx="2499284" cy="182880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88004" y="1673352"/>
            <a:ext cx="1219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숫자 타입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688004" y="2130552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· float · complex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88004" y="260604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· 20.5 · 1j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61408" y="16916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61408" y="1691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12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오늘 2.2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33008" y="1508760"/>
            <a:ext cx="2499284" cy="182880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61608" y="1673352"/>
            <a:ext cx="1219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시퀀스 타입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61608" y="2130552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· tuple · range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61608" y="260604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['seoul', 'busan']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35011" y="16916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6366F1">
              <a:alpha val="45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35011" y="1691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 시간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06611" y="1508760"/>
            <a:ext cx="2499284" cy="182880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35211" y="1673352"/>
            <a:ext cx="1219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매핑 타입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235211" y="2130552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235211" y="260604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{'name': 'sam'}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408615" y="16916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6366F1">
              <a:alpha val="45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408615" y="1691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 시간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" y="3566160"/>
            <a:ext cx="2499284" cy="182880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3730752"/>
            <a:ext cx="1219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집합 타입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" y="4187952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· frozenset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14400" y="466344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{'seoul', 'busan'}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087804" y="37490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6366F1">
              <a:alpha val="45000"/>
            </a:srgbClr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087804" y="37490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 시간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59404" y="3566160"/>
            <a:ext cx="2499284" cy="182880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88004" y="3730752"/>
            <a:ext cx="1219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불린 타입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3688004" y="4187952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3688004" y="466344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· False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61408" y="374904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6366F1">
              <a:alpha val="45000"/>
            </a:srgbClr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861408" y="37490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 시간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33008" y="3566160"/>
            <a:ext cx="2499284" cy="182880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61608" y="3730752"/>
            <a:ext cx="1219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A93B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None 타입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6461608" y="4187952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NoneType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461608" y="466344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 (값 없음)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006611" y="3566160"/>
            <a:ext cx="2499284" cy="1828800"/>
          </a:xfrm>
          <a:prstGeom prst="roundRect">
            <a:avLst>
              <a:gd name="adj" fmla="val 6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235211" y="3730752"/>
            <a:ext cx="1219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A93B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바이너리 타입</a:t>
            </a:r>
            <a:endParaRPr lang="en-US" sz="1700" dirty="0"/>
          </a:p>
        </p:txBody>
      </p:sp>
      <p:sp>
        <p:nvSpPr>
          <p:cNvPr id="47" name="Text 45"/>
          <p:cNvSpPr txBox="1"/>
          <p:nvPr/>
        </p:nvSpPr>
        <p:spPr>
          <a:xfrm>
            <a:off x="9235211" y="4187952"/>
            <a:ext cx="21335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bytes · bytearray · memoryview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9235211" y="466344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b'Busan'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핵심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데이터의 유형에 따라 수행할 수 있는 연산이 달라져요 — 숫자는 계산, 문자는 연결 · 자르기!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2.1, Python Built-in Types (docs.python.org)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2.1  ·  데이터 타입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가. type( ) — 값의 종류 확인하기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548640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5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42316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42316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type(x)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3081528"/>
            <a:ext cx="5486400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868680" y="3172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465576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9593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에서는 셀 마지막 줄의 값이 그대로 보여요. print( ) 로 감싸면 &lt;class 'int'&gt; 로 나와요.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1463040"/>
            <a:ext cx="5013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여러 값을 확인해 보면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874520"/>
          <a:ext cx="501365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356055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코드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결과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뜻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type(5)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정수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type(5.0)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실수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type('5')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문자열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type(True)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참/거짓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type(None)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NoneType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값 없음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85800" y="5120640"/>
            <a:ext cx="10820095" cy="502920"/>
          </a:xfrm>
          <a:prstGeom prst="roundRect">
            <a:avLst>
              <a:gd name="adj" fmla="val 21818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4400" y="512064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생김새는 같아도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 · 5.0 · '5' 는 화면에선 비슷해 보여도 모두 다른 타입이에요. 헷갈리면 type( ) 으로 확인!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습관 들이기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데이터를 불러오면 먼저 type( ) 으로 확인 — 계산 오류의 절반은 타입 문제랍니다.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2.1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2.1  ·  데이터 타입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나. 동적 타이핑 — 값을 넣는 순간 타입이 정해져요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949440" cy="3913632"/>
          </a:xfrm>
          <a:prstGeom prst="roundRect">
            <a:avLst>
              <a:gd name="adj" fmla="val 2336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 — 원문 예제 (일부)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94944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 Busan'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pPr indent="0" marL="0">
              <a:buNone/>
            </a:pPr>
            <a:r>
              <a:rPr lang="en-US" sz="11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317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31720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20                             </a:t>
            </a:r>
            <a:pPr indent="0" marL="0">
              <a:buNone/>
            </a:pPr>
            <a:r>
              <a:rPr lang="en-US" sz="11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62432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24328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20.5                           </a:t>
            </a:r>
            <a:pPr indent="0" marL="0">
              <a:buNone/>
            </a:pPr>
            <a:r>
              <a:rPr lang="en-US" sz="11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float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91693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916936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1j                             </a:t>
            </a:r>
            <a:pPr indent="0" marL="0">
              <a:buNone/>
            </a:pPr>
            <a:r>
              <a:rPr lang="en-US" sz="11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complex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20954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209544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[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'seoul'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'ulsan'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</a:t>
            </a:r>
            <a:pPr indent="0" marL="0">
              <a:buNone/>
            </a:pPr>
            <a:r>
              <a:rPr lang="en-US" sz="11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50215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502152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(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'seoul'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'ulsan'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</a:t>
            </a:r>
            <a:pPr indent="0" marL="0">
              <a:buNone/>
            </a:pPr>
            <a:r>
              <a:rPr lang="en-US" sz="11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tuple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7947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794760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range(6)                       </a:t>
            </a:r>
            <a:pPr indent="0" marL="0">
              <a:buNone/>
            </a:pPr>
            <a:r>
              <a:rPr lang="en-US" sz="11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range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" y="408736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087368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{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'sam'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50}   </a:t>
            </a:r>
            <a:pPr indent="0" marL="0">
              <a:buNone/>
            </a:pPr>
            <a:r>
              <a:rPr lang="en-US" sz="11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dict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" y="437997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4379976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{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'seoul'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'ulsan'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  </a:t>
            </a:r>
            <a:pPr indent="0" marL="0">
              <a:buNone/>
            </a:pPr>
            <a:r>
              <a:rPr lang="en-US" sz="11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" y="46725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4672584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</a:t>
            </a:r>
            <a:pPr indent="0" marL="0">
              <a:buNone/>
            </a:pPr>
            <a:r>
              <a:rPr lang="en-US" sz="11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bool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" y="49651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1280160" y="4965192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None                           </a:t>
            </a:r>
            <a:pPr indent="0" marL="0">
              <a:buNone/>
            </a:pPr>
            <a:r>
              <a:rPr lang="en-US" sz="11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NoneType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955280" y="1508760"/>
            <a:ext cx="3550615" cy="2057400"/>
          </a:xfrm>
          <a:prstGeom prst="roundRect">
            <a:avLst>
              <a:gd name="adj" fmla="val 533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183880" y="1508760"/>
            <a:ext cx="309341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동적 타이핑 (dynamic typing)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다른 언어처럼 'int x' 라고 타입을 미리 정하지 않아도, 넣는 값을 보고 파이썬이 알아서 타입을 정해요.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955280" y="3749040"/>
            <a:ext cx="3550615" cy="1783080"/>
          </a:xfrm>
          <a:prstGeom prst="roundRect">
            <a:avLst>
              <a:gd name="adj" fmla="val 6154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183880" y="3749040"/>
            <a:ext cx="309341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같은 상자, 다른 내용물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x 하나에 값을 바꿔 넣을 때마다 x 의 타입도 바뀌어요. 마지막에 넣은 값이 이깁니다!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지금은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list · tuple · dict · set 은 이름만 기억하세요. 다음 시간(03. 데이터 구조)에 하나씩 배워요.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2.1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2.2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숫자형 데이터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숫자의 3가지 모습 : int · float · complex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정수형 int · 실수형 float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복소수형 complex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숫자 형식 변환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숫자형 데이터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숫자형 3가지 — 소수점이 있나 없나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7086600" cy="1207008"/>
          </a:xfrm>
          <a:prstGeom prst="roundRect">
            <a:avLst>
              <a:gd name="adj" fmla="val 9091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184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정수형 int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057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소수점 없는 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(양수 · 음수 · 0)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77640" y="1709928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070D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977640" y="1709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1004   -1004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쓰임 : 판매량, 개수, 연도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2880360"/>
            <a:ext cx="7086600" cy="1207008"/>
          </a:xfrm>
          <a:prstGeom prst="roundRect">
            <a:avLst>
              <a:gd name="adj" fmla="val 9091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9900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실수형 float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4290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소수점이 있는 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(부동 소수점 수)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0" y="3081528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070D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977640" y="3081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   10.0   -3.14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쓰임 : 가격, 비율, 평균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4251960"/>
            <a:ext cx="7086600" cy="1207008"/>
          </a:xfrm>
          <a:prstGeom prst="roundRect">
            <a:avLst>
              <a:gd name="adj" fmla="val 9091"/>
            </a:avLst>
          </a:prstGeom>
          <a:solidFill>
            <a:srgbClr val="0D1B3D"/>
          </a:solidFill>
          <a:ln w="19050">
            <a:solidFill>
              <a:srgbClr val="8A93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3616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8A93B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복소수형 complex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8006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실수부 + 허수부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(a + bj)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977640" y="4453128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070D2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977640" y="44531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1j   3 + 4j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977640" y="4983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쓰임 : 전자공학 · 신호 처리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92440" y="1508760"/>
            <a:ext cx="3413455" cy="2450592"/>
          </a:xfrm>
          <a:prstGeom prst="roundRect">
            <a:avLst>
              <a:gd name="adj" fmla="val 3731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7532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5" name="Shape 23"/>
          <p:cNvSpPr/>
          <p:nvPr/>
        </p:nvSpPr>
        <p:spPr>
          <a:xfrm>
            <a:off x="847648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Shape 24"/>
          <p:cNvSpPr/>
          <p:nvPr/>
        </p:nvSpPr>
        <p:spPr>
          <a:xfrm>
            <a:off x="867765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961120" y="1563624"/>
            <a:ext cx="2316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92440" y="1874520"/>
            <a:ext cx="341345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02168" y="20391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0" y="2039112"/>
            <a:ext cx="2636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202168" y="23317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0" y="2331720"/>
            <a:ext cx="2636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3.14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float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02168" y="262432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0" y="2624328"/>
            <a:ext cx="2636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1j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complex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202168" y="291693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686800" y="2916936"/>
            <a:ext cx="2636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(x)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202168" y="320954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686800" y="3209544"/>
            <a:ext cx="2636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(y)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202168" y="350215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686800" y="3502152"/>
            <a:ext cx="2636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(z)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092440" y="4069080"/>
            <a:ext cx="3413455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42" name="Text 40"/>
          <p:cNvSpPr txBox="1"/>
          <p:nvPr/>
        </p:nvSpPr>
        <p:spPr>
          <a:xfrm>
            <a:off x="8275320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275320" y="4453128"/>
            <a:ext cx="304769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1j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구분법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숫자에 소수점(.)이 있으면 float, 없으면 int — 10 은 int, 10.0 은 float!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2.2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숫자형 데이터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가. 정수형 int · 나. 실수형 float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가. int — 소수점 없는 정수, 크기 제한 없음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2340864"/>
          </a:xfrm>
          <a:prstGeom prst="roundRect">
            <a:avLst>
              <a:gd name="adj" fmla="val 3906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67919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1004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5351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-1004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22783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(type(x))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50215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(type(y))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377647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(type(z))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4325112"/>
            <a:ext cx="5227168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868680" y="4416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4709160"/>
            <a:ext cx="48614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'int'&gt;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'int'&gt;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'int'&gt;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나. float — 소수점이 있는 실수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78728" y="1874520"/>
            <a:ext cx="5227168" cy="2340864"/>
          </a:xfrm>
          <a:prstGeom prst="roundRect">
            <a:avLst>
              <a:gd name="adj" fmla="val 3906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0" name="Shape 28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1" name="Shape 29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88456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873088" y="240487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10.10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388456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873088" y="267919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10.0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.0 만 붙어도 float!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388456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873088" y="295351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-3.14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388456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873088" y="322783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(type(x))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388456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873088" y="350215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(type(y))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388456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873088" y="377647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(type(z))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278728" y="4325112"/>
            <a:ext cx="5227168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47" name="Text 45"/>
          <p:cNvSpPr txBox="1"/>
          <p:nvPr/>
        </p:nvSpPr>
        <p:spPr>
          <a:xfrm>
            <a:off x="6461608" y="4416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6461608" y="4709160"/>
            <a:ext cx="48614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'float'&gt;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'float'&gt;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'float'&gt;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85800" y="562356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엑셀과 비교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엑셀은 숫자가 15자리를 넘으면 뒷자리가 0으로 바뀌지만, 파이썬 int 는 2 ** 100 같은 큰 수도 정확히 계산해요.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2.2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숫자형 데이터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float 의 비밀 — 아주 작은 오차가 생길 수 있어요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566928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(0.1 + 0.2)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42316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42316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(round(0.1 + 0.2, 2))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3081528"/>
            <a:ext cx="5669280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868680" y="3172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46557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0.30000000000000004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1508760"/>
            <a:ext cx="4830775" cy="1965960"/>
          </a:xfrm>
          <a:prstGeom prst="roundRect">
            <a:avLst>
              <a:gd name="adj" fmla="val 5581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1508760"/>
            <a:ext cx="437357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왜 이럴까?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컴퓨터는 숫자를 0과 1(2진수)로 저장해요. 1/3 을 10진수로 0.333…로 끝없이 쓰는 것처럼, 0.1 도 2진수로는 끝이 없어 아주 조금 잘려요.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75120" y="3657600"/>
            <a:ext cx="4830775" cy="1874520"/>
          </a:xfrm>
          <a:prstGeom prst="roundRect">
            <a:avLst>
              <a:gd name="adj" fmla="val 5854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3657600"/>
            <a:ext cx="4373575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버그가 아니에요!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모든 프로그래밍 언어(엑셀 포함)에서 생기는 현상이에요. 결과를 보여 줄 때 round(값, 자릿수) 로 반올림하면 됩니다.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2428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금액 · 비율을 출력할 때는 round( ) 를 습관처럼!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참고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공식 튜토리얼 'Floating-Point Arithmetic: Issues and Limitations' 에 자세히 설명되어 있어요.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Tutorial (docs.python.org/3/tutorial) — Floating-Point Arithmetic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숫자형 데이터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다. 복소수형 complex — 이런 숫자도 있어요 (참고)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수학의 3 + 4i  →  파이썬은 3 + 4j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682496"/>
          </a:xfrm>
          <a:prstGeom prst="roundRect">
            <a:avLst>
              <a:gd name="adj" fmla="val 543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3 + 4j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73405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734056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(x.real)    </a:t>
            </a:r>
            <a:pPr indent="0" marL="0">
              <a:buNone/>
            </a:pPr>
            <a:r>
              <a:rPr lang="en-US" sz="14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실수부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306324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063240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(x.imag)    </a:t>
            </a:r>
            <a:pPr indent="0" marL="0">
              <a:buNone/>
            </a:pPr>
            <a:r>
              <a:rPr lang="en-US" sz="14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허수부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666744"/>
            <a:ext cx="5227168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868680" y="37581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05079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타입과 속성 확인 (원문 예제)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78728" y="1874520"/>
            <a:ext cx="5227168" cy="2340864"/>
          </a:xfrm>
          <a:prstGeom prst="roundRect">
            <a:avLst>
              <a:gd name="adj" fmla="val 3906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4" name="Shape 22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5" name="Shape 23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88456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873088" y="240487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3 + 5j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388456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873088" y="267919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5j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388456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873088" y="295351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-5j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388456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873088" y="322783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(type(x))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388456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873088" y="350215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(type(y), type(z))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388456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873088" y="377647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(x.real, x.imag)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78728" y="4325112"/>
            <a:ext cx="5227168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6461608" y="4416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461608" y="4709160"/>
            <a:ext cx="48614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'complex'&gt;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'complex'&gt; &lt;class 'complex'&gt;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3.0 5.0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5800" y="4572000"/>
            <a:ext cx="5227168" cy="1005840"/>
          </a:xfrm>
          <a:prstGeom prst="roundRect">
            <a:avLst>
              <a:gd name="adj" fmla="val 10909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4400" y="4572000"/>
            <a:ext cx="476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.real / .imag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복소수에 딸린 '속성' — 점(.) 뒤에 붙이는 모양은 2.4절 '메서드'와 비슷해요!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이번 학기에는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비즈니스 데이터 분석에서는 거의 쓰지 않아요. 전자공학 · 신호 처리 · 통신 · 물리학에서 중요합니다.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2.2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숫자형 데이터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라. 형식 변환 — int( ) · float( ) · complex( 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5852160" cy="2743200"/>
          </a:xfrm>
          <a:prstGeom prst="roundRect">
            <a:avLst>
              <a:gd name="adj" fmla="val 333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58521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    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2951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29514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3.14  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float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5511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55117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float(x)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정수 → 실수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072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80720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int(y)      </a:t>
            </a:r>
            <a:pPr indent="0" marL="0">
              <a:buNone/>
            </a:pPr>
            <a:r>
              <a:rPr lang="en-US" sz="13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실수 → 정수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0632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06324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3192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31927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753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57530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(type(a))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" y="38313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383133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(type(b))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4361688"/>
            <a:ext cx="5852160" cy="1453896"/>
          </a:xfrm>
          <a:prstGeom prst="roundRect">
            <a:avLst>
              <a:gd name="adj" fmla="val 503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868680" y="4453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4745736"/>
            <a:ext cx="54864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'float'&gt;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'int'&gt;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508760"/>
          <a:ext cx="464789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280160"/>
                <a:gridCol w="1447495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코드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결과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기억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float(10)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.0 붙음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int(3.14)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버림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int(-3.9)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-3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버림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round(3.14)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반올림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complex(10)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(10+0j)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허수부 0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858000" y="4526280"/>
            <a:ext cx="4647895" cy="1188720"/>
          </a:xfrm>
          <a:prstGeom prst="roundRect">
            <a:avLst>
              <a:gd name="adj" fmla="val 9231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040880" y="4526280"/>
            <a:ext cx="42821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주의 ①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int( ) 는 반올림이 아니라 '버림'!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주의 ②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round(2.5) → 2, round(3.5) → 4 (.5 는 짝수 쪽으로)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2.2, Python Built-in Functions — round()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2.2  ·  숫자형 데이터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2.1 · 2.2 핵심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739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데이터 타입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544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str · int · float · complex · list · tuple · dict · set · bool · None …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83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type( ) · 동적 타이핑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24688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값을 넣는 순간 타입 결정 — type( ) 으로 확인하는 습관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3832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027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int · float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343400" y="33832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소수점 유무로 구분 — float 은 작은 오차 → round( ) 로 정리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85800" y="42976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171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97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형식 변환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343400" y="42976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float( ) · int( )(버림!) · complex( ),  반올림은 round( )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다음으로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이제 글자 데이터를 다뤄 봅시다 → 2.3 문자형 데이터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2.3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문자형 데이터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글자를 담고, 한 글자씩 꺼내 쓰기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문자열 만들기 (따옴표 · 여러 줄)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인덱싱과 슬라이싱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for 반복 · len( ) · in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문자형 데이터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가. 문자열 만들기 — 따옴표로 감싸면 글자!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작은따옴표 · 큰따옴표 — 둘 다 같아요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938528"/>
          </a:xfrm>
          <a:prstGeom prst="roundRect">
            <a:avLst>
              <a:gd name="adj" fmla="val 4717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7157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715768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"Busan"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302666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026664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== b)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333756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337560"/>
            <a:ext cx="444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"It's Busan"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3922776"/>
            <a:ext cx="5227168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68680" y="4014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306824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It's Busan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010912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글자 안에 ' 가 있으면 바깥을 " 로 감싸면 돼요.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따옴표가 있고 없고의 차이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874520"/>
          <a:ext cx="5227168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2849728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코드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타입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뜻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4500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숫자 4500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'4500'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글자 '4','5','0','0'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Busan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변수 이름 (없으면 오류)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'Busan'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글자 Busan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85800" y="562356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자주 하는 실수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print(Busan) → NameError! 따옴표가 없으면 파이썬은 Busan 을 '변수 이름'으로 생각해요.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2.3, Python Tutorial (docs.python.org/3/tutorial) — Text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문자형 데이터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여러 줄 문자열과 특수 문자 (\n · \t)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따옴표 세 개 ''' ''' — 여러 줄 그대로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865376"/>
          </a:xfrm>
          <a:prstGeom prst="roundRect">
            <a:avLst>
              <a:gd name="adj" fmla="val 4902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notice =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'[파이썬 카페 공지]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6974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697480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영업시간 : 09:00 ~ 21:00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9900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90088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매주 월요일 휴무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328269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282696"/>
            <a:ext cx="444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(notice)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3849624"/>
            <a:ext cx="5227168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68680" y="39410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233672"/>
            <a:ext cx="48614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[파이썬 카페 공지]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영업시간 : 09:00 ~ 21:00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매주 월요일 휴무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\n 은 줄 바꿈, \t 는 탭(간격)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78728" y="1874520"/>
            <a:ext cx="5227168" cy="1353312"/>
          </a:xfrm>
          <a:prstGeom prst="roundRect">
            <a:avLst>
              <a:gd name="adj" fmla="val 6757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6" name="Shape 24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7" name="Shape 25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88456" y="240487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873088" y="2404872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'아메리카노\n라떼'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388456" y="273405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73088" y="2734056"/>
            <a:ext cx="444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'메뉴\t가격'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78728" y="3337560"/>
            <a:ext cx="5227168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6461608" y="3429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61608" y="3721608"/>
            <a:ext cx="48614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아메리카노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라떼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메뉴    가격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85800" y="562356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읽는 법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\ (역슬래시) + 글자 = '특수 문자'. 키보드의 ₩ 키가 역슬래시예요 (한글 글꼴에서는 ₩ 로 보여요).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2.3, Python Tutorial (docs.python.org/3/tutorial) — Text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문자형 데이터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나. 문자열은 '글자 배열' — 인덱스로 한 글자씩 꺼내기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 = 'Python'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양수 인덱스 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음수 인덱스 →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0116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08760" y="2468880"/>
            <a:ext cx="1051560" cy="914400"/>
          </a:xfrm>
          <a:prstGeom prst="rect">
            <a:avLst/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08760" y="246888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4747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-6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0116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60320" y="2468880"/>
            <a:ext cx="1051560" cy="914400"/>
          </a:xfrm>
          <a:prstGeom prst="rect">
            <a:avLst/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60320" y="246888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34747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20116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11880" y="2468880"/>
            <a:ext cx="1051560" cy="914400"/>
          </a:xfrm>
          <a:prstGeom prst="rect">
            <a:avLst/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11880" y="246888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3611880" y="34747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0116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63440" y="2468880"/>
            <a:ext cx="1051560" cy="914400"/>
          </a:xfrm>
          <a:prstGeom prst="rect">
            <a:avLst/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63440" y="246888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34747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715000" y="20116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0" y="2468880"/>
            <a:ext cx="1051560" cy="914400"/>
          </a:xfrm>
          <a:prstGeom prst="rect">
            <a:avLst/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15000" y="246888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5715000" y="34747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20116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766560" y="2468880"/>
            <a:ext cx="1051560" cy="914400"/>
          </a:xfrm>
          <a:prstGeom prst="rect">
            <a:avLst/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66560" y="246888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34747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83880" y="1508760"/>
            <a:ext cx="3322015" cy="1682496"/>
          </a:xfrm>
          <a:prstGeom prst="roundRect">
            <a:avLst>
              <a:gd name="adj" fmla="val 543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6676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4" name="Shape 32"/>
          <p:cNvSpPr/>
          <p:nvPr/>
        </p:nvSpPr>
        <p:spPr>
          <a:xfrm>
            <a:off x="856792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5" name="Shape 33"/>
          <p:cNvSpPr/>
          <p:nvPr/>
        </p:nvSpPr>
        <p:spPr>
          <a:xfrm>
            <a:off x="876909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052560" y="1563624"/>
            <a:ext cx="22247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83880" y="1874520"/>
            <a:ext cx="332201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93608" y="203911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778240" y="2039112"/>
            <a:ext cx="2544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(word[0])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293608" y="23682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778240" y="2368296"/>
            <a:ext cx="2544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(word[1])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8293608" y="269748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778240" y="2697480"/>
            <a:ext cx="2544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(word[-1])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183880" y="3300984"/>
            <a:ext cx="3322015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8366760" y="3392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8366760" y="3685032"/>
            <a:ext cx="29562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85800" y="4114800"/>
            <a:ext cx="7178040" cy="1463040"/>
          </a:xfrm>
          <a:prstGeom prst="roundRect">
            <a:avLst>
              <a:gd name="adj" fmla="val 75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60120" y="4114800"/>
            <a:ext cx="6629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인덱스는 0 부터!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첫 글자가 [0], 두 번째가 [1] … 마지막 글자는 [-1] 로 거꾸로 셀 수도 있어요. 사물함 번호가 0번부터 시작한다고 생각하세요.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한글도 OK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문자열은 유니코드로 처리돼서 '파이썬'[0] → '파' 처럼 한글도 한 글자씩 꺼낼 수 있어요.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2.3, Python Tutorial (docs.python.org/3/tutorial) — Text (indexing)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문자형 데이터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슬라이싱 [시작 : 끝] — 원하는 만큼 잘라내기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'Hello Busan'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1920240"/>
            <a:ext cx="566928" cy="685800"/>
          </a:xfrm>
          <a:prstGeom prst="rect">
            <a:avLst/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920240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35608" y="1920240"/>
            <a:ext cx="566928" cy="685800"/>
          </a:xfrm>
          <a:prstGeom prst="rect">
            <a:avLst/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35608" y="1920240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35608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02536" y="1920240"/>
            <a:ext cx="566928" cy="685800"/>
          </a:xfrm>
          <a:prstGeom prst="rect">
            <a:avLst/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02536" y="1920240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002536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9464" y="1920240"/>
            <a:ext cx="566928" cy="685800"/>
          </a:xfrm>
          <a:prstGeom prst="rect">
            <a:avLst/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69464" y="1920240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2569464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36392" y="1920240"/>
            <a:ext cx="566928" cy="685800"/>
          </a:xfrm>
          <a:prstGeom prst="rect">
            <a:avLst/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36392" y="1920240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136392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03320" y="1920240"/>
            <a:ext cx="566928" cy="685800"/>
          </a:xfrm>
          <a:prstGeom prst="rect">
            <a:avLst/>
          </a:prstGeom>
          <a:solidFill>
            <a:srgbClr val="0D1B3D"/>
          </a:solidFill>
          <a:ln w="19050">
            <a:solidFill>
              <a:srgbClr val="8A93B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03320" y="1920240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␣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3703320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70248" y="1920240"/>
            <a:ext cx="566928" cy="685800"/>
          </a:xfrm>
          <a:prstGeom prst="rect">
            <a:avLst/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70248" y="1920240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270248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37176" y="1920240"/>
            <a:ext cx="566928" cy="685800"/>
          </a:xfrm>
          <a:prstGeom prst="rect">
            <a:avLst/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37176" y="1920240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4837176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04104" y="1920240"/>
            <a:ext cx="566928" cy="685800"/>
          </a:xfrm>
          <a:prstGeom prst="rect">
            <a:avLst/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04104" y="1920240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5404104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71032" y="1920240"/>
            <a:ext cx="566928" cy="685800"/>
          </a:xfrm>
          <a:prstGeom prst="rect">
            <a:avLst/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71032" y="1920240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5971032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37960" y="1920240"/>
            <a:ext cx="566928" cy="685800"/>
          </a:xfrm>
          <a:prstGeom prst="rect">
            <a:avLst/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37960" y="1920240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6537960" y="2651760"/>
            <a:ext cx="566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154680"/>
          <a:ext cx="74980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310896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코드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결과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읽는 법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s[0:5]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'Hello'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0번부터 5번 '앞'까지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s[:5]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'Hello'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처음부터 5번 앞까지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s[6:]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'Busan'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6번부터 끝까지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s[-3:]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'san'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뒤에서 3글자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s[::-1]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'nasuB olleH'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거꾸로 뒤집기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40" name="Shape 37"/>
          <p:cNvSpPr/>
          <p:nvPr/>
        </p:nvSpPr>
        <p:spPr>
          <a:xfrm>
            <a:off x="8503920" y="3154680"/>
            <a:ext cx="3001975" cy="2560320"/>
          </a:xfrm>
          <a:prstGeom prst="roundRect">
            <a:avLst>
              <a:gd name="adj" fmla="val 4286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732520" y="3154680"/>
            <a:ext cx="254477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끝 번호는 '포함 안 됨'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[0:5] 는 0,1,2,3,4 — 5번은 빠져요. '끝 바로 앞에서 멈춘다'고 기억하세요.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글자 수 = 끝 − 시작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685800" y="5852160"/>
            <a:ext cx="10820095" cy="411480"/>
          </a:xfrm>
          <a:prstGeom prst="roundRect">
            <a:avLst>
              <a:gd name="adj" fmla="val 26667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14400" y="585216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데이터 분석에서는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'2026-10-05'[:4] → '2026' 처럼 날짜에서 연도만 뽑을 때 자주 써요!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Tutorial (docs.python.org/3/tutorial) — Text (slicing)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문자형 데이터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다. for 반복 · 라. 길이 len( ) · 마. 포함 확인 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다. 한 글자씩 반복 (for)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3423818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2326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342381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2404872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697480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264408"/>
            <a:ext cx="3423818" cy="1691640"/>
          </a:xfrm>
          <a:prstGeom prst="roundRect">
            <a:avLst>
              <a:gd name="adj" fmla="val 432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68680" y="3355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648456"/>
            <a:ext cx="305805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093208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for 문은 04장에서 자세히!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383938" y="146304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라. 글자 수 세기 len( 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83938" y="1874520"/>
            <a:ext cx="3423818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6681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1" name="Shape 19"/>
          <p:cNvSpPr/>
          <p:nvPr/>
        </p:nvSpPr>
        <p:spPr>
          <a:xfrm>
            <a:off x="476798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2" name="Shape 20"/>
          <p:cNvSpPr/>
          <p:nvPr/>
        </p:nvSpPr>
        <p:spPr>
          <a:xfrm>
            <a:off x="496915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252618" y="1929384"/>
            <a:ext cx="2326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3938" y="2240280"/>
            <a:ext cx="342381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66818" y="2404872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 =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'파이썬 카페'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66818" y="2697480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(len(msg))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83938" y="3264408"/>
            <a:ext cx="342381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4566818" y="3355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66818" y="3648456"/>
            <a:ext cx="305805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383938" y="4142232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띄어쓰기도 1글자로 세요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082077" y="146304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마. 들어 있나? in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82077" y="1874520"/>
            <a:ext cx="3423818" cy="1572768"/>
          </a:xfrm>
          <a:prstGeom prst="roundRect">
            <a:avLst>
              <a:gd name="adj" fmla="val 5814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64957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4" name="Shape 32"/>
          <p:cNvSpPr/>
          <p:nvPr/>
        </p:nvSpPr>
        <p:spPr>
          <a:xfrm>
            <a:off x="8466125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5" name="Shape 33"/>
          <p:cNvSpPr/>
          <p:nvPr/>
        </p:nvSpPr>
        <p:spPr>
          <a:xfrm>
            <a:off x="8667293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950757" y="1929384"/>
            <a:ext cx="2326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82077" y="2240280"/>
            <a:ext cx="342381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64957" y="2404872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 =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'아이스 아메리카노'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264957" y="2697480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'아이스'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menu)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264957" y="29900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'라떼'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menu)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82077" y="3557016"/>
            <a:ext cx="3423818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42" name="Text 40"/>
          <p:cNvSpPr txBox="1"/>
          <p:nvPr/>
        </p:nvSpPr>
        <p:spPr>
          <a:xfrm>
            <a:off x="8264957" y="36484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264957" y="3941064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082077" y="4672584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메뉴 · 리뷰 검색에 활용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텍스트 분석의 첫걸음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리뷰에 '맛있' 이 들어 있는지(in), 리뷰가 얼마나 긴지(len) — 고객 리뷰 분석이 여기서 시작해요!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wikidocs 「비즈니스 데이터 분석 with Python」(김진성) 2.3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문자형 데이터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문자열에 변수 끼워 넣기 — f-string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217920" cy="2011680"/>
          </a:xfrm>
          <a:prstGeom prst="roundRect">
            <a:avLst>
              <a:gd name="adj" fmla="val 4545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21792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'아메리카노'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682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68296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4500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69748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97480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'{name}의 가격은 {price}원'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302666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026664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'{name}의 가격은 {price:,}원'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630168"/>
            <a:ext cx="6217920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868680" y="3721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01421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아메리카노의 가격은 4500원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아메리카노의 가격은 4,500원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23760" y="1508760"/>
            <a:ext cx="428213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0" y="1673352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06640" y="1673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1636776"/>
            <a:ext cx="3459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따옴표 앞에 f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1984248"/>
            <a:ext cx="3459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f'...' — format(서식)의 f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223760" y="2487168"/>
            <a:ext cx="428213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06640" y="265176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0664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2615184"/>
            <a:ext cx="3459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{ } 안에 변수 이름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863840" y="2962656"/>
            <a:ext cx="3459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그 자리에 변수 값이 들어가요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223760" y="3465576"/>
            <a:ext cx="428213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06640" y="3630168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40664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863840" y="3593592"/>
            <a:ext cx="3459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{price:,}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863840" y="3941064"/>
            <a:ext cx="3459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천 단위 쉼표 넣기 (금액 표시에 최고!)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5800" y="4791456"/>
            <a:ext cx="6217920" cy="868680"/>
          </a:xfrm>
          <a:prstGeom prst="roundRect">
            <a:avLst>
              <a:gd name="adj" fmla="val 12632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4400" y="4791456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+ 로 붙이면?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name + '의 가격은 ' + str(price) + '원' — 길고 str( ) 도 필요해요. f-string 이 훨씬 편해요!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더 알아보기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출력 서식은 '입력문과 출력문' 장에서 자세히 배워요. 지금은 f 와 { } 만 기억!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Tutorial (docs.python.org/3/tutorial) — Formatted String Literals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2.3  ·  문자형 데이터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2.3 핵심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739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문자열 만들기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544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 ' 또는 " " 로 감싸기, 여러 줄은 ''' ''',  \n 줄바꿈 · \t 탭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83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인덱싱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24688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s[0] 첫 글자, s[-1] 마지막 글자 — 번호는 0부터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3832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027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슬라이싱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343400" y="33832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s[시작:끝] — 끝 바로 앞까지,  s[:4] · s[6:] · s[::-1]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85800" y="42976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171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97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for · len · in · f-string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343400" y="42976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한 글자씩 반복 · 글자 수 · 포함 여부 · 변수 끼워 넣기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다음으로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글자를 '다루는 도구'를 배워 봅시다 → 2.4 함수와 메서드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188720"/>
            <a:ext cx="4206240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783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2.4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함수와 메서드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데이터를 다루는 '도구' 사용법 — 천천히, 예제로!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441655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4297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함수 = 자판기 (넣으면 나온다)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800600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88720" y="46817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메서드 = 리모컨 버튼 (그 데이터 전용)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14400" y="5184648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506577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문자열 메서드 6가지 묶음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2.4  ·  함수와 메서드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함수란? — '넣으면 결과가 나오는' 자판기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9164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넣는 것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86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인자 (argument)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2468880"/>
            <a:ext cx="822960" cy="45720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1600200"/>
            <a:ext cx="2926080" cy="2194560"/>
          </a:xfrm>
          <a:prstGeom prst="roundRect">
            <a:avLst>
              <a:gd name="adj" fmla="val 6250"/>
            </a:avLst>
          </a:prstGeom>
          <a:solidFill>
            <a:srgbClr val="6366F1">
              <a:alpha val="60000"/>
            </a:srgbClr>
          </a:solidFill>
          <a:ln w="25400">
            <a:solidFill>
              <a:srgbClr val="818CF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783080"/>
            <a:ext cx="640080" cy="6400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2628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함수 len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'글자 수를 세는 기계'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589520" y="2468880"/>
            <a:ext cx="822960" cy="45720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5" name="Shape 12"/>
          <p:cNvSpPr/>
          <p:nvPr/>
        </p:nvSpPr>
        <p:spPr>
          <a:xfrm>
            <a:off x="8549640" y="1691640"/>
            <a:ext cx="2956255" cy="2011680"/>
          </a:xfrm>
          <a:prstGeom prst="roundRect">
            <a:avLst>
              <a:gd name="adj" fmla="val 5455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49640" y="1828800"/>
            <a:ext cx="2956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③ 나오는 것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549640" y="2286000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8549640" y="3063240"/>
            <a:ext cx="2956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반환값 (return value)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5800" y="3977640"/>
            <a:ext cx="10820095" cy="731520"/>
          </a:xfrm>
          <a:prstGeom prst="roundRect">
            <a:avLst>
              <a:gd name="adj" fmla="val 12500"/>
            </a:avLst>
          </a:prstGeom>
          <a:solidFill>
            <a:srgbClr val="070D2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397764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ctr" indent="0" marL="0">
              <a:buNone/>
            </a:pPr>
            <a:r>
              <a:rPr lang="en-US" sz="2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→      5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685800" y="4892040"/>
            <a:ext cx="10820095" cy="685800"/>
          </a:xfrm>
          <a:prstGeom prst="roundRect">
            <a:avLst>
              <a:gd name="adj" fmla="val 16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60120" y="4892040"/>
            <a:ext cx="1027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자판기와 똑같아요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돈과 버튼(넣는 것) → 자판기(함수)가 일을 함 → 음료(결과)가 나옴. 안에서 어떻게 동작하는지 몰라도 쓸 수 있어요!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한 줄 정의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함수 = 특정 일을 하도록 미리 만들어 둔 코드 묶음. 이름 뒤에 ( ) 를 붙여서 부른다!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Tutorial (docs.python.org/3/tutorial) — Built-in Functions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2.4  ·  함수와 메서드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함수 사용법 해부하기 — 이름( 넣을 값 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1737360"/>
            <a:ext cx="8991295" cy="1097280"/>
          </a:xfrm>
          <a:prstGeom prst="roundRect">
            <a:avLst>
              <a:gd name="adj" fmla="val 10000"/>
            </a:avLst>
          </a:prstGeom>
          <a:solidFill>
            <a:srgbClr val="070D20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00200" y="1737360"/>
            <a:ext cx="8991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algn="ctr" indent="0" marL="0">
              <a:buNone/>
            </a:pPr>
            <a:r>
              <a:rPr lang="en-US" sz="4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ctr" indent="0" marL="0">
              <a:buNone/>
            </a:pPr>
            <a:r>
              <a:rPr lang="en-US" sz="40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ctr" indent="0" marL="0">
              <a:buNone/>
            </a:pPr>
            <a:r>
              <a:rPr lang="en-US" sz="4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ctr" indent="0" marL="0">
              <a:buNone/>
            </a:pPr>
            <a:r>
              <a:rPr lang="en-US" sz="4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algn="ctr" indent="0" marL="0">
              <a:buNone/>
            </a:pPr>
            <a:r>
              <a:rPr lang="en-US" sz="4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85800" y="3108960"/>
            <a:ext cx="2499284" cy="1600200"/>
          </a:xfrm>
          <a:prstGeom prst="roundRect">
            <a:avLst>
              <a:gd name="adj" fmla="val 6857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20040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70332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결과를 담을 변수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114800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나온 값을 상자에 보관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59404" y="3108960"/>
            <a:ext cx="2499284" cy="1600200"/>
          </a:xfrm>
          <a:prstGeom prst="roundRect">
            <a:avLst>
              <a:gd name="adj" fmla="val 6857"/>
            </a:avLst>
          </a:prstGeom>
          <a:solidFill>
            <a:srgbClr val="0D1B3D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59404" y="320040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59404" y="370332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함수 이름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96564" y="4114800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무슨 일을 할지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33008" y="3108960"/>
            <a:ext cx="2499284" cy="1600200"/>
          </a:xfrm>
          <a:prstGeom prst="roundRect">
            <a:avLst>
              <a:gd name="adj" fmla="val 6857"/>
            </a:avLst>
          </a:prstGeom>
          <a:solidFill>
            <a:srgbClr val="0D1B3D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33008" y="320040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)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33008" y="370332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괄호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70168" y="4114800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'지금 실행해!' 신호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06611" y="3108960"/>
            <a:ext cx="2499284" cy="1600200"/>
          </a:xfrm>
          <a:prstGeom prst="roundRect">
            <a:avLst>
              <a:gd name="adj" fmla="val 6857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06611" y="320040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006611" y="370332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인자 (넣는 값)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143771" y="4114800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함수에 건네줄 재료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4892040"/>
            <a:ext cx="10820095" cy="685800"/>
          </a:xfrm>
          <a:prstGeom prst="roundRect">
            <a:avLst>
              <a:gd name="adj" fmla="val 16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4892040"/>
            <a:ext cx="1027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인자가 여러 개면?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쉼표로 구분 →  round(3.14159, 2)  : '3.14159 를 소수 2자리로'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괄호를 빠뜨리면?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len 만 쓰면 '기계'만 가리킬 뿐 실행되지 않아요. 꼭 len( ) 처럼 괄호까지!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Tutorial (docs.python.org/3/tutorial) — Built-in Functions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2.4  ·  함수와 메서드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사실 우리는 이미 함수를 쓰고 있었어요!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3423818" cy="1691640"/>
          </a:xfrm>
          <a:prstGeom prst="roundRect">
            <a:avLst>
              <a:gd name="adj" fmla="val 6486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709928"/>
            <a:ext cx="548640" cy="54864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47088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691640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 )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039112"/>
            <a:ext cx="2417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화면에 출력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14400" y="2514600"/>
            <a:ext cx="2966618" cy="457200"/>
          </a:xfrm>
          <a:prstGeom prst="roundRect">
            <a:avLst>
              <a:gd name="adj" fmla="val 16000"/>
            </a:avLst>
          </a:prstGeom>
          <a:solidFill>
            <a:srgbClr val="070D2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05840" y="251460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print('Hi')  →  Hi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83938" y="1508760"/>
            <a:ext cx="3423818" cy="1691640"/>
          </a:xfrm>
          <a:prstGeom prst="roundRect">
            <a:avLst>
              <a:gd name="adj" fmla="val 6486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12538" y="1709928"/>
            <a:ext cx="548640" cy="54864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84708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98338" y="1691640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 )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5298338" y="2039112"/>
            <a:ext cx="2417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타입 알려 주기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612538" y="2514600"/>
            <a:ext cx="2966618" cy="457200"/>
          </a:xfrm>
          <a:prstGeom prst="roundRect">
            <a:avLst>
              <a:gd name="adj" fmla="val 16000"/>
            </a:avLst>
          </a:prstGeom>
          <a:solidFill>
            <a:srgbClr val="070D2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703978" y="251460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type(3.5)  →  float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082077" y="1508760"/>
            <a:ext cx="3423818" cy="1691640"/>
          </a:xfrm>
          <a:prstGeom prst="roundRect">
            <a:avLst>
              <a:gd name="adj" fmla="val 6486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310677" y="1709928"/>
            <a:ext cx="548640" cy="54864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837" y="1847088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996477" y="1691640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 )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8996477" y="2039112"/>
            <a:ext cx="2417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정수로 바꾸기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8310677" y="2514600"/>
            <a:ext cx="2966618" cy="457200"/>
          </a:xfrm>
          <a:prstGeom prst="roundRect">
            <a:avLst>
              <a:gd name="adj" fmla="val 16000"/>
            </a:avLst>
          </a:prstGeom>
          <a:solidFill>
            <a:srgbClr val="070D20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402117" y="251460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int('7')  →  7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85800" y="3383280"/>
            <a:ext cx="3423818" cy="1691640"/>
          </a:xfrm>
          <a:prstGeom prst="roundRect">
            <a:avLst>
              <a:gd name="adj" fmla="val 6486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14400" y="3584448"/>
            <a:ext cx="548640" cy="54864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721608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600200" y="3566160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float( )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1600200" y="3913632"/>
            <a:ext cx="2417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실수로 바꾸기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914400" y="4389120"/>
            <a:ext cx="2966618" cy="457200"/>
          </a:xfrm>
          <a:prstGeom prst="roundRect">
            <a:avLst>
              <a:gd name="adj" fmla="val 16000"/>
            </a:avLst>
          </a:prstGeom>
          <a:solidFill>
            <a:srgbClr val="070D20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1005840" y="438912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float(7)  →  7.0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4383938" y="3383280"/>
            <a:ext cx="3423818" cy="1691640"/>
          </a:xfrm>
          <a:prstGeom prst="roundRect">
            <a:avLst>
              <a:gd name="adj" fmla="val 6486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612538" y="3584448"/>
            <a:ext cx="548640" cy="54864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698" y="3721608"/>
            <a:ext cx="274320" cy="27432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5298338" y="3566160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 )</a:t>
            </a:r>
            <a:endParaRPr lang="en-US" sz="1800" dirty="0"/>
          </a:p>
        </p:txBody>
      </p:sp>
      <p:sp>
        <p:nvSpPr>
          <p:cNvPr id="37" name="Text 30"/>
          <p:cNvSpPr txBox="1"/>
          <p:nvPr/>
        </p:nvSpPr>
        <p:spPr>
          <a:xfrm>
            <a:off x="5298338" y="3913632"/>
            <a:ext cx="2417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문자열로 바꾸기</a:t>
            </a:r>
            <a:endParaRPr lang="en-US" sz="1400" dirty="0"/>
          </a:p>
        </p:txBody>
      </p:sp>
      <p:sp>
        <p:nvSpPr>
          <p:cNvPr id="38" name="Shape 31"/>
          <p:cNvSpPr/>
          <p:nvPr/>
        </p:nvSpPr>
        <p:spPr>
          <a:xfrm>
            <a:off x="4612538" y="4389120"/>
            <a:ext cx="2966618" cy="457200"/>
          </a:xfrm>
          <a:prstGeom prst="roundRect">
            <a:avLst>
              <a:gd name="adj" fmla="val 16000"/>
            </a:avLst>
          </a:prstGeom>
          <a:solidFill>
            <a:srgbClr val="070D20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4703978" y="438912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str(7)  →  '7'</a:t>
            </a:r>
            <a:endParaRPr lang="en-US" sz="1300" dirty="0"/>
          </a:p>
        </p:txBody>
      </p:sp>
      <p:sp>
        <p:nvSpPr>
          <p:cNvPr id="40" name="Shape 33"/>
          <p:cNvSpPr/>
          <p:nvPr/>
        </p:nvSpPr>
        <p:spPr>
          <a:xfrm>
            <a:off x="8082077" y="3383280"/>
            <a:ext cx="3423818" cy="1691640"/>
          </a:xfrm>
          <a:prstGeom prst="roundRect">
            <a:avLst>
              <a:gd name="adj" fmla="val 6486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310677" y="3584448"/>
            <a:ext cx="548640" cy="54864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7837" y="3721608"/>
            <a:ext cx="274320" cy="274320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8996477" y="3566160"/>
            <a:ext cx="2417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 )</a:t>
            </a:r>
            <a:endParaRPr lang="en-US" sz="1800" dirty="0"/>
          </a:p>
        </p:txBody>
      </p:sp>
      <p:sp>
        <p:nvSpPr>
          <p:cNvPr id="44" name="Text 36"/>
          <p:cNvSpPr txBox="1"/>
          <p:nvPr/>
        </p:nvSpPr>
        <p:spPr>
          <a:xfrm>
            <a:off x="8996477" y="3913632"/>
            <a:ext cx="2417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길이 세기</a:t>
            </a:r>
            <a:endParaRPr lang="en-US" sz="1400" dirty="0"/>
          </a:p>
        </p:txBody>
      </p:sp>
      <p:sp>
        <p:nvSpPr>
          <p:cNvPr id="45" name="Shape 37"/>
          <p:cNvSpPr/>
          <p:nvPr/>
        </p:nvSpPr>
        <p:spPr>
          <a:xfrm>
            <a:off x="8310677" y="4389120"/>
            <a:ext cx="2966618" cy="457200"/>
          </a:xfrm>
          <a:prstGeom prst="roundRect">
            <a:avLst>
              <a:gd name="adj" fmla="val 16000"/>
            </a:avLst>
          </a:prstGeom>
          <a:solidFill>
            <a:srgbClr val="070D20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8402117" y="438912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len('파이썬')  →  3</a:t>
            </a:r>
            <a:endParaRPr lang="en-US" sz="1300" dirty="0"/>
          </a:p>
        </p:txBody>
      </p:sp>
      <p:sp>
        <p:nvSpPr>
          <p:cNvPr id="47" name="Shape 39"/>
          <p:cNvSpPr/>
          <p:nvPr/>
        </p:nvSpPr>
        <p:spPr>
          <a:xfrm>
            <a:off x="685800" y="5486400"/>
            <a:ext cx="10820095" cy="640080"/>
          </a:xfrm>
          <a:prstGeom prst="roundRect">
            <a:avLst>
              <a:gd name="adj" fmla="val 17143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914400" y="54864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내장 함수(built-in)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파이썬을 설치하면 처음부터 들어 있는 함수 — import 없이 바로 써요. 전부 '이름( )' 모양이죠?</a:t>
            </a:r>
            <a:endParaRPr lang="en-US" sz="1500" dirty="0"/>
          </a:p>
        </p:txBody>
      </p:sp>
      <p:sp>
        <p:nvSpPr>
          <p:cNvPr id="49" name="Text 4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Built-in Functions (docs.python.org/3/library/functions.html)</a:t>
            </a:r>
            <a:endParaRPr lang="en-US" sz="1000" dirty="0"/>
          </a:p>
        </p:txBody>
      </p:sp>
      <p:sp>
        <p:nvSpPr>
          <p:cNvPr id="50" name="Text 4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2.4  ·  함수와 메서드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자주 쓰는 내장 함수 ① — 숫자 다루기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81381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310896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함수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하는 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예시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결과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abs(x)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절댓값 (부호 떼기)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abs(-7)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round(x)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반올림 (정수로)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round(3.7)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round(x, n)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소수 n자리로 반올림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round(3.14159, 2)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3.14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max(…)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가장 큰 값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max(3, 9, 5)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min(…)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가장 작은 값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min(3, 9, 5)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sum([…])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합계 (목록을 넣음)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sum([4500, 5000, 3000])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12500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098280" y="1508760"/>
            <a:ext cx="2407615" cy="3520440"/>
          </a:xfrm>
          <a:prstGeom prst="roundRect">
            <a:avLst>
              <a:gd name="adj" fmla="val 455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81160" y="1508760"/>
            <a:ext cx="2087575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카페 예시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오늘 3잔 판매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4500, 5000, 3000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합계 sum → 12500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최고 max → 5000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최저 min → 3000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525780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52578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[ ] 는?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여러 값을 묶은 '리스트' — sum([…]) 처럼 묶어서 넣어요. 다음 시간(03. 데이터 구조)에 자세히!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85800" y="580644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58064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round 주의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round(2.5) → 2,  round(3.5) → 4 — 딱 .5 일 때는 가까운 짝수로 가요.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Built-in Functions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2.4  ·  함수와 메서드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반환값을 '변수에 담아' 계속 쓰기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반환값을 변수에 저장하고 다시 계산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389888"/>
          </a:xfrm>
          <a:prstGeom prst="roundRect">
            <a:avLst>
              <a:gd name="adj" fmla="val 657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len(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</a:t>
            </a:r>
            <a:pPr indent="0" marL="0">
              <a:buNone/>
            </a:pPr>
            <a:r>
              <a:rPr lang="en-US" sz="14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 에 5 저장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75234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752344"/>
            <a:ext cx="444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 + 1)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3374136"/>
            <a:ext cx="522716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868680" y="3465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758184"/>
            <a:ext cx="486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함수 안에 함수 — 안쪽부터 계산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78728" y="1874520"/>
            <a:ext cx="5227168" cy="1389888"/>
          </a:xfrm>
          <a:prstGeom prst="roundRect">
            <a:avLst>
              <a:gd name="adj" fmla="val 657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2" name="Shape 20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3" name="Shape 21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88456" y="240487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73088" y="2404872"/>
            <a:ext cx="444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388456" y="275234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873088" y="2752344"/>
            <a:ext cx="444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(type(len(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78728" y="3374136"/>
            <a:ext cx="5227168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6461608" y="3465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61608" y="3758184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&lt;class 'int'&gt;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5800" y="4434840"/>
            <a:ext cx="10820095" cy="1097280"/>
          </a:xfrm>
          <a:prstGeom prst="roundRect">
            <a:avLst>
              <a:gd name="adj" fmla="val 10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0120" y="4434840"/>
            <a:ext cx="102714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print 와 반환값의 차이 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len('Busan') 은 값 5 를 '돌려줄' 뿐, 화면에 보여 주는 건 print 의 일. 안쪽부터 : ① len → 5  ② type(5) → int  ③ print 로 출력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기억하기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자판기 음료를 손에 들고 있다가(변수) 나중에 마시듯 — 결과값은 담고, 넣고, 계산에 쓸 수 있어요!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Built-in Functions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2.4  ·  함수와 메서드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메서드란? — 그 데이터에 딸린 '전용 리모컨 버튼'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3423818" cy="3063240"/>
          </a:xfrm>
          <a:prstGeom prst="roundRect">
            <a:avLst>
              <a:gd name="adj" fmla="val 3582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691640"/>
            <a:ext cx="685800" cy="685800"/>
          </a:xfrm>
          <a:prstGeom prst="ellipse">
            <a:avLst/>
          </a:prstGeom>
          <a:solidFill>
            <a:srgbClr val="38BDF8">
              <a:alpha val="4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1863090"/>
            <a:ext cx="342900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3080" y="169164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TV 리모컨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60120" y="2606040"/>
            <a:ext cx="2875178" cy="411480"/>
          </a:xfrm>
          <a:prstGeom prst="roundRect">
            <a:avLst>
              <a:gd name="adj" fmla="val 48889"/>
            </a:avLst>
          </a:prstGeom>
          <a:solidFill>
            <a:srgbClr val="38BDF8">
              <a:alpha val="20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60120" y="260604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채널 ▲▼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60120" y="3108960"/>
            <a:ext cx="2875178" cy="411480"/>
          </a:xfrm>
          <a:prstGeom prst="roundRect">
            <a:avLst>
              <a:gd name="adj" fmla="val 48889"/>
            </a:avLst>
          </a:prstGeom>
          <a:solidFill>
            <a:srgbClr val="38BDF8">
              <a:alpha val="20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60120" y="31089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음량 ＋－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60120" y="3611880"/>
            <a:ext cx="2875178" cy="411480"/>
          </a:xfrm>
          <a:prstGeom prst="roundRect">
            <a:avLst>
              <a:gd name="adj" fmla="val 48889"/>
            </a:avLst>
          </a:prstGeom>
          <a:solidFill>
            <a:srgbClr val="38BDF8">
              <a:alpha val="2000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60120" y="361188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외부 입력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411480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TV 에만 동작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383938" y="1508760"/>
            <a:ext cx="3423818" cy="3063240"/>
          </a:xfrm>
          <a:prstGeom prst="roundRect">
            <a:avLst>
              <a:gd name="adj" fmla="val 3582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58258" y="1691640"/>
            <a:ext cx="685800" cy="685800"/>
          </a:xfrm>
          <a:prstGeom prst="ellipse">
            <a:avLst/>
          </a:prstGeom>
          <a:solidFill>
            <a:srgbClr val="34D399">
              <a:alpha val="45000"/>
            </a:srgbClr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708" y="1863090"/>
            <a:ext cx="342900" cy="3429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481218" y="169164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에어컨 리모컨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4658258" y="2606040"/>
            <a:ext cx="2875178" cy="411480"/>
          </a:xfrm>
          <a:prstGeom prst="roundRect">
            <a:avLst>
              <a:gd name="adj" fmla="val 48889"/>
            </a:avLst>
          </a:prstGeom>
          <a:solidFill>
            <a:srgbClr val="34D399">
              <a:alpha val="20000"/>
            </a:srgbClr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658258" y="260604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온도 ▲▼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4658258" y="3108960"/>
            <a:ext cx="2875178" cy="411480"/>
          </a:xfrm>
          <a:prstGeom prst="roundRect">
            <a:avLst>
              <a:gd name="adj" fmla="val 48889"/>
            </a:avLst>
          </a:prstGeom>
          <a:solidFill>
            <a:srgbClr val="34D399">
              <a:alpha val="20000"/>
            </a:srgbClr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658258" y="31089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바람 세기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658258" y="3611880"/>
            <a:ext cx="2875178" cy="411480"/>
          </a:xfrm>
          <a:prstGeom prst="roundRect">
            <a:avLst>
              <a:gd name="adj" fmla="val 48889"/>
            </a:avLst>
          </a:prstGeom>
          <a:solidFill>
            <a:srgbClr val="34D399">
              <a:alpha val="20000"/>
            </a:srgbClr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658258" y="361188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제습 모드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4383938" y="411480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에어컨에만 동작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8082077" y="1508760"/>
            <a:ext cx="3423818" cy="3063240"/>
          </a:xfrm>
          <a:prstGeom prst="roundRect">
            <a:avLst>
              <a:gd name="adj" fmla="val 3582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356397" y="1691640"/>
            <a:ext cx="685800" cy="685800"/>
          </a:xfrm>
          <a:prstGeom prst="ellipse">
            <a:avLst/>
          </a:prstGeom>
          <a:solidFill>
            <a:srgbClr val="FACC15">
              <a:alpha val="45000"/>
            </a:srgbClr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847" y="1863090"/>
            <a:ext cx="342900" cy="34290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179357" y="169164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문자열의 '버튼'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8356397" y="2606040"/>
            <a:ext cx="2875178" cy="411480"/>
          </a:xfrm>
          <a:prstGeom prst="roundRect">
            <a:avLst>
              <a:gd name="adj" fmla="val 48889"/>
            </a:avLst>
          </a:prstGeom>
          <a:solidFill>
            <a:srgbClr val="FACC15">
              <a:alpha val="20000"/>
            </a:srgbClr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8356397" y="260604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.upper( )  대문자로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8356397" y="3108960"/>
            <a:ext cx="2875178" cy="411480"/>
          </a:xfrm>
          <a:prstGeom prst="roundRect">
            <a:avLst>
              <a:gd name="adj" fmla="val 48889"/>
            </a:avLst>
          </a:prstGeom>
          <a:solidFill>
            <a:srgbClr val="FACC15">
              <a:alpha val="20000"/>
            </a:srgbClr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8356397" y="31089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.replace( )  바꾸기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8356397" y="3611880"/>
            <a:ext cx="2875178" cy="411480"/>
          </a:xfrm>
          <a:prstGeom prst="roundRect">
            <a:avLst>
              <a:gd name="adj" fmla="val 48889"/>
            </a:avLst>
          </a:prstGeom>
          <a:solidFill>
            <a:srgbClr val="FACC15">
              <a:alpha val="20000"/>
            </a:srgbClr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8356397" y="361188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.split( )  나누기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8082077" y="4114800"/>
            <a:ext cx="342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문자열에만 동작</a:t>
            </a:r>
            <a:endParaRPr lang="en-US" sz="1400" dirty="0"/>
          </a:p>
        </p:txBody>
      </p:sp>
      <p:sp>
        <p:nvSpPr>
          <p:cNvPr id="38" name="Shape 33"/>
          <p:cNvSpPr/>
          <p:nvPr/>
        </p:nvSpPr>
        <p:spPr>
          <a:xfrm>
            <a:off x="685800" y="4754880"/>
            <a:ext cx="10820095" cy="822960"/>
          </a:xfrm>
          <a:prstGeom prst="roundRect">
            <a:avLst>
              <a:gd name="adj" fmla="val 11111"/>
            </a:avLst>
          </a:prstGeom>
          <a:solidFill>
            <a:srgbClr val="070D2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1051560" y="475488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</a:t>
            </a:r>
            <a:pPr indent="0" marL="0">
              <a:buNone/>
            </a:pPr>
            <a:r>
              <a:rPr lang="en-US" sz="2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24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</a:t>
            </a:r>
            <a:pPr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)</a:t>
            </a:r>
            <a:pPr indent="0" marL="0">
              <a:buNone/>
            </a:pPr>
            <a:r>
              <a:rPr lang="en-US" sz="1600" dirty="0">
                <a:solidFill>
                  <a:srgbClr val="C9D0E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      ←   'menu 의 대문자 버튼을 눌러라'</a:t>
            </a:r>
            <a:endParaRPr lang="en-US" sz="2400" dirty="0"/>
          </a:p>
        </p:txBody>
      </p:sp>
      <p:sp>
        <p:nvSpPr>
          <p:cNvPr id="40" name="Shape 3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핵심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메서드 = 특정 타입의 데이터에 딸린 함수.  점( . )은 '~의' 라고 읽으세요!</a:t>
            </a:r>
            <a:endParaRPr lang="en-US" sz="1600" dirty="0"/>
          </a:p>
        </p:txBody>
      </p:sp>
      <p:sp>
        <p:nvSpPr>
          <p:cNvPr id="42" name="Text 3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Tutorial (docs.python.org/3/tutorial) — Methods</a:t>
            </a:r>
            <a:endParaRPr lang="en-US" sz="1000" dirty="0"/>
          </a:p>
        </p:txBody>
      </p:sp>
      <p:sp>
        <p:nvSpPr>
          <p:cNvPr id="43" name="Text 3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2.4  ·  함수와 메서드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함수 vs 메서드 — 한 장으로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5227168" cy="3566160"/>
          </a:xfrm>
          <a:prstGeom prst="roundRect">
            <a:avLst>
              <a:gd name="adj" fmla="val 3077"/>
            </a:avLst>
          </a:prstGeom>
          <a:solidFill>
            <a:srgbClr val="0D1B3D"/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64592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함수 (function)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14884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비유 : 자판기 · 공용 도구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97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3B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모양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057400" y="2697480"/>
            <a:ext cx="3581248" cy="457200"/>
          </a:xfrm>
          <a:prstGeom prst="roundRect">
            <a:avLst>
              <a:gd name="adj" fmla="val 16000"/>
            </a:avLst>
          </a:prstGeom>
          <a:solidFill>
            <a:srgbClr val="070D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057400" y="2697480"/>
            <a:ext cx="358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이름( 데이터 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291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3B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057400" y="3291840"/>
            <a:ext cx="3581248" cy="457200"/>
          </a:xfrm>
          <a:prstGeom prst="roundRect">
            <a:avLst>
              <a:gd name="adj" fmla="val 16000"/>
            </a:avLst>
          </a:prstGeom>
          <a:solidFill>
            <a:srgbClr val="070D2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057400" y="3291840"/>
            <a:ext cx="358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len('busan')  →  5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977640"/>
            <a:ext cx="467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누구나 쓰는 도구 — 여러 타입에 사용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78728" y="1508760"/>
            <a:ext cx="5227168" cy="3566160"/>
          </a:xfrm>
          <a:prstGeom prst="roundRect">
            <a:avLst>
              <a:gd name="adj" fmla="val 3077"/>
            </a:avLst>
          </a:prstGeom>
          <a:solidFill>
            <a:srgbClr val="0D1B3D"/>
          </a:solidFill>
          <a:ln w="25400">
            <a:solidFill>
              <a:srgbClr val="FACC1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53048" y="164592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메서드 (method)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553048" y="214884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비유 : 리모컨 버튼 · 전용 기능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53048" y="2697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3B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모양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650328" y="2697480"/>
            <a:ext cx="3581248" cy="457200"/>
          </a:xfrm>
          <a:prstGeom prst="roundRect">
            <a:avLst>
              <a:gd name="adj" fmla="val 16000"/>
            </a:avLst>
          </a:prstGeom>
          <a:solidFill>
            <a:srgbClr val="070D2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0328" y="2697480"/>
            <a:ext cx="358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데이터.이름( )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53048" y="3291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3B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예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650328" y="3291840"/>
            <a:ext cx="3581248" cy="457200"/>
          </a:xfrm>
          <a:prstGeom prst="roundRect">
            <a:avLst>
              <a:gd name="adj" fmla="val 16000"/>
            </a:avLst>
          </a:prstGeom>
          <a:solidFill>
            <a:srgbClr val="070D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0328" y="3291840"/>
            <a:ext cx="358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'busan'.upper()  →  'BUSAN'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553048" y="3977640"/>
            <a:ext cx="467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그 데이터 타입 전용 — 문자열에만, 숫자에만 …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85800" y="521208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0120" y="5212080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구별법 :  이름이 맨 앞에 오면 함수,  데이터 뒤에 점( . )으로 붙으면 메서드!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85800" y="5806440"/>
            <a:ext cx="10820095" cy="411480"/>
          </a:xfrm>
          <a:prstGeom prst="roundRect">
            <a:avLst>
              <a:gd name="adj" fmla="val 26667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580644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둘 다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괄호( )를 붙여야 실행돼요. 넣을 값이 없어도 ( ) 는 꼭!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Tutorial (docs.python.org/3/tutorial)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2.4  ·  함수와 메서드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같은 일, 다른 모양 — 예제로 익히기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08760"/>
          <a:ext cx="108200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3291840"/>
                <a:gridCol w="2041855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하고 싶은 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함수로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메서드로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결과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글자 수 세기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818C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len('busan')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대문자로 바꾸기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818C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'busan'.upper()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'BUSAN'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타입 확인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818C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type('busan')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&lt;class 'str'&gt;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'a' 개수 세기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818C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'banana'.count('a')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앞뒤 공백 지우기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818C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 hi '.strip()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'hi'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07492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5074920"/>
            <a:ext cx="10271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왜 둘로 나뉠까?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'글자 수 세기'는 여러 타입에 공통이라 함수, '대문자'는 글자에만 의미가 있어서 문자열의 메서드예요.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외울 필요 없어요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자주 쓰다 보면 손이 기억해요. 헷갈리면 이 표를 다시 보세요!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Tutorial (docs.python.org/3/tutorial)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2.4  ·  함수와 메서드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문자열 메서드 ① 대소문자 바꾸기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035040" cy="2203704"/>
          </a:xfrm>
          <a:prstGeom prst="roundRect">
            <a:avLst>
              <a:gd name="adj" fmla="val 414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03504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'apple'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40864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40864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(m.upper())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642616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42616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.lower())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944368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944368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 busan'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.title())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246120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246120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 busan'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.capitalize())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3822192"/>
            <a:ext cx="6035040" cy="1453896"/>
          </a:xfrm>
          <a:prstGeom prst="roundRect">
            <a:avLst>
              <a:gd name="adj" fmla="val 503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3913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206240"/>
            <a:ext cx="5669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Busan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busan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38581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영어 이름 · 이메일 · 상품 코드를 같은 모양으로 맞출 때 써요.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40880" y="1508760"/>
            <a:ext cx="446501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23760" y="1581912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.upper( )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1965960"/>
            <a:ext cx="4099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모두 대문자   </a:t>
            </a:r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'apple' → 'APPLE'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40880" y="2496312"/>
            <a:ext cx="446501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23760" y="2569464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.lower( )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953512"/>
            <a:ext cx="4099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모두 소문자   </a:t>
            </a:r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'HELLO' → 'hello'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040880" y="3483864"/>
            <a:ext cx="446501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23760" y="3557016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.title( )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223760" y="3941064"/>
            <a:ext cx="4099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단어 첫 글자만 대문자   </a:t>
            </a:r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'Hello Busan'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040880" y="4471416"/>
            <a:ext cx="446501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223760" y="4544568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.capitalize( )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223760" y="4928616"/>
            <a:ext cx="4099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문장 첫 글자만 대문자   </a:t>
            </a:r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'Hello busan'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실무 예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'Seoul', 'SEOUL', 'seoul' 을 같은 도시로 세려면 → 먼저 .lower( ) 로 통일!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Library — String Methods (docs.python.org/3/library/stdtypes.html)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2.4  ·  함수와 메서드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문자열 메서드 ② 공백 지우기 — strip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035040" cy="1901952"/>
          </a:xfrm>
          <a:prstGeom prst="roundRect">
            <a:avLst>
              <a:gd name="adj" fmla="val 4808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03504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=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 Busan  '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40864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40864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'['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city.strip() +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']'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642616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42616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'['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city.lstrip() +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']'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944368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944368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'['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city.rstrip() +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']'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520440"/>
            <a:ext cx="6035040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868680" y="3611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3904488"/>
            <a:ext cx="5669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[Busan]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[Busan  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Busan]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8463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[ ] 로 감싸서 출력하면 공백이 눈에 보여요.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040880" y="1508760"/>
            <a:ext cx="446501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23760" y="1581912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.strip( )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1965960"/>
            <a:ext cx="4099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양쪽 공백 지우기   </a:t>
            </a:r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 Busan  ' → 'Busan'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40880" y="2496312"/>
            <a:ext cx="446501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23760" y="2569464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.lstrip( )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953512"/>
            <a:ext cx="4099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왼쪽(left)만   </a:t>
            </a:r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'Busan  '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040880" y="3483864"/>
            <a:ext cx="446501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23760" y="3557016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.rstrip( )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223760" y="3941064"/>
            <a:ext cx="4099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오른쪽(right)만   </a:t>
            </a:r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'  Busan'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실무 예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설문 · 회원가입 데이터에는 실수로 넣은 공백이 많아요 — 분석 전에 .strip( ) 은 기본!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Library — String Methods (docs.python.org/3/library/stdtypes.html)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2.4  ·  함수와 메서드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문자열 메서드 ③ 바꾸기 — replace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035040" cy="2203704"/>
          </a:xfrm>
          <a:prstGeom prst="roundRect">
            <a:avLst>
              <a:gd name="adj" fmla="val 4149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03504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 like tea'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.replace(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'tea'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'coffee'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40864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40864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'010-1234-5678'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.replace(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642616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42616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'4,500원'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944368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944368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 = price.replace(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','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).replace(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'원'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246120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246120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(int(num) * 2)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3822192"/>
            <a:ext cx="6035040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68680" y="3913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206240"/>
            <a:ext cx="5669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like coffee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01012345678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9000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14807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'4,500원' 은 글자라서 계산이 안 돼요 → 쉼표 · 원을 지우고 int( ) 로!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40880" y="1508760"/>
            <a:ext cx="446501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23760" y="1581912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.replace(A, B)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1965960"/>
            <a:ext cx="4099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 를 모두 B 로   </a:t>
            </a:r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'tea' → 'coffee'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40880" y="2496312"/>
            <a:ext cx="446501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23760" y="2569464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.replace(A, '')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953512"/>
            <a:ext cx="4099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 를 지우기   </a:t>
            </a:r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'-' 지우기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040880" y="3483864"/>
            <a:ext cx="446501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23760" y="3557016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여러 번 연결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223760" y="3941064"/>
            <a:ext cx="4099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차례로 바꾸기   </a:t>
            </a:r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.replace(',', '').replace('원', '')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실무 예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엑셀에서 가져온 '1,234,000원' 같은 금액도 replace + int 로 숫자로 바꿔 계산해요.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Library — String Methods (docs.python.org/3/library/stdtypes.html)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2.4  ·  함수와 메서드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문자열 메서드 ④ 찾기 · 세기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'banana'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1920240"/>
            <a:ext cx="822960" cy="731520"/>
          </a:xfrm>
          <a:prstGeom prst="rect">
            <a:avLst/>
          </a:prstGeom>
          <a:solidFill>
            <a:srgbClr val="0D1B3D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9202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97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83080" y="1920240"/>
            <a:ext cx="822960" cy="731520"/>
          </a:xfrm>
          <a:prstGeom prst="rect">
            <a:avLst/>
          </a:prstGeom>
          <a:solidFill>
            <a:srgbClr val="0D1B3D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83080" y="19202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2697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06040" y="1920240"/>
            <a:ext cx="822960" cy="731520"/>
          </a:xfrm>
          <a:prstGeom prst="rect">
            <a:avLst/>
          </a:prstGeom>
          <a:solidFill>
            <a:srgbClr val="0D1B3D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06040" y="19202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2697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29000" y="1920240"/>
            <a:ext cx="822960" cy="731520"/>
          </a:xfrm>
          <a:prstGeom prst="rect">
            <a:avLst/>
          </a:prstGeom>
          <a:solidFill>
            <a:srgbClr val="0D1B3D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19202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2697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51960" y="1920240"/>
            <a:ext cx="822960" cy="731520"/>
          </a:xfrm>
          <a:prstGeom prst="rect">
            <a:avLst/>
          </a:prstGeom>
          <a:solidFill>
            <a:srgbClr val="0D1B3D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51960" y="19202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4251960" y="2697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74920" y="1920240"/>
            <a:ext cx="822960" cy="731520"/>
          </a:xfrm>
          <a:prstGeom prst="rect">
            <a:avLst/>
          </a:prstGeom>
          <a:solidFill>
            <a:srgbClr val="0D1B3D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74920" y="19202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5074920" y="2697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246120"/>
          <a:ext cx="6309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118872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메서드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하는 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결과</a:t>
                      </a:r>
                      <a:endParaRPr lang="en-US" sz="15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9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t.find('n')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처음 나오는 위치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t.find('z')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없으면 -1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t.count('a')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몇 번 나오나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t.startswith('ba')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~로 시작하나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t.endswith('na')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C9D0E8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~로 끝나나</a:t>
                      </a:r>
                      <a:endParaRPr lang="en-US" sz="15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D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7315200" y="1463040"/>
            <a:ext cx="4190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실무 예 : 리뷰 분석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315200" y="1874520"/>
            <a:ext cx="4190695" cy="1627632"/>
          </a:xfrm>
          <a:prstGeom prst="roundRect">
            <a:avLst>
              <a:gd name="adj" fmla="val 5618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4980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8" name="Shape 25"/>
          <p:cNvSpPr/>
          <p:nvPr/>
        </p:nvSpPr>
        <p:spPr>
          <a:xfrm>
            <a:off x="76992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9" name="Shape 26"/>
          <p:cNvSpPr/>
          <p:nvPr/>
        </p:nvSpPr>
        <p:spPr>
          <a:xfrm>
            <a:off x="79004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183880" y="1929384"/>
            <a:ext cx="3093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315200" y="2240280"/>
            <a:ext cx="4190695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424928" y="24048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7909560" y="2404872"/>
            <a:ext cx="3413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=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'맛있어요. 정말 맛있어요!'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7424928" y="27157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7909560" y="2715768"/>
            <a:ext cx="3413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(review.count(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'맛있'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7424928" y="302666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7909560" y="3026664"/>
            <a:ext cx="3413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'맛있'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review)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315200" y="3611880"/>
            <a:ext cx="4190695" cy="978408"/>
          </a:xfrm>
          <a:prstGeom prst="roundRect">
            <a:avLst>
              <a:gd name="adj" fmla="val 74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9" name="Text 36"/>
          <p:cNvSpPr txBox="1"/>
          <p:nvPr/>
        </p:nvSpPr>
        <p:spPr>
          <a:xfrm>
            <a:off x="7498080" y="3703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7498080" y="3995928"/>
            <a:ext cx="3824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7315200" y="4681728"/>
            <a:ext cx="4190695" cy="1051560"/>
          </a:xfrm>
          <a:prstGeom prst="roundRect">
            <a:avLst>
              <a:gd name="adj" fmla="val 10435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543800" y="4681728"/>
            <a:ext cx="37334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 과 find 의 차이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 은 '있다/없다(True/False)', find 는 '어디에 있나(위치 번호)'를 알려 줘요.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685800" y="5852160"/>
            <a:ext cx="10820095" cy="411480"/>
          </a:xfrm>
          <a:prstGeom prst="roundRect">
            <a:avLst>
              <a:gd name="adj" fmla="val 26667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14400" y="585216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기억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위치 번호는 인덱스처럼 0부터 세요 — 'banana' 의 첫 'n' 은 2번!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Library — String Methods (docs.python.org/3/library/stdtypes.html)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2.4  ·  함수와 메서드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문자열 메서드 ⑤ 나누기 · 합치기 — split · join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035040" cy="1901952"/>
          </a:xfrm>
          <a:prstGeom prst="roundRect">
            <a:avLst>
              <a:gd name="adj" fmla="val 4808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03504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=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'seoul,busan,ulsan'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40864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40864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(line.split(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','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642616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42616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 Busan World'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.split())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944368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944368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.join([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'2026'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'10'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'05'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520440"/>
            <a:ext cx="6035040" cy="1216152"/>
          </a:xfrm>
          <a:prstGeom prst="roundRect">
            <a:avLst>
              <a:gd name="adj" fmla="val 6015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868680" y="3611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3904488"/>
            <a:ext cx="5669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['seoul', 'busan', 'ulsan']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['Hello', 'Busan', 'World']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2026-10-05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8463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split 결과의 [ ] 는 '리스트' — 03. 데이터 구조에서 배워요.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040880" y="1508760"/>
            <a:ext cx="446501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23760" y="1581912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.split(구분자)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1965960"/>
            <a:ext cx="4099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구분자로 잘라 리스트로   </a:t>
            </a:r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'a,b,c' → ['a','b','c']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40880" y="2496312"/>
            <a:ext cx="446501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23760" y="2569464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.split( )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953512"/>
            <a:ext cx="4099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괄호가 비면 공백으로   </a:t>
            </a:r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 Busan' → 2조각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040880" y="3483864"/>
            <a:ext cx="446501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23760" y="3557016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'연결자'.join(목록)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223760" y="3941064"/>
            <a:ext cx="4099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목록을 하나로 붙이기   </a:t>
            </a:r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'-'.join([...])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실무 예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CSV 파일 한 줄 'kim,25,부산' 을 split(',') 하면 이름 · 나이 · 지역으로 나뉘어요!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Library — String Methods (docs.python.org/3/library/stdtypes.html)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2.4  ·  함수와 메서드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문자열 메서드 ⑥ 확인하기 — is 로 시작하는 메서드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035040" cy="1901952"/>
          </a:xfrm>
          <a:prstGeom prst="roundRect">
            <a:avLst>
              <a:gd name="adj" fmla="val 4808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03504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'2026'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.isdigit())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40864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40864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'20a6'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.isdigit())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642616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42616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.isalpha())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944368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944368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'Busan1'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.isalpha())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520440"/>
            <a:ext cx="6035040" cy="1453896"/>
          </a:xfrm>
          <a:prstGeom prst="roundRect">
            <a:avLst>
              <a:gd name="adj" fmla="val 503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868680" y="3611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3904488"/>
            <a:ext cx="5669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08406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is~ 메서드는 질문에 '예/아니오'로 답하는 버튼이에요.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040880" y="1508760"/>
            <a:ext cx="446501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23760" y="1581912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.isdigit( )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1965960"/>
            <a:ext cx="4099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숫자로만 되어 있나?   </a:t>
            </a:r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'2026' → True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40880" y="2496312"/>
            <a:ext cx="446501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23760" y="2569464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.isalpha( )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953512"/>
            <a:ext cx="4099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문자로만 되어 있나?   </a:t>
            </a:r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 → True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040880" y="3483864"/>
            <a:ext cx="4465015" cy="868680"/>
          </a:xfrm>
          <a:prstGeom prst="roundRect">
            <a:avLst>
              <a:gd name="adj" fmla="val 12632"/>
            </a:avLst>
          </a:prstGeom>
          <a:solidFill>
            <a:srgbClr val="0D1B3D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23760" y="3557016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223760" y="3941064"/>
            <a:ext cx="4099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항상 True 또는 False   </a:t>
            </a:r>
            <a:pPr indent="0" marL="0">
              <a:buNone/>
            </a:pPr>
            <a:r>
              <a:rPr lang="en-US" sz="1200" dirty="0">
                <a:solidFill>
                  <a:srgbClr val="C9D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조건문(04장)과 함께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실무 예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입력된 나이 · 전화번호가 숫자로만 되어 있는지 .isdigit( ) 으로 먼저 검사해요.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Library — String Methods (docs.python.org/3/library/stdtypes.html)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2.4  ·  함수와 메서드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가장 많이 하는 실수 — 메서드는 원본을 바꾸지 않아요!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✗  메서드만 부르고 끝내면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5227168" cy="1737360"/>
          </a:xfrm>
          <a:prstGeom prst="roundRect">
            <a:avLst>
              <a:gd name="adj" fmla="val 526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5528" y="240487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04872"/>
            <a:ext cx="444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275234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752344"/>
            <a:ext cx="444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s.upper()       </a:t>
            </a:r>
            <a:pPr indent="0" marL="0">
              <a:buNone/>
            </a:pPr>
            <a:r>
              <a:rPr lang="en-US" sz="14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결과를 버림!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309981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099816"/>
            <a:ext cx="444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721608"/>
            <a:ext cx="522716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868680" y="3813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105656"/>
            <a:ext cx="486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busan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572000"/>
            <a:ext cx="522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대문자 결과가 만들어졌지만 아무 데도 담지 않아서 사라졌어요.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78728" y="1463040"/>
            <a:ext cx="522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✓  결과를 변수에 다시 담기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278728" y="1874520"/>
            <a:ext cx="5227168" cy="1737360"/>
          </a:xfrm>
          <a:prstGeom prst="roundRect">
            <a:avLst>
              <a:gd name="adj" fmla="val 526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61608" y="200253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5" name="Shape 23"/>
          <p:cNvSpPr/>
          <p:nvPr/>
        </p:nvSpPr>
        <p:spPr>
          <a:xfrm>
            <a:off x="6662776" y="200253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Shape 24"/>
          <p:cNvSpPr/>
          <p:nvPr/>
        </p:nvSpPr>
        <p:spPr>
          <a:xfrm>
            <a:off x="6863944" y="200253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47408" y="1929384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78728" y="2240280"/>
            <a:ext cx="5227168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88456" y="240487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873088" y="2404872"/>
            <a:ext cx="444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</a:t>
            </a:r>
            <a:pPr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388456" y="275234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873088" y="2752344"/>
            <a:ext cx="444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s.upper()   </a:t>
            </a:r>
            <a:pPr indent="0" marL="0">
              <a:buNone/>
            </a:pPr>
            <a:r>
              <a:rPr lang="en-US" sz="1400" i="1" dirty="0">
                <a:solidFill>
                  <a:srgbClr val="7C89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다시 담기!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388456" y="309981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73088" y="3099816"/>
            <a:ext cx="444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(s)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278728" y="3721608"/>
            <a:ext cx="5227168" cy="740664"/>
          </a:xfrm>
          <a:prstGeom prst="roundRect">
            <a:avLst>
              <a:gd name="adj" fmla="val 987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6461608" y="3813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61608" y="4105656"/>
            <a:ext cx="48614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BUSAN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278728" y="4572000"/>
            <a:ext cx="522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 = s.upper( ) — 바뀐 결과를 다시 s 상자에 넣어야 해요.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85800" y="5166360"/>
            <a:ext cx="10820095" cy="502920"/>
          </a:xfrm>
          <a:prstGeom prst="roundRect">
            <a:avLst>
              <a:gd name="adj" fmla="val 21818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60120" y="5166360"/>
            <a:ext cx="10271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비유 : 복사기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메서드는 원본을 고치지 않고 '고친 복사본'을 새로 만들 뿐 — 변수에 담지 않으면 버려져요.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왜 그럴까?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문자열은 한 번 만들면 바꿀 수 없는(immutable) 데이터이기 때문이에요.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Library — String Methods (docs.python.org/3/library/stdtypes.html)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2.4  ·  함수와 메서드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메서드 이어 쓰기 — 컨베이어 벨트처럼 차례로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777240"/>
          </a:xfrm>
          <a:prstGeom prst="roundRect">
            <a:avLst>
              <a:gd name="adj" fmla="val 11765"/>
            </a:avLst>
          </a:prstGeom>
          <a:solidFill>
            <a:srgbClr val="070D2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 hello busan  '</a:t>
            </a:r>
            <a:pPr algn="ctr"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.strip()</a:t>
            </a:r>
            <a:pPr algn="ctr" indent="0" marL="0">
              <a:buNone/>
            </a:pPr>
            <a:r>
              <a:rPr lang="en-US" sz="2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.title()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265176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0D1B3D"/>
          </a:solidFill>
          <a:ln w="19050">
            <a:solidFill>
              <a:srgbClr val="8A93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7432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 hello busan  '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429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처음 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9080" y="3200400"/>
            <a:ext cx="289408" cy="36576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1" name="Shape 9"/>
          <p:cNvSpPr/>
          <p:nvPr/>
        </p:nvSpPr>
        <p:spPr>
          <a:xfrm>
            <a:off x="4449928" y="265176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49928" y="27432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 busan'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449928" y="3429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.strip( ) 으로 공백 제거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33208" y="3200400"/>
            <a:ext cx="289408" cy="365760"/>
          </a:xfrm>
          <a:prstGeom prst="rightArrow">
            <a:avLst/>
          </a:prstGeom>
          <a:solidFill>
            <a:srgbClr val="6366F1"/>
          </a:solidFill>
          <a:ln/>
        </p:spPr>
      </p:sp>
      <p:sp>
        <p:nvSpPr>
          <p:cNvPr id="15" name="Shape 13"/>
          <p:cNvSpPr/>
          <p:nvPr/>
        </p:nvSpPr>
        <p:spPr>
          <a:xfrm>
            <a:off x="8214055" y="265176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14055" y="27432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 Busan'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14055" y="3429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.title( ) 로 첫 글자 대문자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실무 예 : 고객 이메일 정리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4754880"/>
            <a:ext cx="6583680" cy="1280160"/>
          </a:xfrm>
          <a:prstGeom prst="roundRect">
            <a:avLst>
              <a:gd name="adj" fmla="val 7143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88289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1" name="Shape 19"/>
          <p:cNvSpPr/>
          <p:nvPr/>
        </p:nvSpPr>
        <p:spPr>
          <a:xfrm>
            <a:off x="1069848" y="488289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2" name="Shape 20"/>
          <p:cNvSpPr/>
          <p:nvPr/>
        </p:nvSpPr>
        <p:spPr>
          <a:xfrm>
            <a:off x="1271016" y="488289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554480" y="48097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5120640"/>
            <a:ext cx="658368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28523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= </a:t>
            </a:r>
            <a:pPr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 Kim@Example.COM '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557784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(email.strip().lower())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543800" y="4754880"/>
            <a:ext cx="3962095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7726680" y="4846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726680" y="5138928"/>
            <a:ext cx="359633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kim@example.com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Library — String Methods (docs.python.org/3/library/stdtypes.html)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2.4  ·  함수와 메서드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종합 실습 — 엉망인 주문 데이터 깔끔하게 정리하기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6766560" cy="3163824"/>
          </a:xfrm>
          <a:prstGeom prst="roundRect">
            <a:avLst>
              <a:gd name="adj" fmla="val 2890"/>
            </a:avLst>
          </a:prstGeom>
          <a:solidFill>
            <a:srgbClr val="070D20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36776"/>
            <a:ext cx="118872" cy="118872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" y="1636776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71016" y="1636776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54480" y="156362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코드 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6766560" cy="9144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2039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=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 kim minsu '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13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31343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 =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'010-1234-5678'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58775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'4,500원'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86207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=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'맛있어요! 또 올게요. 정말 맛있어요'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13639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10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41071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(name.strip().title())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685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68503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(phone.replace(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" y="3959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395935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(int(price.replace(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','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).replace(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'원'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* 3)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423367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(review.count(</a:t>
            </a:r>
            <a:pPr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'맛있'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len(review))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4782312"/>
            <a:ext cx="6766560" cy="1453896"/>
          </a:xfrm>
          <a:prstGeom prst="roundRect">
            <a:avLst>
              <a:gd name="adj" fmla="val 503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8A93B8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868680" y="4873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5166360"/>
            <a:ext cx="64008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Kim Minsu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01012345678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13500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2 20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0" y="150876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사용한 도구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772400" y="1965960"/>
            <a:ext cx="3733495" cy="658368"/>
          </a:xfrm>
          <a:prstGeom prst="roundRect">
            <a:avLst>
              <a:gd name="adj" fmla="val 1666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55280" y="19659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이름 정리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9326880" y="1965960"/>
            <a:ext cx="2087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.strip( ) → .title( 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772400" y="2743200"/>
            <a:ext cx="3733495" cy="658368"/>
          </a:xfrm>
          <a:prstGeom prst="roundRect">
            <a:avLst>
              <a:gd name="adj" fmla="val 1666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955280" y="27432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번호 정리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326880" y="2743200"/>
            <a:ext cx="2087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.replace('-', '')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772400" y="3520440"/>
            <a:ext cx="3733495" cy="658368"/>
          </a:xfrm>
          <a:prstGeom prst="roundRect">
            <a:avLst>
              <a:gd name="adj" fmla="val 1666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955280" y="35204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금액 계산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9326880" y="3520440"/>
            <a:ext cx="2087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 → int( ) → × 3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772400" y="4297680"/>
            <a:ext cx="3733495" cy="658368"/>
          </a:xfrm>
          <a:prstGeom prst="roundRect">
            <a:avLst>
              <a:gd name="adj" fmla="val 16667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955280" y="42976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리뷰 분석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9326880" y="4297680"/>
            <a:ext cx="2087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.count( ) · len( 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772400" y="5166360"/>
            <a:ext cx="3733495" cy="594360"/>
          </a:xfrm>
          <a:prstGeom prst="roundRect">
            <a:avLst>
              <a:gd name="adj" fmla="val 18462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001000" y="5166360"/>
            <a:ext cx="3276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도전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phone 에서 앞 3자리만 뽑아 보세요 (힌트 : [:3])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Library — String Methods (docs.python.org/3/library/stdtypes.html)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2.4  ·  함수와 메서드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메서드는 어떻게 찾을까? — 외우지 말고 찾아 쓰기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3423818" cy="3291840"/>
          </a:xfrm>
          <a:prstGeom prst="roundRect">
            <a:avLst>
              <a:gd name="adj" fmla="val 3333"/>
            </a:avLst>
          </a:prstGeom>
          <a:solidFill>
            <a:srgbClr val="0D1B3D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69164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점 찍고 기다리기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24028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에서 변수 뒤에 . 을 찍으면 사용할 수 있는 메서드 목록이 자동으로 떠요 (Tab 키)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3931920"/>
            <a:ext cx="2875178" cy="548640"/>
          </a:xfrm>
          <a:prstGeom prst="roundRect">
            <a:avLst>
              <a:gd name="adj" fmla="val 13333"/>
            </a:avLst>
          </a:prstGeom>
          <a:solidFill>
            <a:srgbClr val="070D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39319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s.▌ → upper / lower / …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83938" y="1554480"/>
            <a:ext cx="3423818" cy="3291840"/>
          </a:xfrm>
          <a:prstGeom prst="roundRect">
            <a:avLst>
              <a:gd name="adj" fmla="val 3333"/>
            </a:avLst>
          </a:prstGeom>
          <a:solidFill>
            <a:srgbClr val="0D1B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8258" y="169164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dir( ) 로 목록 보기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58258" y="224028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그 타입이 가진 메서드 이름을 모두 보여 줘요. 문자열 메서드는 47개!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58258" y="3931920"/>
            <a:ext cx="2875178" cy="548640"/>
          </a:xfrm>
          <a:prstGeom prst="roundRect">
            <a:avLst>
              <a:gd name="adj" fmla="val 13333"/>
            </a:avLst>
          </a:prstGeom>
          <a:solidFill>
            <a:srgbClr val="070D2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58258" y="39319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dir('')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82077" y="1554480"/>
            <a:ext cx="3423818" cy="3291840"/>
          </a:xfrm>
          <a:prstGeom prst="roundRect">
            <a:avLst>
              <a:gd name="adj" fmla="val 3333"/>
            </a:avLst>
          </a:prstGeom>
          <a:solidFill>
            <a:srgbClr val="0D1B3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56397" y="169164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③ help( ) 로 설명 보기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56397" y="224028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메서드가 무슨 일을 하는지 설명을 보여 줘요 (영어)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356397" y="3931920"/>
            <a:ext cx="2875178" cy="548640"/>
          </a:xfrm>
          <a:prstGeom prst="roundRect">
            <a:avLst>
              <a:gd name="adj" fmla="val 13333"/>
            </a:avLst>
          </a:prstGeom>
          <a:solidFill>
            <a:srgbClr val="070D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56397" y="39319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help(str.upper)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5800" y="5029200"/>
            <a:ext cx="10820095" cy="594360"/>
          </a:xfrm>
          <a:prstGeom prst="roundRect">
            <a:avLst>
              <a:gd name="adj" fmla="val 18462"/>
            </a:avLst>
          </a:prstGeom>
          <a:solidFill>
            <a:srgbClr val="10193A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5029200"/>
            <a:ext cx="102714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이번 시간 꼭 기억할 메서드 :  upper · lower · strip · replace · split · count  — 이 6개면 충분해요!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AI 도우미 활용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Colab 의 Gemini 에게 '문자열에서 숫자만 남기는 메서드?' 처럼 물어봐도 좋아요. 단, 결과는 직접 실행해 확인!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Library — String Methods (docs.python.org/3/library/stdtypes.html)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2.4  ·  함수와 메서드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함수 · 메서드에서 자주 만나는 오류 3가지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1143000"/>
          </a:xfrm>
          <a:prstGeom prst="roundRect">
            <a:avLst>
              <a:gd name="adj" fmla="val 96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TypeError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070D2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len(5)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1645920"/>
            <a:ext cx="7436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of type 'int' has no len()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2103120"/>
            <a:ext cx="7436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→ 숫자에는 '길이'가 없어요 → 타입 확인!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2880360"/>
            <a:ext cx="10820095" cy="1143000"/>
          </a:xfrm>
          <a:prstGeom prst="roundRect">
            <a:avLst>
              <a:gd name="adj" fmla="val 96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971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AttributeError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14400" y="342900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070D2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'abc'.push()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2971800"/>
            <a:ext cx="7436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'str' object has no attribute 'push'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3429000"/>
            <a:ext cx="7436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→ 문자열에 없는 버튼(메서드) → 이름 · 철자 확인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4206240"/>
            <a:ext cx="10820095" cy="1143000"/>
          </a:xfrm>
          <a:prstGeom prst="roundRect">
            <a:avLst>
              <a:gd name="adj" fmla="val 96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297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72B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괄호 빠뜨림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14400" y="47548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070D2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4754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'busan'.upper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886200" y="4297680"/>
            <a:ext cx="7436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&lt;built-in method upper of str object …&gt;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886200" y="4754880"/>
            <a:ext cx="7436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→ 오류는 아니지만 실행 안 됨 → ( ) 붙이기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" y="5623560"/>
            <a:ext cx="10820095" cy="548640"/>
          </a:xfrm>
          <a:prstGeom prst="roundRect">
            <a:avLst>
              <a:gd name="adj" fmla="val 20000"/>
            </a:avLst>
          </a:prstGeom>
          <a:solidFill>
            <a:srgbClr val="FACC15">
              <a:alpha val="12000"/>
            </a:srgbClr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CC1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읽는 요령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오류 이름(TypeError · AttributeError …)이 곧 힌트! '타입 문제'인지 '없는 메서드'인지 먼저 구분하세요.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38251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 : Python Tutorial (docs.python.org/3/tutorial) — Errors and Exceptions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SECTION 2.4  ·  함수와 메서드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2.4 핵심 정리 — 함수와 메서드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739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54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함수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544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자판기 — 이름(값) 모양,  len · type · print · round · max · min · sum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4688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883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메서드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24688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그 데이터 전용 리모컨 버튼 — 데이터.이름( ) 모양, 점(.) = '~의'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33832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027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문자열 메서드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343400" y="33832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upper · lower · strip · replace · split · join · find · count · isdigit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85800" y="4297680"/>
            <a:ext cx="10820095" cy="777240"/>
          </a:xfrm>
          <a:prstGeom prst="roundRect">
            <a:avLst>
              <a:gd name="adj" fmla="val 14118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171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976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주의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343400" y="429768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원본은 그대로 → s = s.upper( ) 처럼 다시 담기,  괄호( ) 꼭!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85800" y="5760720"/>
            <a:ext cx="10820095" cy="457200"/>
          </a:xfrm>
          <a:prstGeom prst="roundRect">
            <a:avLst>
              <a:gd name="adj" fmla="val 24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다음으로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02. 데이터 형식 정리와 실습 체크리스트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02. 데이터 형식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실습 체크리스트 — Chap02 실습 노트북에서 해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01952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8249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 타입 확인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10312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5 · 5.0 · '5' · True 를 type( ) 으로 확인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283464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18211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96265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2. 형식 변환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554480" y="338328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float(10) · int(3.14) · round(2.5) 결과 예상 후 실행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85800" y="411480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6227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424281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3. 인덱싱 · 슬라이싱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1554480" y="46634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'Hello Busan' 에서 'Busan' 꺼내기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233008" y="155448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8" y="190195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01688" y="168249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4. f-string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7101688" y="210312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f'{name}의 가격은 {price:,}원' 출력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233008" y="283464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328" y="3182112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01688" y="296265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5. 메서드 6종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101688" y="338328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upper · lower · strip · replace · split · count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233008" y="4114800"/>
            <a:ext cx="5272888" cy="1097280"/>
          </a:xfrm>
          <a:prstGeom prst="roundRect">
            <a:avLst>
              <a:gd name="adj" fmla="val 10000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7328" y="4462272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101688" y="4242816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6. 종합 실습</a:t>
            </a:r>
            <a:endParaRPr lang="en-US" sz="1700" dirty="0"/>
          </a:p>
        </p:txBody>
      </p:sp>
      <p:sp>
        <p:nvSpPr>
          <p:cNvPr id="28" name="Text 20"/>
          <p:cNvSpPr txBox="1"/>
          <p:nvPr/>
        </p:nvSpPr>
        <p:spPr>
          <a:xfrm>
            <a:off x="7101688" y="4663440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주문 데이터 정리 코드 직접 타이핑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685800" y="5486400"/>
            <a:ext cx="10820095" cy="640080"/>
          </a:xfrm>
          <a:prstGeom prst="roundRect">
            <a:avLst>
              <a:gd name="adj" fmla="val 17143"/>
            </a:avLst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914400" y="54864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실습 노트북 활용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빈 코드 셀에 슬라이드 예제를 직접 입력하며 따라 해 보세요. 결과를 먼저 예상하고 실행하면 실력이 쑥쑥!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02. 데이터 형식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오늘 배운 것 한 장 요약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10820095" cy="822960"/>
          </a:xfrm>
          <a:prstGeom prst="roundRect">
            <a:avLst>
              <a:gd name="adj" fmla="val 1333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데이터 타입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1554480"/>
            <a:ext cx="72539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str · int · float · complex · list · dict · bool … — type( ) · 동적 타이핑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514600"/>
            <a:ext cx="10820095" cy="822960"/>
          </a:xfrm>
          <a:prstGeom prst="roundRect">
            <a:avLst>
              <a:gd name="adj" fmla="val 1333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514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숫자형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2514600"/>
            <a:ext cx="72539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int(정수) · float(실수, 작은 오차) · complex — 변환은 int( ) 버림 · round( 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474720"/>
            <a:ext cx="10820095" cy="822960"/>
          </a:xfrm>
          <a:prstGeom prst="roundRect">
            <a:avLst>
              <a:gd name="adj" fmla="val 1333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474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3474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문자형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3474720"/>
            <a:ext cx="72539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따옴표 · 인덱싱 [0] · 슬라이싱 [시작:끝] · len · in · f-string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4434840"/>
            <a:ext cx="10820095" cy="822960"/>
          </a:xfrm>
          <a:prstGeom prst="roundRect">
            <a:avLst>
              <a:gd name="adj" fmla="val 13333"/>
            </a:avLst>
          </a:prstGeom>
          <a:solidFill>
            <a:srgbClr val="0D1B3D"/>
          </a:solidFill>
          <a:ln w="9525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434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18CF8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2.4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4434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함수와 메서드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069080" y="4434840"/>
            <a:ext cx="72539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함수 = 자판기 이름(값),  메서드 = 리모컨 버튼 데이터.이름( 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85800" y="5486400"/>
            <a:ext cx="10820095" cy="640080"/>
          </a:xfrm>
          <a:prstGeom prst="roundRect">
            <a:avLst>
              <a:gd name="adj" fmla="val 17143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548640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다음 시간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03. 데이터 구조 — 여러 값을 한 번에 담는 리스트 · 튜플 · 딕셔너리 · 집합 · 불린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50" kern="0" dirty="0">
                <a:solidFill>
                  <a:srgbClr val="818CF8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02. 데이터 형식 마무리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85216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참고문헌 및 참고자료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820095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082009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김진성. 「비즈니스 데이터 분석 with Python」 02장 — 02. 데이터 형식 (2.1 데이터 타입 · 숫자형 데이터 · 2.3 문자형 데이터 · 2.4 함수와 메서드). WikiDocs. https://wikidocs.net/205809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김진성. Chap02 변수와 데이터 유형 실습 노트북 (.ipynb)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Built-in Types — Numeric Types, Text Sequence Type (str), String Methods. https://docs.python.org/3/library/stdtypes.html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Built-in Functions. https://docs.python.org/3/library/functions.html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The Python Tutorial — An Informal Introduction (Numbers, Text). https://docs.python.org/3/tutorial/introduction.html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The Python Tutorial — Formatted String Literals. https://docs.python.org/3/tutorial/inputoutput.html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Floating-Point Arithmetic: Issues and Limitations. https://docs.python.org/3/tutorial/floatingpoint.html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Python Software Foundation. Errors and Exceptions. https://docs.python.org/3/tutorial/errors.html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Microsoft Support. Excel specifications and limits (15자리 숫자 정밀도). https://support.microsoft.com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463040"/>
            <a:ext cx="365760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377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감사합니다.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0E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비즈니스 데이터 분석 with Python  ·  02장 · 02. 데이터 형식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18CF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질문은 언제든 환영합니다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59149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B8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비즈니스 데이터 분석 with Python - 02장. 변수와 데이터 유형 · 02. 데이터 형식</dc:title>
  <dc:subject>PptxGenJS Presentation</dc:subject>
  <dc:creator>김진성</dc:creator>
  <cp:lastModifiedBy>김진성</cp:lastModifiedBy>
  <cp:revision>1</cp:revision>
  <dcterms:created xsi:type="dcterms:W3CDTF">2026-10-05T17:15:23Z</dcterms:created>
  <dcterms:modified xsi:type="dcterms:W3CDTF">2026-10-05T17:15:23Z</dcterms:modified>
</cp:coreProperties>
</file>