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cca2248-f286-d590-9c91-856fe1f8dfe0}">
          <p14:sldIdLst>
            <p14:sldId id="256"/>
            <p14:sldId id="257"/>
            <p14:sldId id="258"/>
          </p14:sldIdLst>
        </p14:section>
        <p14:section name="1.1 변수" id="{a5436edf-7277-f2c7-a59b-af22d46497b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1.2 전역 변수와 지역 변수" id="{7acd4490-5977-536f-6343-6355dc181810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1.3 연산자" id="{c8eec653-91fa-75aa-3bee-69b98ce0f831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마무리" id="{04e2a9ae-e78d-99aa-84d0-24b60bbc45c3}">
          <p14:sldIdLst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02장. 변수와 데이터 유형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01. 변수와 연산자  —  1.1 변수  /  1.2 전역 변수와 지역 변수  /  1.3 연산자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· Chap02 실습 파일  ·  Python 공식 문서로 보완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비즈니스 데이터 분석 with Python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Contents — 02장. 변수와 데이터 유형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변수와 연산자  ·  실습 파일 : Chap02 실습 노트북 (.ipynb)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34747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69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663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값을 담는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이름표 붙은 상자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3938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58258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998" y="26289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58258" y="34747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658258" y="4069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전역 · 지역 변수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4658258" y="4663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변수가 '보이는'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범위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082077" y="2103120"/>
            <a:ext cx="3423818" cy="3566160"/>
          </a:xfrm>
          <a:prstGeom prst="roundRect">
            <a:avLst>
              <a:gd name="adj" fmla="val 320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56397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137" y="26289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56397" y="34747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8356397" y="4069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연산자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8356397" y="46634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계산하고 비교하는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기호들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02장 시작하기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오늘의 예제 : '파이썬 카페'의 매출 계산하기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486400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822960" cy="822960"/>
          </a:xfrm>
          <a:prstGeom prst="ellipse">
            <a:avLst/>
          </a:prstGeom>
          <a:solidFill>
            <a:srgbClr val="FACC15">
              <a:alpha val="4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988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783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 카페 오늘의 장부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960120" y="2834640"/>
            <a:ext cx="4937760" cy="530352"/>
          </a:xfrm>
          <a:prstGeom prst="rect">
            <a:avLst/>
          </a:prstGeom>
          <a:solidFill>
            <a:srgbClr val="0B133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28346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메뉴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28346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아메리카노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0120" y="3456432"/>
            <a:ext cx="4937760" cy="530352"/>
          </a:xfrm>
          <a:prstGeom prst="rect">
            <a:avLst/>
          </a:prstGeom>
          <a:solidFill>
            <a:srgbClr val="10193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3456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가격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063240" y="34564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4,500원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60120" y="4078224"/>
            <a:ext cx="4937760" cy="530352"/>
          </a:xfrm>
          <a:prstGeom prst="rect">
            <a:avLst/>
          </a:prstGeom>
          <a:solidFill>
            <a:srgbClr val="0B133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43000" y="40782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판매량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063240" y="40782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120잔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60120" y="4700016"/>
            <a:ext cx="4937760" cy="530352"/>
          </a:xfrm>
          <a:prstGeom prst="rect">
            <a:avLst/>
          </a:prstGeom>
          <a:solidFill>
            <a:srgbClr val="1019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43000" y="47000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할인 중?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063240" y="47000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 (10%)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1554480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배울 것으로 바꾸면 →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492240" y="2057400"/>
            <a:ext cx="5013655" cy="731520"/>
          </a:xfrm>
          <a:prstGeom prst="roundRect">
            <a:avLst>
              <a:gd name="adj" fmla="val 1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2057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1.1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36092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값에 이름 붙이기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0" y="2057400"/>
            <a:ext cx="1356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92240" y="2926080"/>
            <a:ext cx="5013655" cy="731520"/>
          </a:xfrm>
          <a:prstGeom prst="roundRect">
            <a:avLst>
              <a:gd name="adj" fmla="val 1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0" y="2926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1.1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36092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숫자인지 글자인지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0" y="2926080"/>
            <a:ext cx="1356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type( ) · 형 변환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92240" y="3794760"/>
            <a:ext cx="5013655" cy="731520"/>
          </a:xfrm>
          <a:prstGeom prst="roundRect">
            <a:avLst>
              <a:gd name="adj" fmla="val 1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75120" y="3794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1.2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36092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어디서 쓸 수 있나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058400" y="3794760"/>
            <a:ext cx="1356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전역 · 지역 변수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92240" y="4663440"/>
            <a:ext cx="5013655" cy="731520"/>
          </a:xfrm>
          <a:prstGeom prst="roundRect">
            <a:avLst>
              <a:gd name="adj" fmla="val 1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75120" y="4663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1.3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7360920" y="4663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매출 = 가격 × 판매량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0" y="4663440"/>
            <a:ext cx="1356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연산자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목표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수업이 끝나면 이 장부를 파이썬 코드로 계산하고 보기 좋게 출력할 수 있어요!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값을 담아 두는 '이름표 붙은 상자'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변수 만들기와 = 의 진짜 뜻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변수 이름 규칙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자주 만나는 오류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= 값을 담는 '이름표 붙은 상자'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0D1B3D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64592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0D1B3D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4592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"아메리카노"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06440" y="196596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0D1B3D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64592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20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상자(메모리 공간)에 이름표(변수 이름)를 붙이고 값을 넣어 둡니다.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66760" y="1645920"/>
            <a:ext cx="3139135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17739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8750808" y="17739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8951976" y="17739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0" y="1700784"/>
            <a:ext cx="2041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파이썬으로 쓰면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66760" y="2011680"/>
            <a:ext cx="313913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76488" y="21762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2176272"/>
            <a:ext cx="2361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4500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476488" y="25420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2542032"/>
            <a:ext cx="2361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"아메리카노"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76488" y="29077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2907792"/>
            <a:ext cx="2361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120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" y="4160520"/>
            <a:ext cx="10820095" cy="1371600"/>
          </a:xfrm>
          <a:prstGeom prst="roundRect">
            <a:avLst>
              <a:gd name="adj" fmla="val 8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4160520"/>
            <a:ext cx="10271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변수를 쓸까?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4500 이라는 숫자만 보면 무슨 뜻인지 모르지만, price 라는 이름이 붙으면 '가격'임을 알 수 있어요. 또 값을 한 번 저장해 두면 몇 번이고 다시 꺼내 쓸 수 있습니다.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엑셀에서 셀에 이름을 붙여 두고 수식에서 그 이름으로 부르는 것과 비슷해요.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Python」(김진성), Python Tutorial (docs.python.org/3/tutorial)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= 는 '같다'가 아니라 '넣어라(할당)'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6583680" cy="1463040"/>
          </a:xfrm>
          <a:prstGeom prst="roundRect">
            <a:avLst>
              <a:gd name="adj" fmla="val 7500"/>
            </a:avLst>
          </a:prstGeom>
          <a:solidFill>
            <a:srgbClr val="070D2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</a:t>
            </a:r>
            <a:pPr algn="ctr" indent="0" marL="0">
              <a:buNone/>
            </a:pPr>
            <a:r>
              <a:rPr lang="en-US" sz="4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880360" y="3200400"/>
            <a:ext cx="2926080" cy="457200"/>
          </a:xfrm>
          <a:prstGeom prst="leftArrow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703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오른쪽 값을 왼쪽 상자에 넣는다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00200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수학에서는 말이 안 되지만…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2011680"/>
            <a:ext cx="3916375" cy="1682496"/>
          </a:xfrm>
          <a:prstGeom prst="roundRect">
            <a:avLst>
              <a:gd name="adj" fmla="val 543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1396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Shape 10"/>
          <p:cNvSpPr/>
          <p:nvPr/>
        </p:nvSpPr>
        <p:spPr>
          <a:xfrm>
            <a:off x="7973568" y="21396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8174736" y="21396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2066544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2377440"/>
            <a:ext cx="391637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99248" y="25420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542032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120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99248" y="28712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2871216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count + 1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99248" y="32004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200400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3831336"/>
            <a:ext cx="3916375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7772400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215384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4709160"/>
            <a:ext cx="3916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count + 1 을 먼저 계산(121)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그 결과를 다시 count 에 넣음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434340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43434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price = 4500 은 'price 는 4500 이다'보다 'price 에 4500 을 넣어라'로 읽으세요. '같다'는 == (등호 2개)로 씁니다 (1.3절).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= 는 할당 연산자 — 따로 '선언'할 필요 없이, 값을 넣는 순간 변수가 만들어지고 타입도 정해져요.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An Informal Introduction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변수로 매출 계산하기 — 첫 번째 실습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400800" cy="2084832"/>
          </a:xfrm>
          <a:prstGeom prst="roundRect">
            <a:avLst>
              <a:gd name="adj" fmla="val 438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40080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4500     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가격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8658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8658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120      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판매량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7340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34056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price * count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매출 = 가격 × 판매량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0815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081528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47688" y="207568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7688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47688" y="27706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47688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47688" y="311810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47688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730752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6868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114800"/>
            <a:ext cx="6035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540000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06640" y="1508760"/>
            <a:ext cx="409925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8952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163677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값 저장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1984248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가격과 판매량을 각각 이름표 상자에 넣기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06640" y="2532888"/>
            <a:ext cx="409925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269748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5895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2660904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변수끼리 계산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300837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대신 이름으로 계산 → 결과를 sales 에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406640" y="3557016"/>
            <a:ext cx="409925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372160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58952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0" y="3685032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출력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4032504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 ) 로 sales 상자 안을 보기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443484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0120" y="4434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# 뒤는 주석(메모)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파이썬은 # 뒤의 글을 무시합니다. 코드에 설명을 달 때 사용해요.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직접 해 보기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price 를 5000 으로 바꾸고 다시 실행해 보세요. 매출이 자동으로 바뀝니다!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값 바꾸기(재할당)와 한 번에 여러 변수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새 값을 넣으면 예전 값은 사라져요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0D1B3D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6596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63240" y="2697480"/>
            <a:ext cx="64008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3886200" y="22860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0D1B3D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96596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1480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5800" y="3611880"/>
            <a:ext cx="5227168" cy="1627632"/>
          </a:xfrm>
          <a:prstGeom prst="roundRect">
            <a:avLst>
              <a:gd name="adj" fmla="val 561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398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" y="37398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Shape 16"/>
          <p:cNvSpPr/>
          <p:nvPr/>
        </p:nvSpPr>
        <p:spPr>
          <a:xfrm>
            <a:off x="1271016" y="37398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54480" y="366674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5528" y="41422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14223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4500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445312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45312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5000 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가격 인상!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47640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764024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(price)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376672"/>
            <a:ext cx="5227168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68680" y="5468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7607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쉼표로 여러 변수를 한 줄에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278728" y="1965960"/>
            <a:ext cx="5227168" cy="1353312"/>
          </a:xfrm>
          <a:prstGeom prst="roundRect">
            <a:avLst>
              <a:gd name="adj" fmla="val 675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1608" y="20939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3" name="Shape 31"/>
          <p:cNvSpPr/>
          <p:nvPr/>
        </p:nvSpPr>
        <p:spPr>
          <a:xfrm>
            <a:off x="6662776" y="20939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6863944" y="20939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47408" y="202082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8728" y="233172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8456" y="24963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873088" y="249631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menu, price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"라떼"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5000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388456" y="2825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73088" y="282549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(menu, price)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78728" y="3456432"/>
            <a:ext cx="5227168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461608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61608" y="384048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라떼 5000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78728" y="4343400"/>
            <a:ext cx="5227168" cy="822960"/>
          </a:xfrm>
          <a:prstGeom prst="roundRect">
            <a:avLst>
              <a:gd name="adj" fmla="val 13333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07328" y="43434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장에서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여러 변수 한 번에 넣기 3가지 방법을 자세히!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이름 규칙 — 지키지 않으면 오류!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규칙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가능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불가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149840" y="1508760"/>
            <a:ext cx="1493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10820095" cy="621792"/>
          </a:xfrm>
          <a:prstGeom prst="rect">
            <a:avLst/>
          </a:prstGeom>
          <a:solidFill>
            <a:srgbClr val="0D1B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96596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 또는 _ 로 시작, 숫자로 시작 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9659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myvar2 · _my_var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19659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2myvar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1965960"/>
            <a:ext cx="1310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679192"/>
            <a:ext cx="10820095" cy="621792"/>
          </a:xfrm>
          <a:prstGeom prst="rect">
            <a:avLst/>
          </a:prstGeom>
          <a:solidFill>
            <a:srgbClr val="1019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67919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 · 숫자 · _ 만 사용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6791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my_var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6791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my-var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0" y="2679192"/>
            <a:ext cx="1310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빼기(-)로 읽힘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392424"/>
            <a:ext cx="10820095" cy="621792"/>
          </a:xfrm>
          <a:prstGeom prst="rect">
            <a:avLst/>
          </a:prstGeom>
          <a:solidFill>
            <a:srgbClr val="0D1B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39242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띄어쓰기 사용 불가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39242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myVar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39242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var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392424"/>
            <a:ext cx="1310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4105656"/>
            <a:ext cx="10820095" cy="621792"/>
          </a:xfrm>
          <a:prstGeom prst="rect">
            <a:avLst/>
          </a:prstGeom>
          <a:solidFill>
            <a:srgbClr val="1019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10565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예약어(파이썬 단어)는 사용 불가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10565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1056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0" y="4105656"/>
            <a:ext cx="1310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4818888"/>
            <a:ext cx="10820095" cy="621792"/>
          </a:xfrm>
          <a:prstGeom prst="rect">
            <a:avLst/>
          </a:prstGeom>
          <a:solidFill>
            <a:srgbClr val="0D1B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8188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대문자와 소문자는 다른 이름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48188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· Age · AGE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481888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4818888"/>
            <a:ext cx="1310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서로 다른 변수 3개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한글 변수 이름(가격 = 4500)도 동작하지만, 협업과 호환성을 위해 영어 이름을 권장해요.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Language Reference — Identifiers and keywords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좋은 변수 이름 짓기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27168" cy="2377440"/>
          </a:xfrm>
          <a:prstGeom prst="roundRect">
            <a:avLst>
              <a:gd name="adj" fmla="val 4615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알아보기 어려운 이름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194560"/>
            <a:ext cx="4678528" cy="1508760"/>
          </a:xfrm>
          <a:prstGeom prst="roundRect">
            <a:avLst>
              <a:gd name="adj" fmla="val 4848"/>
            </a:avLst>
          </a:prstGeom>
          <a:solidFill>
            <a:srgbClr val="070D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240280"/>
            <a:ext cx="4312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4500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120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* 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1554480"/>
            <a:ext cx="5227168" cy="2377440"/>
          </a:xfrm>
          <a:prstGeom prst="roundRect">
            <a:avLst>
              <a:gd name="adj" fmla="val 4615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69164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의미가 드러나는 이름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53048" y="2194560"/>
            <a:ext cx="4678528" cy="1508760"/>
          </a:xfrm>
          <a:prstGeom prst="roundRect">
            <a:avLst>
              <a:gd name="adj" fmla="val 4848"/>
            </a:avLst>
          </a:prstGeom>
          <a:solidFill>
            <a:srgbClr val="070D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35928" y="2240280"/>
            <a:ext cx="4312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4500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120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price * count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snake_case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41148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소문자 + 밑줄로 단어 연결 : total_sales, unit_price  (파이썬 공식 스타일 PEP 8)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의미 있게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466344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x, a, temp 보다 price, count, sales 처럼 '무엇'인지 알 수 있게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212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너무 길지 않게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521208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the_total_sales_amount_of_today → today_sales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PEP 8 — Style Guide for Python Code (peps.python.org/pep-0008)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예약어 — 파이썬이 이미 쓰고 있는 35개의 단어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852160" cy="1426464"/>
          </a:xfrm>
          <a:prstGeom prst="roundRect">
            <a:avLst>
              <a:gd name="adj" fmla="val 641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8521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keyword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04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048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(len(keyword.kwlist))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072384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68680" y="3163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5852160" cy="1783080"/>
          </a:xfrm>
          <a:prstGeom prst="roundRect">
            <a:avLst>
              <a:gd name="adj" fmla="val 61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74904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쓰면 안 될까?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if, for, class 같은 단어는 파이썬 문법에서 특별한 뜻이 있어서, 변수 이름으로 쓰면 파이썬이 헷갈려 SyntaxError 를 냅니다.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0" y="1508760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1508760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54264" y="1508760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54264" y="1508760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50528" y="1508760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50528" y="1508760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446791" y="1508760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446791" y="1508760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0" y="1956816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0" y="1956816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54264" y="1956816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54264" y="1956816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250528" y="1956816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50528" y="1956816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446791" y="1956816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46791" y="1956816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58000" y="2404872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58000" y="2404872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54264" y="2404872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54264" y="2404872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250528" y="2404872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50528" y="2404872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446791" y="2404872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446791" y="2404872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58000" y="2852928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858000" y="2852928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54264" y="2852928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054264" y="2852928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250528" y="2852928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250528" y="2852928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446791" y="2852928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446791" y="2852928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58000" y="3300984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858000" y="3300984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054264" y="3300984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054264" y="3300984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250528" y="3300984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250528" y="3300984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446791" y="3300984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446791" y="3300984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858000" y="3749040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858000" y="3749040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054264" y="3749040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054264" y="3749040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9250528" y="3749040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250528" y="3749040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10446791" y="3749040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446791" y="3749040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6858000" y="4197096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858000" y="4197096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8054264" y="4197096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054264" y="4197096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nonlocal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9250528" y="4197096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9250528" y="4197096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446791" y="4197096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0446791" y="4197096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858000" y="4645152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858000" y="4645152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054264" y="4645152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8054264" y="4645152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9250528" y="4645152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9250528" y="4645152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10446791" y="4645152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446791" y="4645152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6858000" y="5093208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858000" y="5093208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054264" y="5093208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8054264" y="5093208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9250528" y="5093208"/>
            <a:ext cx="1059104" cy="36576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250528" y="5093208"/>
            <a:ext cx="1059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 외울 필요 없어요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보라색은 이번 학기에 자주 볼 단어. 에디터에서 색이 바뀌는 단어는 예약어라고 생각하세요!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Language Reference — Keywords (Python 3.11 기준 35개)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다중 변수 — 여러 변수에 한 번에 넣기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서로 다른 값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342381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48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48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48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7510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450592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b1, b2, b3 = 10, 20, 30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761488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(b1, b2, b3)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346704"/>
            <a:ext cx="3423818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68680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73075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10 20 30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151376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개수를 꼭 맞춰야 해요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3938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같은 값을 한 번에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83938" y="1920240"/>
            <a:ext cx="342381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66818" y="2048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67986" y="2048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9154" y="2048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52618" y="197510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938" y="228600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66818" y="2450592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 = c =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66818" y="2761488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3938" y="3346704"/>
            <a:ext cx="3423818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566818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66818" y="373075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Seoul Seoul Seoul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383938" y="4151376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세 상자에 같은 값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082077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리스트를 나눠 담기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082077" y="1920240"/>
            <a:ext cx="3423818" cy="1627632"/>
          </a:xfrm>
          <a:prstGeom prst="roundRect">
            <a:avLst>
              <a:gd name="adj" fmla="val 561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4957" y="2048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4" name="Shape 32"/>
          <p:cNvSpPr/>
          <p:nvPr/>
        </p:nvSpPr>
        <p:spPr>
          <a:xfrm>
            <a:off x="8466125" y="2048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5" name="Shape 33"/>
          <p:cNvSpPr/>
          <p:nvPr/>
        </p:nvSpPr>
        <p:spPr>
          <a:xfrm>
            <a:off x="8667293" y="2048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50757" y="197510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82077" y="228600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64957" y="2450592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64957" y="2761488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 = city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64957" y="3072384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82077" y="3657600"/>
            <a:ext cx="3423818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8264957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64957" y="40416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Seoul Busan Ulsan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082077" y="4462272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'풀기(unpacking)'라고 해요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5800" y="466344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" y="46634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개수가 다르면?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x, y = 'Seoul', 'Busan', 'Ulsan'  →  ValueError: too many values to unpack — 왼쪽 상자 수와 오른쪽 값 수를 맞추세요.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리스트란?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안에 여러 값을 담은 묶음 — 다음 시간(03. 데이터 구조)에 자세히 배워요.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1.1, Python Tutorial (docs.python.org/3/tutorial)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타입 확인 type( ) 과 타입 변환 str( ) · int( ) · float(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무엇이 담겼나? — type( 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30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'David'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(type(age))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(type(name))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877056"/>
            <a:ext cx="5227168" cy="996696"/>
          </a:xfrm>
          <a:prstGeom prst="roundRect">
            <a:avLst>
              <a:gd name="adj" fmla="val 733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261104"/>
            <a:ext cx="4861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다른 타입으로 바꾸기 — 형 변환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8456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str(3)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문자열 '3'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int(4)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정수 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388456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float(5)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실수 5.0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388456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78728" y="3877056"/>
            <a:ext cx="5227168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461608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61608" y="4261104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3 4 5.0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" y="498348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0120" y="498348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str = 문자열 · int = 정수 · float = 실수.   int(3.9) 는 반올림이 아니라 버림 → 3,   int('3.5') 는 ValueError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언제 쓰나?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 · CSV 에서 읽은 숫자가 '문자'로 들어와 계산이 안 될 때 자주 써요!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1.1, Python Built-in Functions (docs.python.org)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출력 — print( ) 에서 쉼표( , ) vs 더하기( +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쉼표 ,  — 자동으로 한 칸 띄우고, 타입이 달라도 OK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'Haeundae'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c, d = 100, 200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c)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803904"/>
            <a:ext cx="5227168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187952"/>
            <a:ext cx="48614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Busan Haeundae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Busan 100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더하기 +  — 문자는 연결(공백 없음), 숫자는 덧셈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353312"/>
          </a:xfrm>
          <a:prstGeom prst="roundRect">
            <a:avLst>
              <a:gd name="adj" fmla="val 675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8456" y="24048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40487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b)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문자 + 문자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7340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73405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+ d)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숫자 + 숫자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78728" y="3364992"/>
            <a:ext cx="5227168" cy="996696"/>
          </a:xfrm>
          <a:prstGeom prst="roundRect">
            <a:avLst>
              <a:gd name="adj" fmla="val 733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461608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61608" y="3749040"/>
            <a:ext cx="4861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BusanHaeundae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5800" y="4754880"/>
            <a:ext cx="10820095" cy="868680"/>
          </a:xfrm>
          <a:prstGeom prst="roundRect">
            <a:avLst>
              <a:gd name="adj" fmla="val 8421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475488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c)     # 문자 + 숫자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can only concatenate str (not "int") to str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해결 : print(a + str(c))  또는  print(a, c)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더 편한 방법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f-string : print(f'{a} {c}') — 따옴표 앞에 f, 변수는 { } 안에. (입력문과 출력문 장에서 자세히!)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1.1, Python Tutorial (docs.python.org/3/tutorial)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변수에서 자주 만나는 오류 2가지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NameError — 없는 이름을 불렀을 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5227168" cy="1389888"/>
          </a:xfrm>
          <a:prstGeom prst="roundRect">
            <a:avLst>
              <a:gd name="adj" fmla="val 657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48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48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48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7510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505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50592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4500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9806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98064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(prise) 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오타!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154680"/>
            <a:ext cx="5227168" cy="594360"/>
          </a:xfrm>
          <a:prstGeom prst="roundRect">
            <a:avLst>
              <a:gd name="adj" fmla="val 12308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154680"/>
            <a:ext cx="486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NameError: name 'prise' is not defined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886200"/>
            <a:ext cx="522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원인 : 오타, 또는 변수를 만드는 셀을 실행하지 않음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해결 : 철자 확인, 위 셀부터 차례로 실행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SyntaxError — 문법 규칙을 어겼을 때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8728" y="1920240"/>
            <a:ext cx="5227168" cy="1042416"/>
          </a:xfrm>
          <a:prstGeom prst="roundRect">
            <a:avLst>
              <a:gd name="adj" fmla="val 877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2048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2776" y="2048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3944" y="2048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47408" y="197510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8728" y="228600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8456" y="24505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73088" y="2450592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1st_price = 4500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숫자로 시작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78728" y="2807208"/>
            <a:ext cx="5227168" cy="594360"/>
          </a:xfrm>
          <a:prstGeom prst="roundRect">
            <a:avLst>
              <a:gd name="adj" fmla="val 12308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61608" y="2807208"/>
            <a:ext cx="486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SyntaxError: invalid decimal literal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278728" y="3566160"/>
            <a:ext cx="522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원인 : 이름 규칙 위반, 따옴표 · 괄호 안 닫음 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해결 : 이름 규칙 확인 → price_1st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6692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읽는 요령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빨간 메시지의 마지막 줄 '오류이름: 설명' 을 먼저 읽으세요. 오류 이름이 곧 힌트입니다!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Errors and Exceptions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1.1  · 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1.1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값을 담는 이름표 붙은 상자 — 이름으로 값을 다시 꺼내 씀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= (할당)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오른쪽을 계산해 왼쪽 이름에 넣기 — 선언 없이 바로 생성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이름 규칙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영문 · 숫자 · _ 만, 숫자로 시작 X, 띄어쓰기 X, 예약어 X, 대소문자 구분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확인 · 변환 · 출력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type( ) 확인, str( ) · int( ) · float( ) 변환, print 는 , 와 +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변수는 어디에서나 쓸 수 있을까? → 1.2 전역 변수와 지역 변수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전역 변수와 지역 변수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변수를 '어디에서' 쓸 수 있을까?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맛보기 (def)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전역 변수 vs 지역 변수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global 과 nonlocal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전역 변수와 지역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먼저 맛보기 — 함수(def)는 '나만의 명령 레시피'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2157984"/>
          </a:xfrm>
          <a:prstGeom prst="roundRect">
            <a:avLst>
              <a:gd name="adj" fmla="val 42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greet():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04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048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'안녕하세요!'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7706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70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136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136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81928" y="208483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81928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81928" y="245059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81928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81928" y="3182112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81928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803904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6868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1879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안녕하세요!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40880" y="1508760"/>
            <a:ext cx="446501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2376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1636776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def 이름( ):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1984248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함수(레시피) 정의 — 끝에 콜론 :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40880" y="2532888"/>
            <a:ext cx="446501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269748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2376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2660904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들여쓰기 4칸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3008376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안에 속한 코드 (Tab 1번)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040880" y="3557016"/>
            <a:ext cx="446501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372160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22376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680960" y="3685032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이름( )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680960" y="4032504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만들어 둔 함수를 실행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466344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60120" y="46634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지금 함수를?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전역 · 지역 변수는 '함수 안이냐 밖이냐'로 나뉘기 때문이에요. 함수는 05장에서 자세히 배우니 지금은 '코드를 묶은 상자' 정도로만 이해하세요.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def = 레시피 적어 두기,  greet() = 그 레시피대로 요리하기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Defining Functions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전역 변수와 지역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전역 변수 vs 지역 변수 — 거실과 내 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766560" cy="3977640"/>
          </a:xfrm>
          <a:prstGeom prst="roundRect">
            <a:avLst>
              <a:gd name="adj" fmla="val 2759"/>
            </a:avLst>
          </a:prstGeom>
          <a:solidFill>
            <a:srgbClr val="0D1B3D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프로그램 전체 = 집  (전역 영역)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38BDF8">
              <a:alpha val="2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거실의 TV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jeon = '전역'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69080" y="2148840"/>
            <a:ext cx="3108960" cy="3108960"/>
          </a:xfrm>
          <a:prstGeom prst="roundRect">
            <a:avLst>
              <a:gd name="adj" fmla="val 2941"/>
            </a:avLst>
          </a:prstGeom>
          <a:solidFill>
            <a:srgbClr val="0A1128"/>
          </a:solidFill>
          <a:ln w="25400">
            <a:solidFill>
              <a:srgbClr val="FACC1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20624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= 내 방  (지역 영역)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27432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방의 일기장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 = '지역'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방 안에서는 거실 TV도 보이고 일기장도 보여요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474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거실에서는 방 안의 일기장이 안 보여요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1554480"/>
            <a:ext cx="3733495" cy="1874520"/>
          </a:xfrm>
          <a:prstGeom prst="roundRect">
            <a:avLst>
              <a:gd name="adj" fmla="val 5854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01000" y="1664208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전역 변수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103120"/>
            <a:ext cx="3276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함수 밖에서 만든 변수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프로그램 어디서든 사용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수명 : 프로그램 끝날 때까지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3611880"/>
            <a:ext cx="3733495" cy="1874520"/>
          </a:xfrm>
          <a:prstGeom prst="roundRect">
            <a:avLst>
              <a:gd name="adj" fmla="val 5854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3721608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지역 변수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4160520"/>
            <a:ext cx="32762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함수 안에서 만든 변수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그 함수 안에서만 사용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• 수명 : 함수 실행 중에만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변수가 '어디서 만들어졌는지'가 '어디서 쓸 수 있는지'를 결정합니다 (= 변수의 범위, scope).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전역 변수와 지역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1) 전역 변수 — 함수 안과 밖 어디서나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400800" cy="2999232"/>
          </a:xfrm>
          <a:prstGeom prst="roundRect">
            <a:avLst>
              <a:gd name="adj" fmla="val 304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40080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jeon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'awesome'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전역 변수 정의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6829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97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9748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myfunc():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0266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02666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'파이썬은'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jeon)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함수 안에서 사용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3558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35584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6850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68503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myfunc()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40142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01421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'파이썬은'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jeon) 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함수 밖에서 사용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47688" y="2066544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4768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47688" y="3054096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4768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47688" y="4041648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47688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4645152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868680" y="4736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02920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파이썬은 awesome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파이썬은 awesome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06640" y="1508760"/>
            <a:ext cx="409925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58952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163677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밖에서 만들기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1984248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전역 변수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06640" y="2532888"/>
            <a:ext cx="409925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269748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5895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2660904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안에서 읽기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3008376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거실 TV는 방에서도 보여요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406640" y="3557016"/>
            <a:ext cx="4099255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9520" y="372160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58952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046720" y="3685032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밖에서 읽기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8046720" y="4032504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당연히 사용 가능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전역 변수는 한 번 만들면 프로그램이 끝날 때까지 어디서든 '읽을' 수 있어요.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1.2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전역 변수와 지역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2) 지역 변수 — 함수 안에서만 살아요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같은 이름이어도 서로 다른 변수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2450592"/>
          </a:xfrm>
          <a:prstGeom prst="roundRect">
            <a:avLst>
              <a:gd name="adj" fmla="val 373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jeon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'awesome'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myfunc():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jeon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'fantastic'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지역 변수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'파이썬은'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jeon)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75304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myfunc()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86791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'파이썬은'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jeon)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462272"/>
            <a:ext cx="5227168" cy="996696"/>
          </a:xfrm>
          <a:prstGeom prst="roundRect">
            <a:avLst>
              <a:gd name="adj" fmla="val 733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68680" y="4553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846320"/>
            <a:ext cx="4861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파이썬은 fantastic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파이썬은 awesome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지역 변수를 함수 밖에서 쓰면?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78728" y="1874520"/>
            <a:ext cx="5227168" cy="2157984"/>
          </a:xfrm>
          <a:prstGeom prst="roundRect">
            <a:avLst>
              <a:gd name="adj" fmla="val 42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88456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myfunc():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388456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ji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'fantastic'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88456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873088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'파이썬은'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ji)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88456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873088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myfunc()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388456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873088" y="3575304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'파이썬은'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ji)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함수 밖!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78728" y="4169664"/>
            <a:ext cx="5227168" cy="548640"/>
          </a:xfrm>
          <a:prstGeom prst="roundRect">
            <a:avLst>
              <a:gd name="adj" fmla="val 13333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61608" y="4169664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NameError: name 'ji' is not defined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278728" y="4855464"/>
            <a:ext cx="522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실행이 끝나면 지역 변수 ji 는 사라져요. 방 밖에서는 일기장을 볼 수 없어요.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정리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안의 jeon 은 방 안의 새 상자 — 거실의 jeon(awesome)은 그대로! 지역 변수는 함수 밖에서 안 보여요.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1.2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전역 변수와 지역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3) global — 함수 안에서 전역 변수 만들기 · 바꾸기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함수 안에서 만든 변수를 밖에서도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2066544"/>
          </a:xfrm>
          <a:prstGeom prst="roundRect">
            <a:avLst>
              <a:gd name="adj" fmla="val 442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myfunc():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glo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'fantastic'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myfunc()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021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'파이썬은'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glo)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78224"/>
            <a:ext cx="5227168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86868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46227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파이썬은 fantastic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전역 변수의 값을 함수 안에서 변경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78728" y="1874520"/>
            <a:ext cx="5227168" cy="2340864"/>
          </a:xfrm>
          <a:prstGeom prst="roundRect">
            <a:avLst>
              <a:gd name="adj" fmla="val 390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8" name="Shape 26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Shape 27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88456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'awesome'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38845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myfunc():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38845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glo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88456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873088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'fantastic'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88456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873088" y="35021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myfunc()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388456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873088" y="37764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'파이썬은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glo)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78728" y="4352544"/>
            <a:ext cx="5227168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6461608" y="4443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61608" y="473659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파이썬은 fantastic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525780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global 이름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= '방 안의 새 상자가 아니라 거실(전역)의 상자를 쓰겠다'는 선언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팁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global 을 많이 쓰면 어디서 값이 바뀌었는지 찾기 어려워요. 꼭 필요할 때만 사용하세요.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1.2, Python Reference — The global statement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전역 변수와 지역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4) nonlocal — 함수 안의 함수에서 바깥 함수 변수 바꾸기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nonlocal 을 쓰면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2670048"/>
          </a:xfrm>
          <a:prstGeom prst="roundRect">
            <a:avLst>
              <a:gd name="adj" fmla="val 342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outer():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5176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51760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 = 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89864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98648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inner():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14553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145536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nonlocal non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39242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392424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non = non + 10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63931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639312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388620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886200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inner()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" y="413308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133088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outer()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4681728"/>
            <a:ext cx="5227168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8686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065776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nonlocal 없이 바꾸려 하면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78728" y="1874520"/>
            <a:ext cx="5227168" cy="2423160"/>
          </a:xfrm>
          <a:prstGeom prst="roundRect">
            <a:avLst>
              <a:gd name="adj" fmla="val 377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4" name="Shape 32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5" name="Shape 33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88456" y="240487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873088" y="2404872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outer():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88456" y="265176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873088" y="2651760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 = 10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388456" y="289864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873088" y="2898648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inner():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388456" y="314553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873088" y="3145536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non = non + 10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오류!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388456" y="339242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873088" y="3392424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(non)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388456" y="363931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873088" y="3639312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inner()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388456" y="388620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873088" y="3886200"/>
            <a:ext cx="444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outer()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278728" y="4407408"/>
            <a:ext cx="5227168" cy="777240"/>
          </a:xfrm>
          <a:prstGeom prst="roundRect">
            <a:avLst>
              <a:gd name="adj" fmla="val 9412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61608" y="4407408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UnboundLocalError: cannot access local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'non' where it is not associated…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85800" y="5623560"/>
            <a:ext cx="10820095" cy="594360"/>
          </a:xfrm>
          <a:prstGeom prst="roundRect">
            <a:avLst>
              <a:gd name="adj" fmla="val 18462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14400" y="562356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큰 방(outer) 안의 작은 방(inner) — 작은 방에서 큰 방 물건을 바꾸려면 nonlocal! 단, 집 밖(전역)에선 안 보여요. (이번 학기엔 개념만)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1.2, Python Reference — The nonlocal statement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1.2  ·  전역 변수와 지역 변수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1.2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전역 변수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밖에서 생성 — 어디서든 사용, 프로그램 끝까지 유지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지역 변수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안에서 생성 — 그 함수 안에서만, 실행 중에만 존재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global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안에서 전역 변수를 만들거나 값을 바꿀 때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nonlocal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중첩 함수에서 바깥 함수의 변수를 바꿀 때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이제 변수로 계산해 봅시다! → 1.3 연산자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연산자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계산하고, 비교하고, 판단하는 기호들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산술 · 비교 · 논리 연산자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ID · 멤버십 · 비트 · 축약 할당 연산자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연산자 우선순위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파이썬의 연산자 7가지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37360"/>
            <a:ext cx="594360" cy="594360"/>
          </a:xfrm>
          <a:prstGeom prst="ellipse">
            <a:avLst/>
          </a:prstGeom>
          <a:solidFill>
            <a:srgbClr val="818CF8">
              <a:alpha val="4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8859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737360"/>
            <a:ext cx="14020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산술 연산자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2468880"/>
            <a:ext cx="2042084" cy="411480"/>
          </a:xfrm>
          <a:prstGeom prst="roundRect">
            <a:avLst>
              <a:gd name="adj" fmla="val 17778"/>
            </a:avLst>
          </a:prstGeom>
          <a:solidFill>
            <a:srgbClr val="070D2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246888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  *  /  //  %  **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97180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계산하기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59404" y="150876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8004" y="1737360"/>
            <a:ext cx="594360" cy="594360"/>
          </a:xfrm>
          <a:prstGeom prst="ellipse">
            <a:avLst/>
          </a:prstGeom>
          <a:solidFill>
            <a:srgbClr val="FACC15">
              <a:alpha val="4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594" y="1885950"/>
            <a:ext cx="297180" cy="2971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19524" y="1737360"/>
            <a:ext cx="14020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비교 연산자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3688004" y="2468880"/>
            <a:ext cx="2042084" cy="411480"/>
          </a:xfrm>
          <a:prstGeom prst="roundRect">
            <a:avLst>
              <a:gd name="adj" fmla="val 17778"/>
            </a:avLst>
          </a:prstGeom>
          <a:solidFill>
            <a:srgbClr val="070D2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688004" y="246888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!=  &gt;  &lt;  &gt;=  &lt;=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688004" y="297180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크기 · 같음 비교 → True/False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33008" y="150876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61608" y="1737360"/>
            <a:ext cx="594360" cy="594360"/>
          </a:xfrm>
          <a:prstGeom prst="ellipse">
            <a:avLst/>
          </a:prstGeom>
          <a:solidFill>
            <a:srgbClr val="34D399">
              <a:alpha val="4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198" y="1885950"/>
            <a:ext cx="297180" cy="2971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93128" y="1737360"/>
            <a:ext cx="14020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논리 연산자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6461608" y="2468880"/>
            <a:ext cx="2042084" cy="411480"/>
          </a:xfrm>
          <a:prstGeom prst="roundRect">
            <a:avLst>
              <a:gd name="adj" fmla="val 17778"/>
            </a:avLst>
          </a:prstGeom>
          <a:solidFill>
            <a:srgbClr val="070D20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461608" y="246888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or  not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461608" y="297180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여러 조건 묶기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006611" y="150876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235211" y="1737360"/>
            <a:ext cx="594360" cy="594360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801" y="1885950"/>
            <a:ext cx="297180" cy="29718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966731" y="1737360"/>
            <a:ext cx="14020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할당 연산자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9235211" y="2468880"/>
            <a:ext cx="2042084" cy="411480"/>
          </a:xfrm>
          <a:prstGeom prst="roundRect">
            <a:avLst>
              <a:gd name="adj" fmla="val 17778"/>
            </a:avLst>
          </a:prstGeom>
          <a:solidFill>
            <a:srgbClr val="070D20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235211" y="246888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+=  -=  *=  …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9235211" y="297180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 넣기 · 누적하기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85800" y="370332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14400" y="3931920"/>
            <a:ext cx="594360" cy="594360"/>
          </a:xfrm>
          <a:prstGeom prst="ellipse">
            <a:avLst/>
          </a:prstGeom>
          <a:solidFill>
            <a:srgbClr val="F472B6">
              <a:alpha val="40000"/>
            </a:srgbClr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4080510"/>
            <a:ext cx="297180" cy="29718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645920" y="3931920"/>
            <a:ext cx="14020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ID 연산자</a:t>
            </a:r>
            <a:endParaRPr lang="en-US" sz="1700" dirty="0"/>
          </a:p>
        </p:txBody>
      </p:sp>
      <p:sp>
        <p:nvSpPr>
          <p:cNvPr id="37" name="Shape 30"/>
          <p:cNvSpPr/>
          <p:nvPr/>
        </p:nvSpPr>
        <p:spPr>
          <a:xfrm>
            <a:off x="914400" y="4663440"/>
            <a:ext cx="2042084" cy="411480"/>
          </a:xfrm>
          <a:prstGeom prst="roundRect">
            <a:avLst>
              <a:gd name="adj" fmla="val 17778"/>
            </a:avLst>
          </a:prstGeom>
          <a:solidFill>
            <a:srgbClr val="070D20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914400" y="466344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 is not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14400" y="516636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객체인가?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3459404" y="370332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688004" y="3931920"/>
            <a:ext cx="594360" cy="594360"/>
          </a:xfrm>
          <a:prstGeom prst="ellipse">
            <a:avLst/>
          </a:prstGeom>
          <a:solidFill>
            <a:srgbClr val="FB923C">
              <a:alpha val="40000"/>
            </a:srgbClr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6594" y="4080510"/>
            <a:ext cx="297180" cy="29718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419524" y="3931920"/>
            <a:ext cx="14020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멤버십 연산자</a:t>
            </a:r>
            <a:endParaRPr lang="en-US" sz="1700" dirty="0"/>
          </a:p>
        </p:txBody>
      </p:sp>
      <p:sp>
        <p:nvSpPr>
          <p:cNvPr id="44" name="Shape 36"/>
          <p:cNvSpPr/>
          <p:nvPr/>
        </p:nvSpPr>
        <p:spPr>
          <a:xfrm>
            <a:off x="3688004" y="4663440"/>
            <a:ext cx="2042084" cy="411480"/>
          </a:xfrm>
          <a:prstGeom prst="roundRect">
            <a:avLst>
              <a:gd name="adj" fmla="val 17778"/>
            </a:avLst>
          </a:prstGeom>
          <a:solidFill>
            <a:srgbClr val="070D20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3688004" y="466344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 not in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3688004" y="516636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안에 들어 있나?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6233008" y="370332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461608" y="3931920"/>
            <a:ext cx="594360" cy="594360"/>
          </a:xfrm>
          <a:prstGeom prst="ellipse">
            <a:avLst/>
          </a:prstGeom>
          <a:solidFill>
            <a:srgbClr val="8A93B8">
              <a:alpha val="40000"/>
            </a:srgbClr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198" y="4080510"/>
            <a:ext cx="297180" cy="297180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7193128" y="3931920"/>
            <a:ext cx="14020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비트 연산자</a:t>
            </a:r>
            <a:endParaRPr lang="en-US" sz="1700" dirty="0"/>
          </a:p>
        </p:txBody>
      </p:sp>
      <p:sp>
        <p:nvSpPr>
          <p:cNvPr id="51" name="Shape 42"/>
          <p:cNvSpPr/>
          <p:nvPr/>
        </p:nvSpPr>
        <p:spPr>
          <a:xfrm>
            <a:off x="6461608" y="4663440"/>
            <a:ext cx="2042084" cy="411480"/>
          </a:xfrm>
          <a:prstGeom prst="roundRect">
            <a:avLst>
              <a:gd name="adj" fmla="val 17778"/>
            </a:avLst>
          </a:prstGeom>
          <a:solidFill>
            <a:srgbClr val="070D20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6461608" y="4663440"/>
            <a:ext cx="20420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 |  ^  ~  &lt;&lt;  &gt;&gt;</a:t>
            </a:r>
            <a:endParaRPr lang="en-US" sz="1300" dirty="0"/>
          </a:p>
        </p:txBody>
      </p:sp>
      <p:sp>
        <p:nvSpPr>
          <p:cNvPr id="53" name="Text 44"/>
          <p:cNvSpPr txBox="1"/>
          <p:nvPr/>
        </p:nvSpPr>
        <p:spPr>
          <a:xfrm>
            <a:off x="6461608" y="516636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이진수 단위 계산</a:t>
            </a:r>
            <a:endParaRPr lang="en-US" sz="1300" dirty="0"/>
          </a:p>
        </p:txBody>
      </p:sp>
      <p:sp>
        <p:nvSpPr>
          <p:cNvPr id="54" name="Shape 45"/>
          <p:cNvSpPr/>
          <p:nvPr/>
        </p:nvSpPr>
        <p:spPr>
          <a:xfrm>
            <a:off x="9006611" y="3703320"/>
            <a:ext cx="2499284" cy="1965960"/>
          </a:xfrm>
          <a:prstGeom prst="roundRect">
            <a:avLst>
              <a:gd name="adj" fmla="val 558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9235211" y="3794760"/>
            <a:ext cx="21335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띄어쓰기 규칙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연산자 앞뒤 한 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1 + 1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1+1   ✗ 1   +   1</a:t>
            </a:r>
            <a:endParaRPr lang="en-US" sz="1300" dirty="0"/>
          </a:p>
        </p:txBody>
      </p:sp>
      <p:sp>
        <p:nvSpPr>
          <p:cNvPr id="56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1.3, Python Reference — Expressions</a:t>
            </a:r>
            <a:endParaRPr lang="en-US" sz="1000" dirty="0"/>
          </a:p>
        </p:txBody>
      </p:sp>
      <p:sp>
        <p:nvSpPr>
          <p:cNvPr id="57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2) 산술 연산자 — 계산기 기능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2103120"/>
                <a:gridCol w="109728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연산자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이름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기억하기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더하기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+ 2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빼기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9 - 2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곱하기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* 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× 대신 *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나누기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/ 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결과는 항상 실수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몫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// 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나눗셈의 몫만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나머지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9 % 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나눗셈의 나머지만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제곱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** 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9²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 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괄호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 + 2) * 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괄호 먼저 계산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0" y="1508760"/>
            <a:ext cx="2361895" cy="4114800"/>
          </a:xfrm>
          <a:prstGeom prst="roundRect">
            <a:avLst>
              <a:gd name="adj" fmla="val 4646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72600" y="1508760"/>
            <a:ext cx="190469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비즈니스 예 : // 와 %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135분은 몇 시간 몇 분?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135 // 60  → 2 (시간)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135 % 60   → 15 (분)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커피 100잔을 12잔 상자에?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// 12  → 8 (상자)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100 % 12   → 4 (남는 잔)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하는 실수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곱하기는 x 가 아니라 *,  제곱은 ^ 가 아니라 ** 입니다!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a) 문자열 연산 — + 는 연결, * 는 반복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 :  문자열 이어 붙이기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737360"/>
          </a:xfrm>
          <a:prstGeom prst="roundRect">
            <a:avLst>
              <a:gd name="adj" fmla="val 526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'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523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52344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09981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99816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b)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5227168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6868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133088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Busan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*  :  문자열 반복하기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78728" y="1874520"/>
            <a:ext cx="5227168" cy="1389888"/>
          </a:xfrm>
          <a:prstGeom prst="roundRect">
            <a:avLst>
              <a:gd name="adj" fmla="val 657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88456" y="24048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404872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 '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3)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388456" y="27523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752344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20)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78728" y="3401568"/>
            <a:ext cx="5227168" cy="996696"/>
          </a:xfrm>
          <a:prstGeom prst="roundRect">
            <a:avLst>
              <a:gd name="adj" fmla="val 733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461608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61608" y="3785616"/>
            <a:ext cx="48614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Busan Busan Busan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4663440"/>
            <a:ext cx="10820095" cy="914400"/>
          </a:xfrm>
          <a:prstGeom prst="roundRect">
            <a:avLst>
              <a:gd name="adj" fmla="val 12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46634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기호, 다른 동작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숫자끼리 + 는 덧셈(1 + 2 → 3), 문자열끼리 + 는 연결('1' + '2' → '12') — 타입에 따라 결과가 달라요!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활용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print('-' * 20) 은 출력 결과에 구분선을 그을 때 자주 써요.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3) 비교 연산자 — 결과는 항상 True 또는 False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237744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연산자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 (x = 9, y = 2)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같다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== 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같지 않다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!= 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크다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&gt; 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작다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&lt; 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크거나 같다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&gt;= 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작거나 같다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&lt;= 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955280" y="150876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a) 복합 비교 (Chained)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955280" y="1920240"/>
            <a:ext cx="3550615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2048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8339328" y="2048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8540496" y="2048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823960" y="1975104"/>
            <a:ext cx="2453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2286000"/>
            <a:ext cx="355061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65008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549640" y="245059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&lt; 3 &lt; 5)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272491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&lt; 3 &gt; 5)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065008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299923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065008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3273552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(80 &lt;= score &lt; 90)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0" y="3849624"/>
            <a:ext cx="3550615" cy="1243584"/>
          </a:xfrm>
          <a:prstGeom prst="roundRect">
            <a:avLst>
              <a:gd name="adj" fmla="val 588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8138160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233672"/>
            <a:ext cx="31848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85800" y="4983480"/>
            <a:ext cx="6949440" cy="640080"/>
          </a:xfrm>
          <a:prstGeom prst="roundRect">
            <a:avLst>
              <a:gd name="adj" fmla="val 11429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4983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= 와 == 를 헷갈리지 마세요! 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9  (넣어라)     x == 9  (같은가?)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쓰임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 &lt; 3 &lt; 5 는 (1 &lt; 3) and (3 &lt; 5) — if 조건문(04장) · 데이터 필터링(08장)에서 계속 쓰여요.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4) 논리 연산자 — 여러 조건을 묶어 판단하기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265176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연산자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둘 다 True 이면 True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&gt; 2 and 3 &gt; 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하나라도 True 이면 True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&gt; 2 or 3 &lt; 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True ↔ False 뒤집기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(9 &gt; 2)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508760"/>
            <a:ext cx="2819095" cy="2011680"/>
          </a:xfrm>
          <a:prstGeom prst="roundRect">
            <a:avLst>
              <a:gd name="adj" fmla="val 5455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15400" y="1508760"/>
            <a:ext cx="23618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비즈니스 예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 = True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19 and member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True (성인 회원 할인!)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3749040"/>
            <a:ext cx="10820095" cy="1783080"/>
          </a:xfrm>
          <a:prstGeom prst="roundRect">
            <a:avLst>
              <a:gd name="adj" fmla="val 5128"/>
            </a:avLst>
          </a:prstGeom>
          <a:solidFill>
            <a:srgbClr val="F472B6">
              <a:alpha val="1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3749040"/>
            <a:ext cx="1027145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: &amp; 와 | 는 비트 연산자 — 비교식과 함께 쓰면 계산 순서가 달라져요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&gt; 2 | 3 &lt; 1      → False   (2 | 3 을 먼저 계산 → 9 &gt; 3 &lt; 1)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 &gt; 2) | (3 &lt; 1)  → True    (괄호로 묶어야 의도대로)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→ 조건을 묶을 때는 and · or · not 을 쓰세요!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외우기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and = 그리고(둘 다),  or = 또는(하나라도),  not = 아니다(반대로)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1.3, Python Reference — Operator precedence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5) ID 연산자 is  ·  6) 멤버십 연산자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is : '완전히 같은 물건'인가?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x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== y, x is y, x is z)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803904"/>
            <a:ext cx="5227168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18795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False True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B923C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 : '안에 들어 있나?'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8456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38845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388456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'커피'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'아이스 커피'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78728" y="3803904"/>
            <a:ext cx="5227168" cy="1243584"/>
          </a:xfrm>
          <a:prstGeom prst="roundRect">
            <a:avLst>
              <a:gd name="adj" fmla="val 588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461608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61608" y="4187952"/>
            <a:ext cx="4861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" y="521208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52120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is vs ==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== 는 '내용이 같은가', is 는 '같은 물건인가' (쌍둥이 ≠ 같은 사람) — is 는 주로 x is None 확인에!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B923C">
              <a:alpha val="12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923C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 은 언제?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목록에 있는지, 글자 속에 단어가 있는지 확인할 때 — 데이터 검색에 아주 많이 써요!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7) 비트 연산자 — 이진수 자리마다 계산 (참고)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7955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3017520"/>
                <a:gridCol w="1371600"/>
                <a:gridCol w="1005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연산자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이름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규칙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5 ○ 3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AND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두 비트 모두 1 → 1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&amp; 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OR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하나라도 1 → 1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| 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XOR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하나만 1 → 1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^ 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NOT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모든 비트 뒤집기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-6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&lt;&lt;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왼쪽 이동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오른쪽에 0 채우며 이동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&lt;&lt; 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&gt;&gt;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오른쪽 이동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오른쪽으로 이동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&gt;&gt; 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915400" y="1508760"/>
            <a:ext cx="2590495" cy="3337560"/>
          </a:xfrm>
          <a:prstGeom prst="roundRect">
            <a:avLst>
              <a:gd name="adj" fmla="val 4236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0" y="1508760"/>
            <a:ext cx="21332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 &amp; 3 을 이진수로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→ 1 0 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→ 0 1 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  0 0 1  → 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512064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1206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이번 학기에는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비트 연산은 데이터 분석에서 거의 쓰지 않아요. '이런 게 있다' 정도로 넘어가도 됩니다.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8) 축약 할당 연산자 — 누적 계산을 짧게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연산자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줄여 쓰기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풀어 쓰기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+=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a +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-=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a -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*=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a *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/=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a /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//=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a //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%=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a %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**=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 a ** b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463040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: 위에서부터 차례로 실행하면? (# 뒤가 결과)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92240" y="1874520"/>
            <a:ext cx="5013655" cy="3767328"/>
          </a:xfrm>
          <a:prstGeom prst="roundRect">
            <a:avLst>
              <a:gd name="adj" fmla="val 242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512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6"/>
          <p:cNvSpPr/>
          <p:nvPr/>
        </p:nvSpPr>
        <p:spPr>
          <a:xfrm>
            <a:off x="687628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7"/>
          <p:cNvSpPr/>
          <p:nvPr/>
        </p:nvSpPr>
        <p:spPr>
          <a:xfrm>
            <a:off x="707745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60920" y="1929384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2240280"/>
            <a:ext cx="501365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01968" y="240487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2404872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= 10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2788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2788920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+= 2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01968" y="31729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317296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-= 2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355701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3557016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*= 2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601968" y="394106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3941064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/= 2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10.0   (/ 는 실수)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43251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4325112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**= 2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100.0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601968" y="47091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4709160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//= 2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50.0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01968" y="50932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086600" y="509320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%= 2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쓰임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장바구니 합계 : total += price — 반복문(04장)과 함께 '합계 · 개수 세기'에 정말 많이 써요!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9) 연산자 우선순위 — 무엇부터 계산할까?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6366F1">
              <a:alpha val="60000"/>
            </a:srgbClr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08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5087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괄호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167128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1671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1671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167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제곱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825496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8254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825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/  //  %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8254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곱하기 · 나누기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483864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4838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4838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-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34838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더하기 · 빼기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142232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422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1422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!=  &gt;  &lt;  …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41422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4800600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800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00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→ and → or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4800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논리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1463040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print( ) 로 확인해 보기 (실습 노트북 예제)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43600" y="1920240"/>
            <a:ext cx="5562295" cy="457200"/>
          </a:xfrm>
          <a:prstGeom prst="rect">
            <a:avLst/>
          </a:prstGeom>
          <a:solidFill>
            <a:srgbClr val="070D2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26480" y="1920240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+ 2 * 5)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225735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0" y="2432304"/>
            <a:ext cx="5562295" cy="457200"/>
          </a:xfrm>
          <a:prstGeom prst="rect">
            <a:avLst/>
          </a:prstGeom>
          <a:solidFill>
            <a:srgbClr val="10193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26480" y="2432304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print((10 + 2) * 5)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25735" y="24323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60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943600" y="2944368"/>
            <a:ext cx="5562295" cy="457200"/>
          </a:xfrm>
          <a:prstGeom prst="rect">
            <a:avLst/>
          </a:prstGeom>
          <a:solidFill>
            <a:srgbClr val="070D2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26480" y="2944368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+ 2 * 5 ** 2)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225735" y="2944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60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943600" y="3456432"/>
            <a:ext cx="5562295" cy="457200"/>
          </a:xfrm>
          <a:prstGeom prst="rect">
            <a:avLst/>
          </a:prstGeom>
          <a:solidFill>
            <a:srgbClr val="10193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26480" y="3456432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+ 5 * 2 &gt; 20)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25735" y="34564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False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43600" y="3968496"/>
            <a:ext cx="5562295" cy="457200"/>
          </a:xfrm>
          <a:prstGeom prst="rect">
            <a:avLst/>
          </a:prstGeom>
          <a:solidFill>
            <a:srgbClr val="070D2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126480" y="3968496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print(100 + 5 * 3)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225735" y="39684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115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943600" y="4480560"/>
            <a:ext cx="5562295" cy="457200"/>
          </a:xfrm>
          <a:prstGeom prst="rect">
            <a:avLst/>
          </a:prstGeom>
          <a:solidFill>
            <a:srgbClr val="10193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126480" y="4480560"/>
            <a:ext cx="4099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print((100 + 5) * 3)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225735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315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꿀팁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순서가 헷갈리면 괄호( )로 묶으세요. 계산도 확실해지고 읽는 사람도 편해요!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1.3, Python Reference — Operator precedence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종합 실습 — 파이썬 카페 매출 계산기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766560" cy="3163824"/>
          </a:xfrm>
          <a:prstGeom prst="roundRect">
            <a:avLst>
              <a:gd name="adj" fmla="val 289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4500         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가격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28600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286000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120          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판매량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3288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32888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= 0.1       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할인율 10%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77977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79776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price * count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매출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2666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26664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= sales * (1 - discount)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할인 후 매출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2735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273552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boxes = count // 12  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12잔씩 포장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204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520440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'매출 :'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sales)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76732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767328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'할인 후 :'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int(net))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01421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014216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'포장 상자 :'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boxes,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 남는 잔 :'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count % 12)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426110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261104"/>
            <a:ext cx="5989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'목표 달성? 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net &gt;= 500000)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4782312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868680" y="4873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166360"/>
            <a:ext cx="6400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매출 : 540000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할인 후 : 486000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포장 상자 : 10 / 남는 잔 :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 달성?  False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150876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 코드에 쓰인 오늘의 개념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72400" y="1965960"/>
            <a:ext cx="3733495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0" y="1965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1965960"/>
            <a:ext cx="1721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price, count, …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72400" y="2624328"/>
            <a:ext cx="3733495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55280" y="26243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산술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692640" y="2624328"/>
            <a:ext cx="1721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-  //  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0" y="3282696"/>
            <a:ext cx="3733495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55280" y="32826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괄호 우선순위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692640" y="3282696"/>
            <a:ext cx="1721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(1 - discount)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0" y="3941064"/>
            <a:ext cx="3733495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955280" y="3941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형 변환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692640" y="3941064"/>
            <a:ext cx="1721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int(net)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772400" y="4599432"/>
            <a:ext cx="3733495" cy="566928"/>
          </a:xfrm>
          <a:prstGeom prst="roundRect">
            <a:avLst>
              <a:gd name="adj" fmla="val 19355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955280" y="45994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비교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4599432"/>
            <a:ext cx="1721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&gt;= 500000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772400" y="5349240"/>
            <a:ext cx="3733495" cy="777240"/>
          </a:xfrm>
          <a:prstGeom prst="roundRect">
            <a:avLst>
              <a:gd name="adj" fmla="val 14118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01000" y="5349240"/>
            <a:ext cx="3276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도전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count 를 125 로 바꾸면 남는 잔은? 먼저 예상해 보세요!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1.3  ·  연산자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1.3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산술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- * / // % ** — / 는 실수, // 는 몫, % 는 나머지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비교 · 논리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== != &gt; &lt; &gt;= &lt;= → True/False,  and · or · not 으로 묶기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is · in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is 는 같은 객체인가(주로 None),  in 은 포함되어 있는가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축약 · 우선순위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total += x 로 누적,  헷갈리면 괄호 ( ) 먼저!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01. 변수와 연산자 정리와 실습 체크리스트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변수와 연산자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체크리스트 — Chap02 실습 노트북에서 해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변수 만들기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price = 4500 처럼 할당하고 print 로 확인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이름 규칙 실험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2myvar = 1 을 실행해 SyntaxError 확인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형 변환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str(100) + '원',  int('3') + 3 실행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9019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1688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 전역 · 지역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안에서 만든 ji 를 밖에서 print → 오류 확인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33008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1688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 연산자 표 채우기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101688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 와 2 로 + - * / // % ** 결과 확인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33008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622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01688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6. 축약 할당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101688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cal = 10 부터 += -= … 를 차례로 실행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노트북 활용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노트북의 빈 코드 셀에 슬라이드 예제를 직접 입력하며 따라 해 보세요. 복사보다 직접 타이핑이 기억에 오래 남아요!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변수와 연산자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배운 것 한 장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00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60020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이름표 붙은 상자 — = 로 할당, 이름 규칙, type( ) · 형 변환, 다중 변수, print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7889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788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범위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78892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전역(어디서나) vs 지역(함수 안만) — global · nonlocal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1.3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977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연산자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397764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산술 · 비교 · 논리 · ID · 멤버십 · 비트 · 축약 할당 · 우선순위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02. 데이터 형식 — 숫자형(int · float · complex)과 문자형(str) 데이터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01. 변수와 연산자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참고문헌 및 참고자료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「비즈니스 데이터 분석 with Python」 02장. 변수와 데이터 유형 — 01. 변수와 연산자 (1.1 변수 · 1.2 전역 변수와 지역 변수 · 1.3 연산자). WikiDocs. https://wikidocs.net/205426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Chap02 변수와 데이터 유형 실습 노트북 (.ipynb)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The Python Tutorial — An Informal Introduction to Python. https://docs.python.org/3/tutorial/introduction.html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The Python Tutorial — Defining Functions. https://docs.python.org/3/tutorial/controlflow.html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Functions. https://docs.python.org/3/library/functions.html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Expressions — Operator precedence. https://docs.python.org/3/reference/expressions.html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Lexical analysis — Identifiers and keywords. https://docs.python.org/3/reference/lexical_analysis.html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PEP 8 — Style Guide for Python Code. https://peps.python.org/pep-0008/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02장. 변수와 데이터 유형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- 02장. 변수와 데이터 유형</dc:title>
  <dc:subject>PptxGenJS Presentation</dc:subject>
  <dc:creator>김진성</dc:creator>
  <cp:lastModifiedBy>김진성</cp:lastModifiedBy>
  <cp:revision>1</cp:revision>
  <dcterms:created xsi:type="dcterms:W3CDTF">2026-10-05T16:42:22Z</dcterms:created>
  <dcterms:modified xsi:type="dcterms:W3CDTF">2026-10-05T16:42:22Z</dcterms:modified>
</cp:coreProperties>
</file>