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notesMasterIdLst>
    <p:notesMasterId r:id="rId6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f21c48be-f754-bffc-8e5e-c1faddfc8e6b}">
          <p14:sldIdLst>
            <p14:sldId id="256"/>
            <p14:sldId id="257"/>
          </p14:sldIdLst>
        </p14:section>
        <p14:section name="1. 리스트" id="{85f9e0e1-d345-2dbc-6101-67a0a881a475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2. 튜플" id="{b48687a3-2476-a871-9291-d515287c3a0b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3. 딕셔너리" id="{99570a5d-3293-9f83-9ac1-b485541762bc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4. 집합" id="{1bd8aae6-7e76-8f08-1ba5-e8e8fa6c8025}">
          <p14:sldIdLst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</p14:sldIdLst>
        </p14:section>
        <p14:section name="5. 변수" id="{9237381b-a15e-dd95-0518-52a5143b4d22}">
          <p14:sldIdLst>
            <p14:sldId id="311"/>
            <p14:sldId id="312"/>
            <p14:sldId id="313"/>
            <p14:sldId id="314"/>
          </p14:sldIdLst>
        </p14:section>
        <p14:section name="마무리" id="{19dda41d-12ce-ff95-1a71-ead7d404f350}">
          <p14:sldIdLst>
            <p14:sldId id="315"/>
            <p14:sldId id="31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image" Target="../media/image-60-5.png"/><Relationship Id="rId6" Type="http://schemas.openxmlformats.org/officeDocument/2006/relationships/image" Target="../media/image-6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463040"/>
            <a:ext cx="4023360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PYTHON FOR BUSINESS DATA ANALYSIS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920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비즈니스 데이터 분석 with Python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914400" y="2971800"/>
            <a:ext cx="146304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3246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02장. 변수와 데이터 유형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04. PBL 연습문제  —  리스트 · 튜플 · 딕셔너리 · 집합 · 변수 47문제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760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04. PBL 연습문제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연습문제 활용법 — 이렇게 풀어 보세요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3393338" cy="1463040"/>
          </a:xfrm>
          <a:prstGeom prst="roundRect">
            <a:avLst>
              <a:gd name="adj" fmla="val 75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3736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09928"/>
            <a:ext cx="2616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문제 읽기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194560"/>
            <a:ext cx="3073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무엇을 출력해야 하는지 '목표 출력'을 먼저 봐요.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24858" y="216712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1" name="Shape 9"/>
          <p:cNvSpPr/>
          <p:nvPr/>
        </p:nvSpPr>
        <p:spPr>
          <a:xfrm>
            <a:off x="4399178" y="1554480"/>
            <a:ext cx="3393338" cy="1463040"/>
          </a:xfrm>
          <a:prstGeom prst="roundRect">
            <a:avLst>
              <a:gd name="adj" fmla="val 75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82058" y="173736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82058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39258" y="1709928"/>
            <a:ext cx="2616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노트북에서 작성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82058" y="2194560"/>
            <a:ext cx="3073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노트북의 빈 셀에 코드를 입력하고 실행해요.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38237" y="216712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7" name="Shape 15"/>
          <p:cNvSpPr/>
          <p:nvPr/>
        </p:nvSpPr>
        <p:spPr>
          <a:xfrm>
            <a:off x="8112557" y="1554480"/>
            <a:ext cx="3393338" cy="1463040"/>
          </a:xfrm>
          <a:prstGeom prst="roundRect">
            <a:avLst>
              <a:gd name="adj" fmla="val 75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95437" y="173736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95437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752637" y="1709928"/>
            <a:ext cx="2616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결과 비교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95437" y="2194560"/>
            <a:ext cx="3073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목표 출력과 같으면 성공! 다르면 힌트를 다시 읽어요.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" y="3337560"/>
            <a:ext cx="1871411" cy="2011680"/>
          </a:xfrm>
          <a:prstGeom prst="roundRect">
            <a:avLst>
              <a:gd name="adj" fmla="val 5863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5746" y="3520440"/>
            <a:ext cx="731520" cy="731520"/>
          </a:xfrm>
          <a:prstGeom prst="ellipse">
            <a:avLst/>
          </a:prstGeom>
          <a:solidFill>
            <a:srgbClr val="818CF8">
              <a:alpha val="45000"/>
            </a:srgbClr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8626" y="3703320"/>
            <a:ext cx="365760" cy="36576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85800" y="4343400"/>
            <a:ext cx="187141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리스트 (list)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4754880"/>
            <a:ext cx="16885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[ ] 번호 붙은 서랍장 — 18문제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2922971" y="3337560"/>
            <a:ext cx="1871411" cy="2011680"/>
          </a:xfrm>
          <a:prstGeom prst="roundRect">
            <a:avLst>
              <a:gd name="adj" fmla="val 5863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492917" y="3520440"/>
            <a:ext cx="731520" cy="731520"/>
          </a:xfrm>
          <a:prstGeom prst="ellipse">
            <a:avLst/>
          </a:prstGeom>
          <a:solidFill>
            <a:srgbClr val="38BDF8">
              <a:alpha val="45000"/>
            </a:srgbClr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797" y="3703320"/>
            <a:ext cx="365760" cy="36576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2922971" y="4343400"/>
            <a:ext cx="187141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튜플 (tuple)</a:t>
            </a:r>
            <a:endParaRPr lang="en-US" sz="1700" dirty="0"/>
          </a:p>
        </p:txBody>
      </p:sp>
      <p:sp>
        <p:nvSpPr>
          <p:cNvPr id="31" name="Text 27"/>
          <p:cNvSpPr txBox="1"/>
          <p:nvPr/>
        </p:nvSpPr>
        <p:spPr>
          <a:xfrm>
            <a:off x="3014411" y="4754880"/>
            <a:ext cx="16885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 ) 봉인된 도시락 — 6문제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5160142" y="3337560"/>
            <a:ext cx="1871411" cy="2011680"/>
          </a:xfrm>
          <a:prstGeom prst="roundRect">
            <a:avLst>
              <a:gd name="adj" fmla="val 5863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730088" y="3520440"/>
            <a:ext cx="731520" cy="731520"/>
          </a:xfrm>
          <a:prstGeom prst="ellipse">
            <a:avLst/>
          </a:prstGeom>
          <a:solidFill>
            <a:srgbClr val="FACC15">
              <a:alpha val="45000"/>
            </a:srgbClr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968" y="3703320"/>
            <a:ext cx="365760" cy="36576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5160142" y="4343400"/>
            <a:ext cx="187141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딕셔너리 (dict)</a:t>
            </a:r>
            <a:endParaRPr lang="en-US" sz="1700" dirty="0"/>
          </a:p>
        </p:txBody>
      </p:sp>
      <p:sp>
        <p:nvSpPr>
          <p:cNvPr id="36" name="Text 31"/>
          <p:cNvSpPr txBox="1"/>
          <p:nvPr/>
        </p:nvSpPr>
        <p:spPr>
          <a:xfrm>
            <a:off x="5251582" y="4754880"/>
            <a:ext cx="16885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{ 키 : 값 } 사전 — 13문제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7397313" y="3337560"/>
            <a:ext cx="1871411" cy="2011680"/>
          </a:xfrm>
          <a:prstGeom prst="roundRect">
            <a:avLst>
              <a:gd name="adj" fmla="val 5863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7967259" y="3520440"/>
            <a:ext cx="731520" cy="731520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0139" y="3703320"/>
            <a:ext cx="365760" cy="365760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7397313" y="4343400"/>
            <a:ext cx="187141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집합 (set)</a:t>
            </a:r>
            <a:endParaRPr lang="en-US" sz="1700" dirty="0"/>
          </a:p>
        </p:txBody>
      </p:sp>
      <p:sp>
        <p:nvSpPr>
          <p:cNvPr id="41" name="Text 35"/>
          <p:cNvSpPr txBox="1"/>
          <p:nvPr/>
        </p:nvSpPr>
        <p:spPr>
          <a:xfrm>
            <a:off x="7488753" y="4754880"/>
            <a:ext cx="16885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{ } 중복 없는 출석부 — 8문제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9634484" y="3337560"/>
            <a:ext cx="1871411" cy="2011680"/>
          </a:xfrm>
          <a:prstGeom prst="roundRect">
            <a:avLst>
              <a:gd name="adj" fmla="val 5863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10204430" y="3520440"/>
            <a:ext cx="731520" cy="731520"/>
          </a:xfrm>
          <a:prstGeom prst="ellipse">
            <a:avLst/>
          </a:prstGeom>
          <a:solidFill>
            <a:srgbClr val="F472B6">
              <a:alpha val="45000"/>
            </a:srgbClr>
          </a:solidFill>
          <a:ln/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7310" y="3703320"/>
            <a:ext cx="365760" cy="365760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9634484" y="4343400"/>
            <a:ext cx="187141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변수 · 함수</a:t>
            </a:r>
            <a:endParaRPr lang="en-US" sz="1700" dirty="0"/>
          </a:p>
        </p:txBody>
      </p:sp>
      <p:sp>
        <p:nvSpPr>
          <p:cNvPr id="46" name="Text 39"/>
          <p:cNvSpPr txBox="1"/>
          <p:nvPr/>
        </p:nvSpPr>
        <p:spPr>
          <a:xfrm>
            <a:off x="9725924" y="4754880"/>
            <a:ext cx="16885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len( ) 과 def — 2문제</a:t>
            </a:r>
            <a:endParaRPr lang="en-US" sz="1200" dirty="0"/>
          </a:p>
        </p:txBody>
      </p:sp>
      <p:sp>
        <p:nvSpPr>
          <p:cNvPr id="47" name="Shape 40"/>
          <p:cNvSpPr/>
          <p:nvPr/>
        </p:nvSpPr>
        <p:spPr>
          <a:xfrm>
            <a:off x="685800" y="562356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규칙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정답을 보기 전에 꼭 직접 실행해 보기! 오류 메시지도 훌륭한 힌트예요.</a:t>
            </a:r>
            <a:endParaRPr lang="en-US" sz="1500" dirty="0"/>
          </a:p>
        </p:txBody>
      </p:sp>
      <p:sp>
        <p:nvSpPr>
          <p:cNvPr id="49" name="Text 4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50" name="Text 4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리스트 (list) 연습문제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[ ] 번호 붙은 서랍장 — 18문제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Q1. 리스트는 변경할 수 있을까?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Q2. 인덱싱 · 슬라이싱으로 꺼내기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Q3. 슬라이싱 연습 — 앞부분 · 뒷부분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14400" y="5568696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88720" y="544982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… Q18 까지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풀기 전 1분 복습 — 리스트 (list) 치트 시트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669280"/>
                <a:gridCol w="3322015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분류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코드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하는 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꺼내기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arr[1]  arr[-1]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1번 칸 · 마지막 칸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자르기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arr[2:5]  arr[:4]  arr[3:]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2~4번 · 처음~3번 · 3번~끝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간격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arr[1:4:2]  arr[::3]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2칸씩 · 3칸씩 건너뛰기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추가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append(x)  insert(i, x)  extend(목록)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끝에 1개 · i번 자리 · 여러 개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삭제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pop()  pop(i)  remove(x)  del arr[i]  clear()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끝 · i번 · 값 x · 번호(범위) · 전부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정렬 · 세기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sort()  sort(reverse=True)  index(x)  count(x)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오름 · 내림 · 위치 · 개수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669280"/>
            <a:ext cx="10820095" cy="502920"/>
          </a:xfrm>
          <a:prstGeom prst="roundRect">
            <a:avLst>
              <a:gd name="adj" fmla="val 21818"/>
            </a:avLst>
          </a:prstGeom>
          <a:solidFill>
            <a:srgbClr val="818CF8">
              <a:alpha val="12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66928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준비 완료?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표를 보지 않고 풀 수 있으면 최고! 막히면 다시 이 표로 돌아오세요.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03. 데이터 구조 강의 슬라이드 요약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Q1.  리스트는 변경할 수 있을까?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768535" y="2560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68535" y="2560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리스트 특징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파이썬에서 리스트(list)의 데이터는 변경이 가능하다.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2423160"/>
            <a:ext cx="5623560" cy="502920"/>
          </a:xfrm>
          <a:prstGeom prst="roundRect">
            <a:avLst>
              <a:gd name="adj" fmla="val 21818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42316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① Yes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2999232"/>
            <a:ext cx="5623560" cy="502920"/>
          </a:xfrm>
          <a:prstGeom prst="roundRect">
            <a:avLst>
              <a:gd name="adj" fmla="val 21818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299923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② No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3.2 에서 city[1] = 'Daegu' 로 값을 바꿨던 것을 떠올려 보세요.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Q2.  인덱싱 · 슬라이싱으로 꺼내기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① 검색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아래와 같이 출력 결과가 표시되도록 코드를 작성하시오. (print문 3개 사용)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[4, 8, 12, 16, 20, 24, 28]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895344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242816"/>
            <a:ext cx="5623560" cy="1216152"/>
          </a:xfrm>
          <a:prstGeom prst="roundRect">
            <a:avLst>
              <a:gd name="adj" fmla="val 60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4334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26864"/>
            <a:ext cx="5257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[12, 16, 20]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번호는 0부터! 8 은 몇 번 칸일까요? [시작:끝] 은 끝 번호 '바로 앞'까지.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Q3.  슬라이싱 연습 — 앞부분 · 뒷부분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① 검색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아래와 같이 출력 결과가 표시되도록 코드를 작성하시오. (print문 3개 사용)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[10, 20, 30, 40, 50, 60, 70, 80]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895344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242816"/>
            <a:ext cx="5623560" cy="1216152"/>
          </a:xfrm>
          <a:prstGeom prst="roundRect">
            <a:avLst>
              <a:gd name="adj" fmla="val 60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4334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26864"/>
            <a:ext cx="5257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[30, 40, 50]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20, 30, 40]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[40, 50, 60, 70, 80]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시작을 비우면 '처음부터', 끝을 비우면 '끝까지' 예요.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Q4.  간격(step) 슬라이싱 [시작:끝:간격]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30791" y="256032"/>
            <a:ext cx="1975104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30791" y="256032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슬라이싱 심화 (간격)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아래와 같이 출력 결과가 표시되도록 코드를 작성하시오. (print문 2개 사용)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[5, 10, 15, 25, 30, 35, 40]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895344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242816"/>
            <a:ext cx="5623560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4334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26864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25]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[5, 25, 40]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세 번째 숫자는 '몇 칸씩 건너뛸까?' — [시작:끝:간격]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Q5.  del 로 여러 칸 지우기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⑤ 삭제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아래와 같이 출력 결과가 표시되도록 코드를 작성하시오. (del 명령)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[10, 20, 30, 40, 50, 60, 70]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895344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242816"/>
            <a:ext cx="56235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4334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26864"/>
            <a:ext cx="5257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70]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남길 것은 0번(10) 과 6번(70). 지울 범위는 1번 ~ 5번!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Q6.  맨 끝에 추가하기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④ 추가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6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아래와 같이 출력 결과가 표시되도록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[10, 20, 30]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895344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242816"/>
            <a:ext cx="56235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4334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26864"/>
            <a:ext cx="5257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20, 30, 40]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맨 끝에 1개 추가하는 메서드는?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Q7.  pop( ) — 맨 끝 꺼내기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⑤ 삭제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7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아래와 같이 출력 결과가 표시되도록 코드를 작성하시오. (pop 메서드)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[10, 20, 30, 40, 50]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895344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242816"/>
            <a:ext cx="56235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4334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26864"/>
            <a:ext cx="5257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20, 30, 40]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번호를 안 주면 어디서 꺼낼까요?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Q8.  pop(번호) — 원하는 칸 꺼내기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⑤ 삭제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8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아래와 같이 출력 결과가 표시되도록 코드를 작성하시오. (pop 메서드)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[10, 20, 30, 40, 50]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895344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242816"/>
            <a:ext cx="56235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4334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26864"/>
            <a:ext cx="5257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20, 40, 50]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사라진 30 은 몇 번 칸일까요?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Q9.  값의 위치 찾기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① 검색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9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arr 변수에서 37의 위치를 표시하는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[13, 12, 30, 41, 15, 24, 19, 23, 28,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5935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93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20, 31, 37, 33, 43, 54, 51, 40]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'몇 번째에 있니?' 를 묻는 메서드는?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Q10.  원하는 자리에 끼워 넣기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③ 삽입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0594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05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10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arr 변수에 25를 삽입하여 아래와 같이 출력 결과가 표시되도록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974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4495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17296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31729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31729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309981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41071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5753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5753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[10, 20, 30, 40]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169664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517136"/>
            <a:ext cx="56235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4608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901184"/>
            <a:ext cx="5257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20, 25, 30, 40]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insert(위치, 값) — 25 가 들어갈 자리는 몇 번?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Q11.  다른 리스트를 이어 붙이기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055303" y="256032"/>
            <a:ext cx="2450592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055303" y="256032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④ 추가 · ⑧ 합치기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0594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05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arr 변수에 add 변수의 데이터를 추가하여 아래와 같이 출력 결과가 표시되도록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974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44952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17296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31729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31729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309981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41071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5753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5753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[10, 20, 30, 40, 50]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8679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867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= [60, 70]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462272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" y="4809744"/>
            <a:ext cx="56235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868680" y="49011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5193792"/>
            <a:ext cx="5257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20, 30, 40, 50, 60, 70]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append 를 쓰면 [.., 50, [60, 70]] 이 돼요. 여러 개를 하나씩 붙이려면?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Q12.  오름차순 정렬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⑥ 정렬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arr 변수의 데이터를 오름차순으로 정렬되어 출력되도록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[37, 13, 51, 12, 30, 41, 15, 24, 19,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5935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93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23, 28, 20, 31, 33, 43, 54, 40]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작은 수 → 큰 수. 정렬 메서드의 기본값이 오름차순이에요.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Q13.  내림차순 정렬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⑥ 정렬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arr 변수의 데이터를 내림차순 정렬되어 출력되도록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[37, 13, 51, 12, 30, 41, 15, 24, 19,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5935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93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23, 28, 20, 31, 33, 43, 54, 40]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sort( ) 괄호 안에 옵션 하나를 넣어요.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Q14.  개수 세기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⑨ 개수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arr 변수의 데이터에서 13이 몇 개 있는지 개수가 출력되도록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[37, 13, 51, 13, 30, 13, 15, 24, 13,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5935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93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23, 28, 20, 13, 33, 43, 13, 40]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문자열에서도 썼던 '개수 세기' 메서드!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Q15.  값으로 삭제하기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⑤ 삭제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arr 변수의 데이터에서 30을 삭제하여 출력되도록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[10, 20, 30, 40, 50]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895344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242816"/>
            <a:ext cx="56235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4334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26864"/>
            <a:ext cx="5257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20, 40, 50]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이번엔 번호가 아니라 '값 30' 을 지정해서 지워요.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Q16.  두 리스트 결합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87407" y="256032"/>
            <a:ext cx="1618488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87407" y="256032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⑧ 합치기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16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아래와 같은 결과가 출력되도록 두 리스트를 결합하는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arr1 = [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5935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93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arr2 = [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187952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" y="4535424"/>
            <a:ext cx="56235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868680" y="4626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4919472"/>
            <a:ext cx="5257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['a', 'b', 'c', 'd', 'e', 'f', 'g']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문자열을 이어 붙일 때 쓰던 연산자!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Q17.  전부 비우기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⑤ 삭제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17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arr 변수의 데이터 전체가 삭제되도록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[10, 20, 30, 40, 50]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'깨끗이 치우다' 라는 영어 단어!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Q18.  데이터 형식 확인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768535" y="2560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68535" y="2560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2.1 데이터 타입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18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arr 변수의 데이터 형식을 표시하는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[10, 20, 30, 40, 50]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2.1 데이터 타입에서 배운 '타입 확인' 함수!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튜플 (tuple) 연습문제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 ) 봉인된 도시락 — 6문제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Q1. 괄호 없이 튜플 만들기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Q2. 튜플 인덱싱 · 슬라이싱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Q3. 튜플에서 위치 찾기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14400" y="5568696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88720" y="544982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… Q6 까지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2. 튜플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풀기 전 1분 복습 — 튜플 (tuple) 치트 시트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669280"/>
                <a:gridCol w="3322015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분류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코드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하는 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8BD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만들기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 = (1, 2, 3)   t = 1, 2, 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괄호는 생략 가능, 쉼표가 핵심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8BD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꺼내기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t[2]   t[2:4]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리스트와 같음 (결과는 튜플)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8BD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메서드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index(x)   count(x)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딱 2개뿐!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8BD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특징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t[0] = 9  → TypeError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순서 O · 변경 X · del t 는 가능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669280"/>
            <a:ext cx="10820095" cy="502920"/>
          </a:xfrm>
          <a:prstGeom prst="roundRect">
            <a:avLst>
              <a:gd name="adj" fmla="val 21818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66928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준비 완료?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표를 보지 않고 풀 수 있으면 최고! 막히면 다시 이 표로 돌아오세요.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03. 데이터 구조 강의 슬라이드 요약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2. 튜플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Q1.  괄호 없이 튜플 만들기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768535" y="2560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68535" y="2560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3.3 튜플 만들기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괄호( )를 사용하지 않고도 파이썬 튜플을 만들 수 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2423160"/>
            <a:ext cx="5623560" cy="502920"/>
          </a:xfrm>
          <a:prstGeom prst="roundRect">
            <a:avLst>
              <a:gd name="adj" fmla="val 21818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42316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① Yes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2999232"/>
            <a:ext cx="5623560" cy="502920"/>
          </a:xfrm>
          <a:prstGeom prst="roundRect">
            <a:avLst>
              <a:gd name="adj" fmla="val 21818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299923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② No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쉼표만 찍어서 값을 나열하면?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2. 튜플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Q2.  튜플 인덱싱 · 슬라이싱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3.3 ① 검색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아래와 같이 출력 결과가 표시되도록 코드를 작성하시오. (print문 2개 사용)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 = (100, 200, 300, 400, 500)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895344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242816"/>
            <a:ext cx="5623560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4334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26864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300, 400   (원문 표기)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리스트와 똑같이 꺼내요. 300 은 몇 번 칸?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2. 튜플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Q3.  튜플에서 위치 찾기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3.3 ① 검색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tupl 변수에서 35의 위치를 표시하는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 = (10, 15, 20, 25, 30, 35, 40, 45, 50)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튜플의 메서드는 딱 2개 — 그 중 하나!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2. 튜플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Q4.  튜플에서 개수 세기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3.3 ① 검색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tupl 변수에서 20의 개수를 표시하는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 = (10, 40, 20, 20, 10, 30, 20, 20, 10,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5935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93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15, 20, 25, 30, 35, 20, 45, 50)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튜플 메서드 2개 중 나머지 하나!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2. 튜플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Q5.  튜플 설명 고르기 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87407" y="256032"/>
            <a:ext cx="1618488" cy="329184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87407" y="256032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3.3 튜플 특징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튜플에 대한 설명 중 옳은 것을 선택하시오. (2개)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2423160"/>
            <a:ext cx="5623560" cy="411480"/>
          </a:xfrm>
          <a:prstGeom prst="roundRect">
            <a:avLst>
              <a:gd name="adj" fmla="val 26667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42316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① 튜플은 데이터의 순서를 유지한다.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2907792"/>
            <a:ext cx="5623560" cy="411480"/>
          </a:xfrm>
          <a:prstGeom prst="roundRect">
            <a:avLst>
              <a:gd name="adj" fmla="val 26667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2907792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② 튜플은 순서가 없다.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3392424"/>
            <a:ext cx="5623560" cy="411480"/>
          </a:xfrm>
          <a:prstGeom prst="roundRect">
            <a:avLst>
              <a:gd name="adj" fmla="val 26667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392424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③ 일단 생성된 튜플은 변경할 수 없다.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3877056"/>
            <a:ext cx="5623560" cy="411480"/>
          </a:xfrm>
          <a:prstGeom prst="roundRect">
            <a:avLst>
              <a:gd name="adj" fmla="val 26667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3877056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④ 일단 생성된 튜플을 변경할 수 있다.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튜플 = 봉인된 도시락. 칸 번호가 있었나요? 바꿀 수 있었나요?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2. 튜플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Q6.  튜플 설명 고르기 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49663" y="256032"/>
            <a:ext cx="1856232" cy="329184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49663" y="256032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3.3 ② 변경 불가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6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튜플에 대한 설명 중 옳은 것을 선택하시오. (2개)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2423160"/>
            <a:ext cx="5623560" cy="411480"/>
          </a:xfrm>
          <a:prstGeom prst="roundRect">
            <a:avLst>
              <a:gd name="adj" fmla="val 26667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42316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① 데이터를 제거할 수 있지만 업데이트할 수는 없다.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2907792"/>
            <a:ext cx="5623560" cy="411480"/>
          </a:xfrm>
          <a:prstGeom prst="roundRect">
            <a:avLst>
              <a:gd name="adj" fmla="val 26667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2907792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② 튜플을 삭제할 수 없다.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3392424"/>
            <a:ext cx="5623560" cy="411480"/>
          </a:xfrm>
          <a:prstGeom prst="roundRect">
            <a:avLst>
              <a:gd name="adj" fmla="val 26667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392424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③ 튜플의 데이터를 삭제할 수 없다.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3877056"/>
            <a:ext cx="5623560" cy="411480"/>
          </a:xfrm>
          <a:prstGeom prst="roundRect">
            <a:avLst>
              <a:gd name="adj" fmla="val 26667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3877056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④ 튜플의 데이터를 업데이트할 수 없다.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'안의 데이터'를 지우는 것과 '튜플 자체'를 지우는 것은 달라요.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3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딕셔너리 (dict) 연습문제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{ 키 : 값 } 사전 — 13문제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Q1. 딕셔너리 키의 조건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Q2. 딕셔너리 만들기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Q3. 키만 모아 보기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14400" y="5568696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88720" y="544982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… Q13 까지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3. 딕셔너리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풀기 전 1분 복습 — 딕셔너리 (dict) 치트 시트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669280"/>
                <a:gridCol w="3322015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분류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코드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하는 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만들기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dic = {'name': 'son', 'age': 31}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{ 키 : 값 }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꺼내기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dic['name']   dic.get('name')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키로 찾기 (get 은 없으면 None)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모아 보기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keys()   values()   items()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키 · 값 · (키, 값)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추가 · 변경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dic['salary'] = 90000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있으면 변경, 없으면 추가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삭제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pop(키)  popitem()  del dic[키]  clear()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키 · 마지막 쌍 · 키 · 전부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초기화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dict.fromkeys(dic, 0)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같은 키, 값은 모두 0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669280"/>
            <a:ext cx="10820095" cy="502920"/>
          </a:xfrm>
          <a:prstGeom prst="roundRect">
            <a:avLst>
              <a:gd name="adj" fmla="val 21818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66928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준비 완료?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표를 보지 않고 풀 수 있으면 최고! 막히면 다시 이 표로 돌아오세요.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03. 데이터 구조 강의 슬라이드 요약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3. 딕셔너리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Q1.  딕셔너리 키의 조건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30791" y="256032"/>
            <a:ext cx="1975104" cy="329184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30791" y="256032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3.4 딕셔너리 만들기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딕셔너리 키는 변경할 수 없어야 한다.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2423160"/>
            <a:ext cx="5623560" cy="502920"/>
          </a:xfrm>
          <a:prstGeom prst="roundRect">
            <a:avLst>
              <a:gd name="adj" fmla="val 21818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42316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① Yes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2999232"/>
            <a:ext cx="5623560" cy="502920"/>
          </a:xfrm>
          <a:prstGeom prst="roundRect">
            <a:avLst>
              <a:gd name="adj" fmla="val 21818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299923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② No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3.4 에서 '키가 될 수 있는 것' 을 떠올려 보세요.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3. 딕셔너리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Q2.  딕셔너리 만들기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30791" y="256032"/>
            <a:ext cx="1975104" cy="329184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30791" y="256032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3.4 딕셔너리 만들기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0594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05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 변수에 아래와 같이 키(key)와 값(value)을 저장하고 표시하는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974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44952"/>
            <a:ext cx="56235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68680" y="3136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429000"/>
            <a:ext cx="5257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{'name': 'son', 'age': 31, 'number': 7}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{ 키 : 값,  키 : 값 } — 문자열 키는 따옴표!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3. 딕셔너리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Q3.  키만 모아 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14055" y="256032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14055" y="2560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3.4 keys · values · items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 변수의 키(key)를 표시하는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31,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'number'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7}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'키들' 을 영어로 하면?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3. 딕셔너리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Q4.  값만 모아 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14055" y="256032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14055" y="2560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3.4 keys · values · items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 변수의 값(value)을 표시하는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31,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'number'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7}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'값들' 을 영어로 하면?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3. 딕셔너리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Q5.  중첩 딕셔너리에서 꺼내기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3.4 ⑤ 중첩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 변수에서 son의 나이를 출력하는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1865376"/>
          </a:xfrm>
          <a:prstGeom prst="roundRect">
            <a:avLst>
              <a:gd name="adj" fmla="val 4902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{1: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'31'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5935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93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'sex'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'male'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" y="388620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38862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2: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'karina'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'23'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" y="417880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41788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'sex'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'female'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바깥 키(1)로 안쪽 사전을 꺼내고 → 다시 ['age']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3. 딕셔너리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Q6.  pop 으로 키 삭제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3.4 ③ 삭제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6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 변수에서 age를 삭제하는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31,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'number'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7}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리스트는 pop(번호), 딕셔너리는 pop(?)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3. 딕셔너리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Q7.  마지막 쌍 삭제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3.4 ③ 삭제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7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 변수에서 마지막 데이터를 삭제하는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31,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'number'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7}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pop + item(쌍) = ?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3. 딕셔너리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Q8.  del 로 키 삭제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3.4 ③ 삭제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8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 변수에서 age를 삭제하는 코드를 작성하시오. (del 명령)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31,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'number'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7}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del 리스트[번호] 처럼 → del 딕셔너리[?]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3. 딕셔너리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Q9.  전부 비우기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3.4 ③ 삭제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9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 변수의 모든 데이터를 삭제하는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31,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'number'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7}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리스트를 비울 때와 같은 메서드!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3. 딕셔너리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Q10.  값 변경하기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411919" y="256032"/>
            <a:ext cx="2093976" cy="329184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1919" y="256032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3.4 ② 추가 · 변경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0594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05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10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 변수의 데이터에서 salary의 데이터를 90000 으로 변경하는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974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4495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17296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31729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31729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309981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41071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5753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5753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'son'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31,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'salary'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70000}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있는 키에 = 로 넣으면?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3. 딕셔너리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Q11.  새 키 추가하기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411919" y="256032"/>
            <a:ext cx="2093976" cy="329184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1919" y="256032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3.4 ② 추가 · 변경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 변수의 데이터에서 number:7 의 데이터를 추가하는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'son'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31,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'salary'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70000}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변경과 추가는 같은 모양! 없는 키에 넣으면?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3. 딕셔너리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Q12.  값을 모두 0으로 초기화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30791" y="256032"/>
            <a:ext cx="1975104" cy="329184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30791" y="256032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3.4 fromkeys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 변수의 데이터 값(value)을 모두 0으로 초기화하는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'son'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31,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'salary'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70000}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키 목록으로 새 사전을 만드는 dict.____(키 목록, 기본값)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3. 딕셔너리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Q13.  name 값 가져오는 방법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3.4 ① 검색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0594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05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아래 보기에서 name에 대한 값(value)을 가져오는 올바른 방법을 고르시오. (2개)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2697480"/>
            <a:ext cx="5623560" cy="411480"/>
          </a:xfrm>
          <a:prstGeom prst="roundRect">
            <a:avLst>
              <a:gd name="adj" fmla="val 26667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69748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① name = dic.get(2)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3182112"/>
            <a:ext cx="5623560" cy="411480"/>
          </a:xfrm>
          <a:prstGeom prst="roundRect">
            <a:avLst>
              <a:gd name="adj" fmla="val 26667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182112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② name = dic.get('name')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3666744"/>
            <a:ext cx="5623560" cy="411480"/>
          </a:xfrm>
          <a:prstGeom prst="roundRect">
            <a:avLst>
              <a:gd name="adj" fmla="val 26667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666744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③ name = dic[2]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4151376"/>
            <a:ext cx="5623560" cy="411480"/>
          </a:xfrm>
          <a:prstGeom prst="roundRect">
            <a:avLst>
              <a:gd name="adj" fmla="val 26667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4151376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④ name = dic['name']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727448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5074920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2029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9848" y="52029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3" name="Shape 21"/>
          <p:cNvSpPr/>
          <p:nvPr/>
        </p:nvSpPr>
        <p:spPr>
          <a:xfrm>
            <a:off x="1271016" y="52029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554480" y="512978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5440680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95528" y="560527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56052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'son'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31,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'salary'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70000}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딕셔너리는 번호가 아니라 '키' 로 찾아요.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4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집합 (set) 연습문제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{ } 중복 없는 출석부 — 8문제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Q1. 집합에 1개 추가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Q2. 에러 없이 삭제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Q3. 임의의 값 삭제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14400" y="5568696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88720" y="544982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… Q8 까지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4. 집합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풀기 전 1분 복습 — 집합 (set) 치트 시트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669280"/>
                <a:gridCol w="3322015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분류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코드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하는 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추가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add(x)   update(목록)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1개 · 여러 개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삭제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discard(x)   remove(x)   pop()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안전 · 없으면 오류 · 아무거나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새 집합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a.union(b)  a | b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합집합 (a 그대로)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원본 변경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a.update(b)  a.intersection_update(b)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합집합 · 교집합을 a 에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원본 변경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a.symmetric_difference_update(b)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공통만 빼고 a 에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669280"/>
            <a:ext cx="10820095" cy="502920"/>
          </a:xfrm>
          <a:prstGeom prst="roundRect">
            <a:avLst>
              <a:gd name="adj" fmla="val 21818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66928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준비 완료?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표를 보지 않고 풀 수 있으면 최고! 막히면 다시 이 표로 돌아오세요.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03. 데이터 구조 강의 슬라이드 요약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4. 집합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Q1.  집합에 1개 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3.5 ① 추가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sets 변수에 black 을 추가하는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'blue'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'red'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'yellow'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리스트는 append, 집합은?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4. 집합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Q2.  에러 없이 삭제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3.5 ② 삭제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0594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05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sets 변수에서 yellow를 삭제하는 코드를 작성하시오. 만약 삭제할 데이터가 없는 경우 에러가 발생하지 않도록 한다.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974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4495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17296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31729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31729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309981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41071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5753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5753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'blue'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'red'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'yellow'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'없으면 화내는' 직원 vs '없으면 그냥 넘어가는' 직원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4. 집합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Q3.  임의의 값 삭제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3.5 ② 삭제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sets 변수에서 임의의 데이터를 삭제하는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'blue'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'red'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'yellow'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순서가 없으니 '아무거나' 꺼내는 메서드!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4. 집합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Q4.  합집합을 새 변수에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49663" y="256032"/>
            <a:ext cx="1856232" cy="329184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49663" y="256032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3.5 ③ 집합 연산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0594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05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sets1 변수와 sets2 변수의 데이터를 합쳐서 sets3 변수에 넣는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974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44952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17296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31729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31729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309981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41071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5753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5753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sets1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'blue'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'red'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'yellow'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8679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867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sets2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'black'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'pink'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'합집합' 을 영어로? 또는 연산자 |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51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4. 집합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Q5.  sets1 자체에 합치기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74175" y="256032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74175" y="25603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3.5 _update 메서드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sets1 변수에 sets2 변수의 데이터를 합치는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sets1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'blue'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'red'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'yellow'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5935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93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sets2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'black'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'pink'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4번과 달리 '새 변수' 가 아니라 sets1 자체를 바꿔요.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52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4. 집합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Q6.  공통 값만 남기기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49663" y="256032"/>
            <a:ext cx="1856232" cy="329184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49663" y="256032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3.5 ③ 집합 연산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0594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05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6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sets1 변수와 sets2 변수 모두 존재하는 데이터를 추출하여 sets1 변수에 넣는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974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44952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17296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31729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31729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309981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41071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5753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5753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sets1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'blue'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'red'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'yellow'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8679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867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sets2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'blue'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'black'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'pink'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'모두 존재' = 교집합,  'sets1 에 넣기' = _update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53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4. 집합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Q7.  공통 값만 빼기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49663" y="256032"/>
            <a:ext cx="1856232" cy="329184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49663" y="256032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3.5 ③ 집합 연산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0594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05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7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sets1 변수와 sets2 변수 모두 존재하는 데이터만 빼고 sets1 변수에 넣는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974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44952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17296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31729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31729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309981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41071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5753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5753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sets1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'blue'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'red'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'yellow'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8679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867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sets2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'blue'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'black'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'pink'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공통(blue)만 빼고 나머지 전부 = 대칭차집합 ^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54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4. 집합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Q8.  sets2 전체를 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3.5 ① 추가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8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sets1 변수에 sets2 변수의 데이터 전체를 추가하는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sets1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'blue'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'red'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'yellow'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5935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93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sets2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'black'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'pink'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5번 문제와 같은 상황이에요!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55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5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변수 · 함수 연습문제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len( ) 과 def — 2문제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Q1. 문자열 길이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Q2. 함수 만들기 — pi( )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56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5. 변수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풀기 전 1분 복습 — 변수 · 함수 치트 시트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669280"/>
                <a:gridCol w="3322015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분류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코드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하는 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72B6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길이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len(text)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글자 수 (공백 포함)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72B6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함수 만들기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 pi():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  return 3.14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def 이름( ): + 4칸 들여쓰기 + return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72B6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함수 부르기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pi()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이름 + 괄호 → 값이 돌아옴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669280"/>
            <a:ext cx="10820095" cy="502920"/>
          </a:xfrm>
          <a:prstGeom prst="roundRect">
            <a:avLst>
              <a:gd name="adj" fmla="val 21818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66928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준비 완료?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표를 보지 않고 풀 수 있으면 최고! 막히면 다시 이 표로 돌아오세요.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03. 데이터 구조 강의 슬라이드 요약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57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5. 변수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Q1.  문자열 길이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30791" y="256032"/>
            <a:ext cx="1975104" cy="329184"/>
          </a:xfrm>
          <a:prstGeom prst="roundRect">
            <a:avLst>
              <a:gd name="adj" fmla="val 50000"/>
            </a:avLst>
          </a:prstGeom>
          <a:solidFill>
            <a:srgbClr val="F472B6">
              <a:alpha val="2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30791" y="256032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2.4 함수 · len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text 변수에 저장된 문자열의 길이를 표시하는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'Standing on the shoulders of giants'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2.4 에서 배운 '길이' 함수 — 공백도 한 글자!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5. 변수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Q2.  함수 만들기 — pi( 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36431" y="256032"/>
            <a:ext cx="2569464" cy="329184"/>
          </a:xfrm>
          <a:prstGeom prst="roundRect">
            <a:avLst>
              <a:gd name="adj" fmla="val 50000"/>
            </a:avLst>
          </a:prstGeom>
          <a:solidFill>
            <a:srgbClr val="F472B6">
              <a:alpha val="2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36431" y="256032"/>
            <a:ext cx="2569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2.4 함수 · 05장 미리보기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0594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05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아래와 같이 pi( ) 함수를 호출하여 3.14159265358979 가 표시되는 함수를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974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44952"/>
            <a:ext cx="5623560" cy="1572768"/>
          </a:xfrm>
          <a:prstGeom prst="roundRect">
            <a:avLst>
              <a:gd name="adj" fmla="val 581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17296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31729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31729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309981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41071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5753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5753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함수를 작성하시오.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8679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867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" y="41605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1605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pi()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7548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5800" y="5102352"/>
            <a:ext cx="56235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868680" y="5193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5486400"/>
            <a:ext cx="5257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3.14159265358979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29400" y="146304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0" y="1463040"/>
            <a:ext cx="4419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def 이름( ): 다음 줄에 4칸 들여쓰고 return 값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629400" y="2788920"/>
            <a:ext cx="4876495" cy="3383280"/>
          </a:xfrm>
          <a:prstGeom prst="roundRect">
            <a:avLst>
              <a:gd name="adj" fmla="val 2703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6858000" y="28803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903720" y="370332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3720" y="420624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03720" y="47091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03720" y="521208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결과 비교!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59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04. PBL 연습문제 마무리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 풀었나요? — 셀프 체크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01952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8249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 리스트 18문제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10312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슬라이싱 · append · pop · sort · count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283464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18211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96265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2. 튜플 6문제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554480" y="338328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index · count · 변경 불가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85800" y="411480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6227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424281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3. 딕셔너리 13문제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1554480" y="466344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keys · pop · del · fromkeys · get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233008" y="155448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328" y="190195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01688" y="168249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4. 집합 8문제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7101688" y="210312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add · discard · union · _update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233008" y="283464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328" y="3182112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101688" y="296265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5. 변수 2문제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7101688" y="338328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len( ) · def 함수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6233008" y="411480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7328" y="4462272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101688" y="424281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확인</a:t>
            </a:r>
            <a:endParaRPr lang="en-US" sz="1700" dirty="0"/>
          </a:p>
        </p:txBody>
      </p:sp>
      <p:sp>
        <p:nvSpPr>
          <p:cNvPr id="28" name="Text 20"/>
          <p:cNvSpPr txBox="1"/>
          <p:nvPr/>
        </p:nvSpPr>
        <p:spPr>
          <a:xfrm>
            <a:off x="7101688" y="466344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· 해설 파일로 채점하고 틀린 문제 다시 풀기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685800" y="5486400"/>
            <a:ext cx="10820095" cy="640080"/>
          </a:xfrm>
          <a:prstGeom prst="roundRect">
            <a:avLst>
              <a:gd name="adj" fmla="val 17143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914400" y="54864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파일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BizDataAnalysis_CH02_04_PBL연습문제_정답.pptx — 풀고 나서 열어 보세요!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60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463040"/>
            <a:ext cx="3657600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377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감사합니다.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비즈니스 데이터 분석 with Python  ·  02장 · 04. PBL 연습문제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질문은 언제든 환영합니다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61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비즈니스 데이터 분석 with Python - 02장 · 04. PBL 연습문제</dc:title>
  <dc:subject>PptxGenJS Presentation</dc:subject>
  <dc:creator>김진성</dc:creator>
  <cp:lastModifiedBy>김진성</cp:lastModifiedBy>
  <cp:revision>1</cp:revision>
  <dcterms:created xsi:type="dcterms:W3CDTF">2026-10-05T17:41:12Z</dcterms:created>
  <dcterms:modified xsi:type="dcterms:W3CDTF">2026-10-05T17:41:12Z</dcterms:modified>
</cp:coreProperties>
</file>