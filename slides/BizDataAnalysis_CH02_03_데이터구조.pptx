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3ee0ceb-0d2c-504a-4eed-1be12d99b09c}">
          <p14:sldIdLst>
            <p14:sldId id="256"/>
            <p14:sldId id="257"/>
            <p14:sldId id="258"/>
          </p14:sldIdLst>
        </p14:section>
        <p14:section name="3.1 데이터 구조 한눈에" id="{0ced42b5-c10a-9998-937d-f224454c9207}">
          <p14:sldIdLst>
            <p14:sldId id="259"/>
            <p14:sldId id="260"/>
            <p14:sldId id="261"/>
            <p14:sldId id="262"/>
          </p14:sldIdLst>
        </p14:section>
        <p14:section name="3.2 리스트" id="{31cfdaee-aeb1-defc-4171-b6926c521d69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3.3 튜플" id="{eb35c0b7-f709-92cc-28af-c49ac6f4e876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3.4 딕셔너리" id="{b5581060-5edb-290a-dc3b-fb98cebb04a8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3.5 집합" id="{9f5b1948-2a66-d378-db93-6108478ed27b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3.6 부울" id="{13934951-4fa0-14a9-19dd-aeab9ecd8ff5}">
          <p14:sldIdLst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마무리" id="{159d011e-0f39-2a05-ca99-cfdec9a2581a}">
          <p14:sldIdLst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표의 딕셔너리 예 'dic = {20;'son', 30:'kim', 30:'lee'}' 는 ; 오타가 있어 : 로 고쳤고, 같은 키 30 이 두 번 나오면 마지막 값 'lee' 로 덮어써져 {20: 'son', 30: 'lee'} 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출력은 줄바꿈되어 name kim / age 25 / city Busan 이 세 줄로 나옵니다. 슬라이드에서는 공간상 / 로 구분했습니다.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PYTHONHASHSEED=0 으로 실행한 결과입니다. 집합은 순서가 없어서 출력 순서는 달라질 수 있지만 '들어 있는 값'은 항상 같습니다. 원문은 symmetric_difference 를 '차집합'으로 설명하지만 정확히는 '대칭 차집합'입니다.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집합 출력 순서는 실행마다 다를 수 있습니다 ({'서울', '부산'} 처럼).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02장. 변수와 데이터 유형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03. 데이터 구조  —  리스트 · 튜플 · 딕셔너리 · 집합 · 부울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 ·  Chap02 실습 노트북  ·  Python 공식 문서로 보완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02장 · 03. 데이터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실습 파일 : Chap02 실습 노트북 (.ipynb)  ·  연습문제는 별도 파일 (PBL 연습문제)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33172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52603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65960" y="2194560"/>
            <a:ext cx="1960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670048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구조 한눈에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965960" y="3108960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4가지 구조 비교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3938" y="201168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8258" y="233172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68" y="252603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64098" y="2194560"/>
            <a:ext cx="1960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3.2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5664098" y="2670048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list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664098" y="3108960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번호 붙은 서랍장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082077" y="201168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56397" y="233172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07" y="252603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362237" y="2194560"/>
            <a:ext cx="1960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3.3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9362237" y="2670048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tuple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362237" y="3108960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봉인된 상자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5800" y="393192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60120" y="425196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30" y="4446270"/>
            <a:ext cx="388620" cy="3886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965960" y="4114800"/>
            <a:ext cx="1960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3.4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1965960" y="4590288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dict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965960" y="5029200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사전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383938" y="393192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58258" y="425196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568" y="4446270"/>
            <a:ext cx="388620" cy="38862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664098" y="4114800"/>
            <a:ext cx="1960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3.5</a:t>
            </a:r>
            <a:endParaRPr lang="en-US" sz="2400" dirty="0"/>
          </a:p>
        </p:txBody>
      </p:sp>
      <p:sp>
        <p:nvSpPr>
          <p:cNvPr id="34" name="Text 27"/>
          <p:cNvSpPr txBox="1"/>
          <p:nvPr/>
        </p:nvSpPr>
        <p:spPr>
          <a:xfrm>
            <a:off x="5664098" y="4590288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set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5664098" y="5029200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중복 없는 명단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082077" y="393192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56397" y="4251960"/>
            <a:ext cx="777240" cy="7772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707" y="4446270"/>
            <a:ext cx="388620" cy="38862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362237" y="4114800"/>
            <a:ext cx="1960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3.6</a:t>
            </a:r>
            <a:endParaRPr lang="en-US" sz="2400" dirty="0"/>
          </a:p>
        </p:txBody>
      </p:sp>
      <p:sp>
        <p:nvSpPr>
          <p:cNvPr id="40" name="Text 32"/>
          <p:cNvSpPr txBox="1"/>
          <p:nvPr/>
        </p:nvSpPr>
        <p:spPr>
          <a:xfrm>
            <a:off x="9362237" y="4590288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부울 bool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9362237" y="5029200"/>
            <a:ext cx="1960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True / False 판단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데이터 구조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변수 하나에 값 하나? 여러 개를 한 번에 담고 싶다면!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변수를 하나씩 만들면…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450592"/>
          </a:xfrm>
          <a:prstGeom prst="roundRect">
            <a:avLst>
              <a:gd name="adj" fmla="val 373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sales_mon = 120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sales_tue = 95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sales_wed = 130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sales_thu = 88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75304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sales_fri = 150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867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86791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… 365일이면 변수 365개?!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데이터 구조(리스트)에 한 번에!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78728" y="1874520"/>
            <a:ext cx="5227168" cy="1353312"/>
          </a:xfrm>
          <a:prstGeom prst="roundRect">
            <a:avLst>
              <a:gd name="adj" fmla="val 675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88456" y="24048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873088" y="240487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[120, 95, 130, 88, 150]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388456" y="27340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73088" y="273405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(sum(sales), max(sales))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78728" y="3337560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461608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1608" y="3721608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583 150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78728" y="3931920"/>
            <a:ext cx="5227168" cy="1051560"/>
          </a:xfrm>
          <a:prstGeom prst="roundRect">
            <a:avLst>
              <a:gd name="adj" fmla="val 10435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07328" y="3931920"/>
            <a:ext cx="476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 하나(sales)로 5일치를 담고, 합계 · 최댓값도 한 줄로!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85800" y="516636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16636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구조란?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데이터를 '어떤 모양으로' 묶어 저장할지 정한 그릇 — 리스트 · 튜플 · 딕셔너리 · 집합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연결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엑셀의 '한 열(column)'이 리스트, '한 행(row)'의 '열이름:값'이 딕셔너리와 비슷해요!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Data Structures (docs.python.org/3/tutorial/datastructures.html)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구조 한눈에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4가지 그릇의 생김새와 성격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 · 튜플 · 딕셔너리 · 집합 비유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장 비교표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어떤 그릇을 고를까?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3.1  ·  데이터 구조 한눈에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4가지 그릇 — 생활 속 물건으로 기억하기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99284" cy="406908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3962" y="1691640"/>
            <a:ext cx="822960" cy="822960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702" y="18973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6060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3520440"/>
            <a:ext cx="2133524" cy="411480"/>
          </a:xfrm>
          <a:prstGeom prst="roundRect">
            <a:avLst>
              <a:gd name="adj" fmla="val 48889"/>
            </a:avLst>
          </a:prstGeom>
          <a:solidFill>
            <a:srgbClr val="818CF8">
              <a:alpha val="2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352044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번호 붙은 서랍장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069080"/>
            <a:ext cx="21335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칸마다 번호(0,1,2…)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넣고 · 빼고 · 바꾸기 자유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89204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['서울', '부산']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59404" y="1508760"/>
            <a:ext cx="2499284" cy="406908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566" y="1691640"/>
            <a:ext cx="822960" cy="82296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306" y="18973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59404" y="26060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3459404" y="301752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642284" y="3520440"/>
            <a:ext cx="2133524" cy="411480"/>
          </a:xfrm>
          <a:prstGeom prst="roundRect">
            <a:avLst>
              <a:gd name="adj" fmla="val 48889"/>
            </a:avLst>
          </a:prstGeom>
          <a:solidFill>
            <a:srgbClr val="38BDF8">
              <a:alpha val="20000"/>
            </a:srgbClr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642284" y="352044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봉인된 도시락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642284" y="4069080"/>
            <a:ext cx="21335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순서는 있지만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한번 싸면 못 바꿈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550844" y="489204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('짜장면', '짬뽕')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33008" y="1508760"/>
            <a:ext cx="2499284" cy="406908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71170" y="1691640"/>
            <a:ext cx="822960" cy="82296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910" y="189738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233008" y="26060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6233008" y="301752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키 : 값 }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6415888" y="3520440"/>
            <a:ext cx="2133524" cy="411480"/>
          </a:xfrm>
          <a:prstGeom prst="roundRect">
            <a:avLst>
              <a:gd name="adj" fmla="val 48889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415888" y="352044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사전 · 전화번호부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415888" y="4069080"/>
            <a:ext cx="21335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'이름'으로 찾기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키는 중복 불가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324448" y="489204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'kim'}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006611" y="1508760"/>
            <a:ext cx="2499284" cy="406908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844773" y="1691640"/>
            <a:ext cx="822960" cy="82296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513" y="189738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006611" y="26060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</a:t>
            </a:r>
            <a:endParaRPr lang="en-US" sz="2000" dirty="0"/>
          </a:p>
        </p:txBody>
      </p:sp>
      <p:sp>
        <p:nvSpPr>
          <p:cNvPr id="36" name="Text 30"/>
          <p:cNvSpPr txBox="1"/>
          <p:nvPr/>
        </p:nvSpPr>
        <p:spPr>
          <a:xfrm>
            <a:off x="9006611" y="301752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189491" y="3520440"/>
            <a:ext cx="2133524" cy="411480"/>
          </a:xfrm>
          <a:prstGeom prst="roundRect">
            <a:avLst>
              <a:gd name="adj" fmla="val 48889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9189491" y="3520440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중복 없는 출석부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9189491" y="4069080"/>
            <a:ext cx="21335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값은 한 번만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순서 없음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9098051" y="489204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{'강백호', '서태웅'}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괄호로 구분!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리스트,  ( ) 튜플,  { } 딕셔너리 · 집합 ( : 가 있으면 딕셔너리 )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03, Python Tutorial — Data Structures (docs.python.org/3/tutorial/datastructures.html)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3.1  ·  데이터 구조 한눈에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4가지 데이터 구조 비교표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31720"/>
                <a:gridCol w="2331720"/>
                <a:gridCol w="2331720"/>
                <a:gridCol w="19046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특징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리스트 list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튜플 tuple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집합 set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딕셔너리 dict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기호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[ ]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 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{ 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{ 키 : 값 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예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[20, 20, 30]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(20, 20, 30)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{20, 20, 30}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{20: 'son', 30: 'lee'}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lis[0]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tup[0]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인덱스 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dic[20]  (키로)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중복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허용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허용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 → {20, 30}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중복 불가 (덮어씀)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 ·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둘 다 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둘 다 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추가만 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둘 다 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순서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유지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유지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유지 (3.7 이후)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슬라이싱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 · 교집합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가능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외우는 팁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변경 가능한 것은 리스트 · 딕셔너리,  못 바꾸는 것은 튜플,  중복 제거 전문은 집합!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03 (비교표를 실행 결과에 맞게 정리)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3.1  ·  데이터 구조 한눈에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어떤 그릇을 고를까? — 선택 가이드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Q. 순서대로 쌓이고, 자주 추가 · 수정된다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10512"/>
            <a:ext cx="54864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8" name="Shape 6"/>
          <p:cNvSpPr/>
          <p:nvPr/>
        </p:nvSpPr>
        <p:spPr>
          <a:xfrm>
            <a:off x="6995160" y="1554480"/>
            <a:ext cx="451073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1554480"/>
            <a:ext cx="4144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  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매일 매출, 장바구니, 설문 응답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578608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57860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Q. 절대 바뀌면 안 되는 고정값이다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54864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6995160" y="2578608"/>
            <a:ext cx="451073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2578608"/>
            <a:ext cx="4144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  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좌표 (위도, 경도), 요일 이름, 설정값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602736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0273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Q. '이름'으로 값을 찾고 싶다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3858768"/>
            <a:ext cx="54864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3602736"/>
            <a:ext cx="451073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78040" y="3602736"/>
            <a:ext cx="4144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  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회원 정보 {이름: …, 나이: …}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626864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626864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Q. 중복을 없애거나 공통점을 찾고 싶다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4882896"/>
            <a:ext cx="548640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995160" y="4626864"/>
            <a:ext cx="451073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4626864"/>
            <a:ext cx="4144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  </a:t>
            </a:r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방문 고객 수, 두 반의 공통 수강생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실무에서는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리스트와 딕셔너리를 가장 많이 써요. pandas(08장)의 표도 결국 이 둘로 만들어집니다!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Data Structures (docs.python.org/3/tutorial/datastructures.html)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(list)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— 번호 붙은 서랍장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만들기 · 검색 · 변경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추가 · 삭제 · 정렬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복사 · 합치기 · 메서드 정리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만들기 — 대괄호 [ ] 안에 쉼표로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583680" cy="640080"/>
          </a:xfrm>
          <a:prstGeom prst="roundRect">
            <a:avLst>
              <a:gd name="adj" fmla="val 14286"/>
            </a:avLst>
          </a:prstGeom>
          <a:solidFill>
            <a:srgbClr val="070D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'Seoul', 'Busan', 'Ulsan'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2788920"/>
            <a:ext cx="1691640" cy="77724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88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788920"/>
            <a:ext cx="1691640" cy="77724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2788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788920"/>
            <a:ext cx="1691640" cy="77724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7889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인덱스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음수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554480"/>
            <a:ext cx="391637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1554480"/>
            <a:ext cx="35506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순서 유지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넣은 순서대로, 새 값은 맨 끝에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89520" y="2423160"/>
            <a:ext cx="391637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18120" y="2423160"/>
            <a:ext cx="35506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변경 가능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바꾸기 · 추가 · 삭제 자유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0" y="3291840"/>
            <a:ext cx="391637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3291840"/>
            <a:ext cx="35506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중복 허용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값이 여러 번 OK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4160520"/>
            <a:ext cx="391637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4160520"/>
            <a:ext cx="35506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아무 타입이나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[1, 'a', True, 3.5] 도 가능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" y="434340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3434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서랍장 비유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서랍마다 0번부터 번호가 붙어 있어요. 번호로 꺼내고, 바꾸고, 새 서랍을 끝에 덧붙일 수 있어요.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빈 리스트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cart = [ ] — 처음엔 비워 두고 나중에 하나씩 채워 넣을 때 자주 써요.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3-2, Python Tutorial — Data Structures (docs.python.org/3/tutorial/datastructures.html)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1) 검색 — 인덱스 · 음수 인덱스 · 슬라이싱 · index(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2450592"/>
          </a:xfrm>
          <a:prstGeom prst="roundRect">
            <a:avLst>
              <a:gd name="adj" fmla="val 373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(city[0])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첫 번째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(city[-1])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마지막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1693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(city[0:2])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 1번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09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0954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(city.index(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5021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021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(len(city))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06908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453128"/>
            <a:ext cx="5669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Seoul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Ulsan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508760"/>
          <a:ext cx="44650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2181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city[0]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0번 서랍 (첫 값)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city[-1]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끝에서 첫 번째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city[0:2]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0번부터 2번 앞까지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city.index('Busan')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'Busan' 이 몇 번?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len(city)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값이 몇 개?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7040880" y="4526280"/>
            <a:ext cx="4465015" cy="1005840"/>
          </a:xfrm>
          <a:prstGeom prst="roundRect">
            <a:avLst>
              <a:gd name="adj" fmla="val 10909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69480" y="452628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기억!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 인덱싱 · 슬라이싱(2.3)과 똑같아요. 글자 대신 '값'이 한 칸씩 들어 있을 뿐!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city[5] → IndexError: list index out of range — 없는 번호의 서랍은 열 수 없어요.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2) 값 바꾸기 — 한 칸 · 여러 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칸 바꾸기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42381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0487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97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city[1] 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'Daegu'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9900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57016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941064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'Daegu', 'Ulsan']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4348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1번 서랍 내용 교체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83938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여러 칸 바꾸기 [1:3]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3938" y="1874520"/>
            <a:ext cx="342381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6681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476798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496915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52618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3938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6818" y="240487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66818" y="2697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city[1:3]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'Yangon'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'Chicago'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66818" y="29900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3938" y="3557016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66818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66818" y="3941064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'Yangon', 'Chicago']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383938" y="44348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1, 2번 → 새 값 2개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082077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 많이 넣으면?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82077" y="1874520"/>
            <a:ext cx="342381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4957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6" name="Shape 34"/>
          <p:cNvSpPr/>
          <p:nvPr/>
        </p:nvSpPr>
        <p:spPr>
          <a:xfrm>
            <a:off x="8466125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Shape 35"/>
          <p:cNvSpPr/>
          <p:nvPr/>
        </p:nvSpPr>
        <p:spPr>
          <a:xfrm>
            <a:off x="8667293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50757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82077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64957" y="240487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64957" y="2697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city[1:2]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'Yangon'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'Chicago'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264957" y="29900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82077" y="3557016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8264957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264957" y="3941064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'Yangon', 'Chicago', 'Ulsan']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082077" y="44348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1칸 자리에 2개 → 뒤로 밀림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1206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1206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[1:3] 읽기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시작 1(포함) ~ 끝 3(미포함) → 1번, 2번 두 칸. 끝 번호는 항상 '바로 앞까지'!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리스트만 가능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 · 튜플은 이렇게 칸을 바꿀 수 없어요 — 리스트는 '변경 가능(mutable)'!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3) 삽입 insert( ) · 4) 추가 append( ) · extend(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insert(위치, 값)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38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원하는 자리에 끼워 넣기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3423818" cy="950976"/>
          </a:xfrm>
          <a:prstGeom prst="roundRect">
            <a:avLst>
              <a:gd name="adj" fmla="val 961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426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26426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1271016" y="26426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256946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 city 3개에서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8036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04495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city.insert(2,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'Yangon'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75304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959352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'Busan', 'Yangon', 'Ulsan']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3938" y="150876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6818" y="1554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append(값)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66818" y="1938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맨 끝에 1개 추가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3938" y="2514600"/>
            <a:ext cx="3423818" cy="950976"/>
          </a:xfrm>
          <a:prstGeom prst="roundRect">
            <a:avLst>
              <a:gd name="adj" fmla="val 961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66818" y="26426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7986" y="26426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9154" y="26426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2618" y="256946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 city 3개에서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3938" y="288036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66818" y="304495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city.append(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'Jeju'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3938" y="3575304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4566818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66818" y="3959352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'Busan', 'Ulsan', 'Jeju']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82077" y="150876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64957" y="1554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extend(리스트)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64957" y="19385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맨 끝에 여러 개 이어 붙이기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82077" y="2514600"/>
            <a:ext cx="3423818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4957" y="264261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6" name="Shape 34"/>
          <p:cNvSpPr/>
          <p:nvPr/>
        </p:nvSpPr>
        <p:spPr>
          <a:xfrm>
            <a:off x="8466125" y="264261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Shape 35"/>
          <p:cNvSpPr/>
          <p:nvPr/>
        </p:nvSpPr>
        <p:spPr>
          <a:xfrm>
            <a:off x="8667293" y="264261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50757" y="256946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 city 3개에서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82077" y="288036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64957" y="304495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abroad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'Tokyo'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'Paris'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64957" y="3300984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city.extend(abroad)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82077" y="3831336"/>
            <a:ext cx="342381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8264957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264957" y="4215384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'Busan', 'Ulsan',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'Tokyo', 'Paris']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" y="4864608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" y="4864608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append vs extend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append(['Tokyo', 'Paris']) 는 리스트 '통째로' 1칸에 들어가요 → [..., ['Tokyo', 'Paris']].  여러 값을 하나씩 붙이려면 extend!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extend 에는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리스트뿐 아니라 튜플 ('Tokyo', 'Paris') 도 넣을 수 있어요 — 결과는 같아요.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5) 삭제 — remove · pop · del · clear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3657600"/>
                <a:gridCol w="263621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방법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기준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 (city = ['Seoul', 'Busan', 'Ulsan'])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remove(값)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값으로 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city.remove('Busan')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['Seoul', 'Ulsan']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pop(번호)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번호로 삭제 + 꺼낸 값 돌려줌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city.pop(1)  → 'Busan'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['Seoul', 'Ulsan']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번호 없으면 맨 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city.pop()  → 'Ulsan'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['Seoul', 'Busan']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 리스트[번호]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번호(범위)로 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 city[0:2]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['Ulsan']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전부 비우기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city.clear()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 ]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93776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49377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pop 은 '꺼내기'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x = city.pop(1) 처럼 빼낸 값을 변수에 받아 쓸 수 있어요 (서랍에서 물건을 꺼내 손에 들기).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city.remove('Jeju') → ValueError: list.remove(x): x not in list — 없는 값은 지울 수 없어요.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6) 정렬 — sort( ) · sort(reverse=True) · reverse(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217920" cy="2743200"/>
          </a:xfrm>
          <a:prstGeom prst="roundRect">
            <a:avLst>
              <a:gd name="adj" fmla="val 333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[100, 50, 65, 82, 23]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95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9514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num.sort()    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오름차순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511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5117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07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0720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num.sort(reverse=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내림차순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63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6324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19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1927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'Daegu'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7530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city.sort()     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알파벳순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831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83133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361688"/>
            <a:ext cx="621792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4453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745736"/>
            <a:ext cx="5852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[23, 50, 65, 82, 100]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[100, 82, 65, 50, 23]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['Busan', 'Daegu', 'Seoul', 'Ulsan']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1463040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reverse( ) 는 정렬이 아니에요!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23760" y="1874520"/>
            <a:ext cx="4282135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3" name="Shape 31"/>
          <p:cNvSpPr/>
          <p:nvPr/>
        </p:nvSpPr>
        <p:spPr>
          <a:xfrm>
            <a:off x="760780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780897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92440" y="192938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240280"/>
            <a:ext cx="428213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3348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240487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[100, 50, 65, 82, 23]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33348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818120" y="267919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num.reverse()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3348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818120" y="295351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(num)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23760" y="3502152"/>
            <a:ext cx="4282135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740664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3886200"/>
            <a:ext cx="391637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[23, 82, 65, 50, 100]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223760" y="4288536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크기와 상관없이 앞뒤 순서만 뒤집어요.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223760" y="4526280"/>
            <a:ext cx="4282135" cy="1097280"/>
          </a:xfrm>
          <a:prstGeom prst="roundRect">
            <a:avLst>
              <a:gd name="adj" fmla="val 1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52360" y="4526280"/>
            <a:ext cx="3824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원본을 지키고 싶다면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sorted(num) 함수는 정렬된 '새 리스트'를 돌려주고 num 은 그대로 둬요.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문자열과 다른 점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리스트의 sort( ) 는 원본 자체를 바꿔요 (문자열 메서드는 원본을 안 바꿨죠!).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3-2, Python HOWTO — Sorting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7) 복사 — list2 = list1 은 복사가 아니에요!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= 로 '복사'하면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'Jeju'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776472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60520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'Busan', 'Jeju']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48840" y="46177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…]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4681728"/>
            <a:ext cx="731520" cy="502920"/>
          </a:xfrm>
          <a:prstGeom prst="roundRect">
            <a:avLst>
              <a:gd name="adj" fmla="val 18182"/>
            </a:avLst>
          </a:prstGeom>
          <a:solidFill>
            <a:srgbClr val="F472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681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92040" y="4681728"/>
            <a:ext cx="731520" cy="502920"/>
          </a:xfrm>
          <a:prstGeom prst="roundRect">
            <a:avLst>
              <a:gd name="adj" fmla="val 18182"/>
            </a:avLst>
          </a:prstGeom>
          <a:solidFill>
            <a:srgbClr val="F472B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92040" y="46817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645920" y="4800600"/>
            <a:ext cx="457200" cy="274320"/>
          </a:xfrm>
          <a:prstGeom prst="rightArrow">
            <a:avLst/>
          </a:prstGeom>
          <a:solidFill>
            <a:srgbClr val="F472B6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4800600"/>
            <a:ext cx="457200" cy="274320"/>
          </a:xfrm>
          <a:prstGeom prst="leftArrow">
            <a:avLst/>
          </a:prstGeom>
          <a:solidFill>
            <a:srgbClr val="F472B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30352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이름표만 2개, 서랍장은 1개!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copy( ) 로 진짜 복사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278728" y="1874520"/>
            <a:ext cx="5227168" cy="2066544"/>
          </a:xfrm>
          <a:prstGeom prst="roundRect">
            <a:avLst>
              <a:gd name="adj" fmla="val 4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5" name="Shape 33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6" name="Shape 34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884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73088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38845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873088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a.copy()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38845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873088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b.append(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'Jeju'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388456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873088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388456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873088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278728" y="4050792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50" name="Text 48"/>
          <p:cNvSpPr txBox="1"/>
          <p:nvPr/>
        </p:nvSpPr>
        <p:spPr>
          <a:xfrm>
            <a:off x="6461608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61608" y="443484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'Busan', 'Jeju']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278728" y="5074920"/>
            <a:ext cx="522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list(a) 로도 복사돼요.  list( ) 는 튜플 · 문자열을 리스트로 바꿀 때도 써요 : list('abc') → ['a', 'b', 'c']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 = a 는 '같은 서랍장에 이름표만 하나 더' — 진짜 복사본이 필요하면 .copy( )!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8) 합치기 · 9) 개수 세기 — 그리고 리스트로 매출 분석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합치기 : + 또는 extend · 개수 : count · len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[1, 2]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(list1 + list2)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= 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'서울'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75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75304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(visit.count(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len(visit))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142232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86868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2628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'b', 1, 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: 일주일 매출 분석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78728" y="1874520"/>
            <a:ext cx="5227168" cy="2231136"/>
          </a:xfrm>
          <a:prstGeom prst="roundRect">
            <a:avLst>
              <a:gd name="adj" fmla="val 409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8" name="Shape 26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Shape 27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88456" y="24048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404872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[120, 95, 130, 88, 150, 210, 180]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2660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660904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'합계'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sum(sales))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2916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2916936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'최고'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max(sales),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'최저'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min(sales))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88456" y="3172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3172968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'평균'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round(sum(sales) / len(sales), 1))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88456" y="34290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873088" y="3429000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top3 = sorted(sales, reverse=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)[:3]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388456" y="3685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873088" y="3685032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'상위 3일'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top3)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78728" y="4215384"/>
            <a:ext cx="5227168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6461608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61608" y="4599432"/>
            <a:ext cx="486140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합계 973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최고 210 최저 88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 139.0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상위 3일 [210, 180, 150]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복습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sum · max · min · len · sorted — 2.4 에서 배운 함수들이 리스트를 만나 진짜 힘을 발휘해요!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10) 리스트 메서드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32608"/>
                <a:gridCol w="2377440"/>
                <a:gridCol w="303260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append(x)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맨 끝에 추가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pop(i)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i번 꺼내기 (없으면 끝)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insert(i, 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i번 자리에 끼워 넣기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 x 삭제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extend(목록)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여러 개 이어 붙이기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 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전부 삭제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x 의 위치 번호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sort( 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정렬 (reverse=True 내림)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x 의 개수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reverse( 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순서 뒤집기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copy( 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복사본 만들기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—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모양 복습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모두 '리스트.메서드( )' 모양 — 리스트 전용 리모컨 버튼이에요. 점 찍고 Tab 하면 목록이 떠요!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3-2, Python Tutorial — Data Structures (docs.python.org/3/tutorial/datastructures.html)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3.2  ·  리스트 (list)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3.2 리스트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만들기 · 검색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로 만들기,  city[0] · city[-1] · city[0:2] · index( ) · len( 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바꾸기 · 추가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city[1] = 값,  insert(위치, 값) · append(값) · extend(목록)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삭제 · 정렬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remove(값) · pop(번호) · del · clear( ),  sort( ) · reverse( 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복사 주의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 = a 는 같은 리스트! 복사본은 a.copy( ) 또는 list(a)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바꿀 수 없는 리스트? → 3.3 튜플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(tuple)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— 한번 싸면 못 바꾸는 봉인된 도시락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만들기 · 검색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변경 불가! 바꾸고 싶다면?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합치기 · 언패킹 · 언제 쓸까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만들기 — 소괄호 ( ) 안에 쉼표로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070D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'짜장면', '짬뽕', '탕수육'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08760" y="2606040"/>
            <a:ext cx="1691640" cy="77724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'짜장면'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1691640" cy="77724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'짬뽕'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2606040"/>
            <a:ext cx="1691640" cy="77724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606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'탕수육'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724912"/>
            <a:ext cx="502920" cy="5029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955280" y="1554480"/>
            <a:ext cx="355061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3880" y="1554480"/>
            <a:ext cx="3184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순서 유지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인덱스 · 슬라이싱 가능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955280" y="2423160"/>
            <a:ext cx="355061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183880" y="2423160"/>
            <a:ext cx="3184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변경 불가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바꾸기 · 추가 · 삭제 ✗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955280" y="3291840"/>
            <a:ext cx="355061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83880" y="3291840"/>
            <a:ext cx="3184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중복 허용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값 여러 번 OK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955280" y="4160520"/>
            <a:ext cx="3550615" cy="749808"/>
          </a:xfrm>
          <a:prstGeom prst="roundRect">
            <a:avLst>
              <a:gd name="adj" fmla="val 14634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83880" y="4160520"/>
            <a:ext cx="31848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괄호 생략 OK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 = 1, 2, 3 도 튜플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85800" y="374904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8680" y="38770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7"/>
          <p:cNvSpPr/>
          <p:nvPr/>
        </p:nvSpPr>
        <p:spPr>
          <a:xfrm>
            <a:off x="1069848" y="38770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8"/>
          <p:cNvSpPr/>
          <p:nvPr/>
        </p:nvSpPr>
        <p:spPr>
          <a:xfrm>
            <a:off x="1271016" y="38770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554480" y="38039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85800" y="4114800"/>
            <a:ext cx="3337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4279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1, 2, 3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68680" y="45354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(t, type(t))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85800" y="5065776"/>
            <a:ext cx="33375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868680" y="5157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" y="5449824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 &lt;class 'tuple'&gt;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297680" y="3749040"/>
            <a:ext cx="3337560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480560" y="38770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1" name="Shape 38"/>
          <p:cNvSpPr/>
          <p:nvPr/>
        </p:nvSpPr>
        <p:spPr>
          <a:xfrm>
            <a:off x="4681728" y="38770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2" name="Shape 39"/>
          <p:cNvSpPr/>
          <p:nvPr/>
        </p:nvSpPr>
        <p:spPr>
          <a:xfrm>
            <a:off x="4882896" y="38770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166360" y="38039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297680" y="4114800"/>
            <a:ext cx="3337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480560" y="4279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,)))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4480560" y="45354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297680" y="5065776"/>
            <a:ext cx="333756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8" name="Text 45"/>
          <p:cNvSpPr txBox="1"/>
          <p:nvPr/>
        </p:nvSpPr>
        <p:spPr>
          <a:xfrm>
            <a:off x="4480560" y="5157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480560" y="54498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'tuple'&gt;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'str'&gt;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955280" y="5120640"/>
            <a:ext cx="3550615" cy="1097280"/>
          </a:xfrm>
          <a:prstGeom prst="roundRect">
            <a:avLst>
              <a:gd name="adj" fmla="val 10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183880" y="512064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값이 1개면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('a',) 처럼 쉼표 필수! ('a') 는 그냥 괄호 친 문자열이에요.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3-3, Python Tutorial — Data Structures (docs.python.org/3/tutorial/datastructures.html)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1) 검색 — 리스트와 똑같아요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309360" cy="2423160"/>
          </a:xfrm>
          <a:prstGeom prst="roundRect">
            <a:avLst>
              <a:gd name="adj" fmla="val 377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3093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= 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'짜장면'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'짬뽕'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'탕수육'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860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86000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'라조기'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'깐풍기'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'짬뽕'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3288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32888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(menu[0], menu[-1])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77977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779776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(menu[1:3])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266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26664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(menu[3:])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2735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273552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(menu.index(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'라조기'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204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20440"/>
            <a:ext cx="5532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menu.count(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'짬뽕'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len(menu))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041648"/>
            <a:ext cx="63093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68680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425696"/>
            <a:ext cx="59436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짜장면 짬뽕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('짬뽕', '탕수육')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('라조기', '깐풍기', '짬뽕')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3 2 6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08760"/>
          <a:ext cx="41906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9613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menu[0]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첫 번째 값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menu[1:3]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1, 2번 → 튜플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index(값)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값의 위치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count(값)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값의 개수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len(menu)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전체 개수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315200" y="4526280"/>
            <a:ext cx="4190695" cy="1051560"/>
          </a:xfrm>
          <a:prstGeom prst="roundRect">
            <a:avLst>
              <a:gd name="adj" fmla="val 10435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43800" y="4526280"/>
            <a:ext cx="3733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메서드는 2개뿐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튜플은 바꿀 수 없으니 메서드도 index( ) · count( ) 두 개만 있어요!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슬라이싱 결과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튜플을 잘라도 결과는 튜플 ( ) — 리스트를 자르면 리스트 [ ] 였죠!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2) 변경 불가 — 바꾸려고 하면 오류!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값 바꾸기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menu[0]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'우동'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990088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68680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374136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'tuple' object does not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item assignment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값 추가하기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78728" y="1874520"/>
            <a:ext cx="5227168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menu.append(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'우동'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78728" y="2990088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461608" y="3081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61608" y="3374136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AttributeError: 'tuple' object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no attribute 'append'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114800"/>
            <a:ext cx="10820095" cy="1463040"/>
          </a:xfrm>
          <a:prstGeom prst="roundRect">
            <a:avLst>
              <a:gd name="adj" fmla="val 75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434840"/>
            <a:ext cx="822960" cy="82296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2148840" y="4114800"/>
            <a:ext cx="90827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봉인된 도시락 비유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한번 포장한 도시락은 반찬을 바꾸거나 더 넣을 수 없어요.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'실수로 바뀌면 안 되는 값'을 지킬 때 튜플을 써요. 덕분에 리스트보다 가볍고 빨라요.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읽기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item assignment = '칸에 값 넣기',  has no attribute = '그런 메서드(버튼) 없음'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3-3, Python Tutorial — Data Structures (docs.python.org/3/tutorial/datastructures.html)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꼭 바꿔야 한다면? — 리스트로 풀었다가 다시 튜플로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630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('a', 'b', 'c')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90672" y="1719072"/>
            <a:ext cx="351434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3515258" y="14630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15258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list( 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15258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봉인 풀기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20130" y="1719072"/>
            <a:ext cx="351434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6344717" y="14630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44717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수정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44717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['a', 'x', 'c']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49589" y="1719072"/>
            <a:ext cx="351434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9174175" y="146304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4175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tuple( 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74175" y="1828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다시 봉인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2359152"/>
            <a:ext cx="3423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 바꾸기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2724912"/>
            <a:ext cx="3423818" cy="1929384"/>
          </a:xfrm>
          <a:prstGeom prst="roundRect">
            <a:avLst>
              <a:gd name="adj" fmla="val 473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28529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9848" y="28529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1271016" y="28529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554480" y="2779776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090672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5528" y="32552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255264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35021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502152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list(t)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37490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3749040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l[1]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" y="399592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3995928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tuple(l)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" y="424281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4242816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4764024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868680" y="4855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68680" y="5148072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('a', 'x', 'c')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383938" y="2359152"/>
            <a:ext cx="3423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 추가하기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83938" y="2724912"/>
            <a:ext cx="3423818" cy="1929384"/>
          </a:xfrm>
          <a:prstGeom prst="roundRect">
            <a:avLst>
              <a:gd name="adj" fmla="val 473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6818" y="28529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3" name="Shape 41"/>
          <p:cNvSpPr/>
          <p:nvPr/>
        </p:nvSpPr>
        <p:spPr>
          <a:xfrm>
            <a:off x="4767986" y="28529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4969154" y="28529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252618" y="2779776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383938" y="3090672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93666" y="32552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978298" y="3255264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493666" y="35021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978298" y="3502152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list(t)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493666" y="37490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978298" y="3749040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l.append(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493666" y="399592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978298" y="3995928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tuple(l)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493666" y="424281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978298" y="4242816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383938" y="4764024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4566818" y="4855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4566818" y="5148072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('a', 'b', 'c')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8082077" y="2359152"/>
            <a:ext cx="3423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 삭제하기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82077" y="2724912"/>
            <a:ext cx="3423818" cy="1929384"/>
          </a:xfrm>
          <a:prstGeom prst="roundRect">
            <a:avLst>
              <a:gd name="adj" fmla="val 473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64957" y="285292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63" name="Shape 61"/>
          <p:cNvSpPr/>
          <p:nvPr/>
        </p:nvSpPr>
        <p:spPr>
          <a:xfrm>
            <a:off x="8466125" y="28529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4" name="Shape 62"/>
          <p:cNvSpPr/>
          <p:nvPr/>
        </p:nvSpPr>
        <p:spPr>
          <a:xfrm>
            <a:off x="8667293" y="28529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950757" y="2779776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082077" y="3090672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191805" y="32552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676437" y="3255264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8191805" y="350215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8676437" y="3502152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list(t)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8191805" y="374904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8676437" y="3749040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l.remove(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8191805" y="399592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8676437" y="3995928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tuple(l)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8191805" y="424281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8676437" y="4242816"/>
            <a:ext cx="26465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8082077" y="4764024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78" name="Text 76"/>
          <p:cNvSpPr txBox="1"/>
          <p:nvPr/>
        </p:nvSpPr>
        <p:spPr>
          <a:xfrm>
            <a:off x="8264957" y="4855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8264957" y="5148072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('b', 'c')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list( ) 와 tuple( ) 은 서로 바꿔 주는 변환 함수 — int( ) · str( ) 처럼 '형 변환'이에요!</a:t>
            </a:r>
            <a:endParaRPr lang="en-US" sz="1500" dirty="0"/>
          </a:p>
        </p:txBody>
      </p:sp>
      <p:sp>
        <p:nvSpPr>
          <p:cNvPr id="82" name="Text 8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3-3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3) 합치기 · 반복 · 언패킹(풀어 담기)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로 합치기,  * 로 반복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,))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('a', 'b', 'c')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('a', 'b', 'a', 'b')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315968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원본은 그대로, 새 튜플이 만들어져요 (문자열 + · * 와 같아요).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언패킹 — 한 번에 여러 변수로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z = (10, 20, 30)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y, z)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78728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61608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10 20 30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44488" y="4206240"/>
            <a:ext cx="1188720" cy="502920"/>
          </a:xfrm>
          <a:prstGeom prst="rect">
            <a:avLst/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44488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833208" y="4206240"/>
            <a:ext cx="1188720" cy="502920"/>
          </a:xfrm>
          <a:prstGeom prst="rect">
            <a:avLst/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33208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021928" y="4206240"/>
            <a:ext cx="1188720" cy="502920"/>
          </a:xfrm>
          <a:prstGeom prst="rect">
            <a:avLst/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21928" y="4206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101688" y="4754880"/>
            <a:ext cx="274320" cy="320040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644488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290408" y="4754880"/>
            <a:ext cx="274320" cy="320040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33208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9479128" y="4754880"/>
            <a:ext cx="274320" cy="320040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021928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85800" y="4709160"/>
            <a:ext cx="5227168" cy="960120"/>
          </a:xfrm>
          <a:prstGeom prst="roundRect">
            <a:avLst>
              <a:gd name="adj" fmla="val 1142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4709160"/>
            <a:ext cx="4678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: 위치 좌표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 = (35.1796, 129.0756)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lat, lng = busan   # 위도, 경도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개수 맞추기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왼쪽 변수 개수 = 튜플 값 개수! 다르면 ValueError 가 나요.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3-3, Python Tutorial — Data Structures (docs.python.org/3/tutorial/datastructures.html) — Tuples and Sequences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vs 튜플 — 언제 무엇을 쓸까?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64128"/>
                <a:gridCol w="37641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비교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리스트 [ ]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튜플 ( )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 바꾸기 · 추가 · 삭제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가능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불가능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메서드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append · sort 등 많음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index · count 2개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속도 · 메모리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보통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더 가볍고 빠름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안전성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실수로 바뀔 수 있음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바뀌지 않음 (보호)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어울리는 데이터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장바구니, 매일 매출, 명단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8BDF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요일, 좌표, 생년월일, 설정값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120640"/>
            <a:ext cx="10820095" cy="1005840"/>
          </a:xfrm>
          <a:prstGeom prst="roundRect">
            <a:avLst>
              <a:gd name="adj" fmla="val 909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52486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5"/>
          <p:cNvSpPr/>
          <p:nvPr/>
        </p:nvSpPr>
        <p:spPr>
          <a:xfrm>
            <a:off x="1069848" y="52486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6"/>
          <p:cNvSpPr/>
          <p:nvPr/>
        </p:nvSpPr>
        <p:spPr>
          <a:xfrm>
            <a:off x="1271016" y="52486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54480" y="5175504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5486400"/>
            <a:ext cx="108200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5650992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= 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'월'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'화'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'수'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'목'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'금'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'토'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'일'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요일은 바뀔 일이 없으니 튜플!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Data Structures (docs.python.org/3/tutorial/datastructures.html) — Tuples and Sequences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3.3  ·  튜플 (tuple)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3.3 튜플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만들기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 ) 또는 괄호 생략 t = 1, 2, 3 — 값 1개면 ('a',) 쉼표 필수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검색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리스트와 같은 인덱싱 · 슬라이싱,  메서드는 index( ) · count( ) 뿐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변경 불가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menu[0] = … → TypeError,  바꾸려면 list( ) → 수정 → tuple( 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활용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+ 합치기 · * 반복 · 언패킹 x, y = (10, 20) — 고정값 보호용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이름으로 값을 찾는다면? → 3.4 딕셔너리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(dict)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— 단어로 뜻을 찾는 사전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만들기 · 검색 (get · keys · values · items)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추가 · 변경 · 삭제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복사 · 중첩 · 실무 활용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만들기 — { 키 : 값,  키 : 값 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640080"/>
          </a:xfrm>
          <a:prstGeom prst="roundRect">
            <a:avLst>
              <a:gd name="adj" fmla="val 14286"/>
            </a:avLst>
          </a:prstGeom>
          <a:solidFill>
            <a:srgbClr val="070D20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키 (이름표)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값 (내용)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7432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472B6">
              <a:alpha val="25000"/>
            </a:srgbClr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2880360"/>
            <a:ext cx="731520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27432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34290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472B6">
              <a:alpha val="25000"/>
            </a:srgbClr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37560" y="3566160"/>
            <a:ext cx="731520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34290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5196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" y="41148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472B6">
              <a:alpha val="25000"/>
            </a:srgbClr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37560" y="4251960"/>
            <a:ext cx="731520" cy="27432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4251960" y="411480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4114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95160" y="2377440"/>
            <a:ext cx="451073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237744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키로 찾기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번호 대신 '이름표'로 값을 꺼내요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95160" y="3127248"/>
            <a:ext cx="451073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3127248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키는 중복 불가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키를 또 쓰면 덮어써요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95160" y="3877056"/>
            <a:ext cx="451073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3877056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변경 가능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추가 · 수정 · 삭제 자유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95160" y="4626864"/>
            <a:ext cx="4510735" cy="640080"/>
          </a:xfrm>
          <a:prstGeom prst="roundRect">
            <a:avLst>
              <a:gd name="adj" fmla="val 1714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4626864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값은 아무거나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· 문자 · 리스트 · 딕셔너리도 OK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" y="4983480"/>
            <a:ext cx="5760720" cy="640080"/>
          </a:xfrm>
          <a:prstGeom prst="roundRect">
            <a:avLst>
              <a:gd name="adj" fmla="val 17143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4983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사전 비유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'apple'(키)을 찾으면 '사과'(값)가 나와요!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연결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 한 행(row)의 '열 이름 : 값' = 딕셔너리 한 개!  JSON 데이터도 이 모양이에요.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3-4, Python Tutorial — Data Structures (docs.python.org/3/tutorial/datastructures.html) — Dictionaries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1) 검색 — dic[키] 와 get(키)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dic[키] — 없는 키면 오류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25,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'phone'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84962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3367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KeyError: 'phone'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get(키) — 없으면 None (안전!)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(dic.get(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(dic.get(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'phone'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(dic.get(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'phone'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'없음'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78728" y="3557016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6461608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61608" y="3941064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없음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" y="4919472"/>
            <a:ext cx="1082009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0120" y="4919472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편의점 비유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dic['phone'] = '그거 주세요!' → 없으면 오류로 멈춤.   get('phone', '없음') = '없으면 "없음"이라고 알려 주세요' → 멈추지 않아요.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인덱스 번호는 ✗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dic[0] 처럼 번호로는 못 꺼내요 — 딕셔너리는 오직 '키'로! (len(dic) → 3, 'name' in dic → True)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키만 · 값만 · 둘 다 — keys( ) · values( ) · items(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675120" cy="1627632"/>
          </a:xfrm>
          <a:prstGeom prst="roundRect">
            <a:avLst>
              <a:gd name="adj" fmla="val 561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6751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(dic.keys())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5000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(dic.values())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60904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(dic.items())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246120"/>
            <a:ext cx="667512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8680" y="3337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630168"/>
            <a:ext cx="63093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dict_keys(['name', 'age', 'city'])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dict_values(['kim', 25, 'Busan'])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dict_items([('name', 'kim'), ('age', 25),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('city', 'Busan')])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0" y="1508760"/>
            <a:ext cx="3824935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1508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keys( 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1508760"/>
            <a:ext cx="1996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키(이름표)만 모아 보기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0" y="2286000"/>
            <a:ext cx="3824935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2286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values( 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2286000"/>
            <a:ext cx="1996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값(내용)만 모아 보기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3063240"/>
            <a:ext cx="3824935" cy="685800"/>
          </a:xfrm>
          <a:prstGeom prst="roundRect">
            <a:avLst>
              <a:gd name="adj" fmla="val 1600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3063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items( 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3063240"/>
            <a:ext cx="1996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(키, 값) 짝을 튜플로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38404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for 로 하나씩 꺼내기 (04장 미리보기)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80960" y="4206240"/>
            <a:ext cx="3824935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433425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Shape 30"/>
          <p:cNvSpPr/>
          <p:nvPr/>
        </p:nvSpPr>
        <p:spPr>
          <a:xfrm>
            <a:off x="8065008" y="433425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Shape 31"/>
          <p:cNvSpPr/>
          <p:nvPr/>
        </p:nvSpPr>
        <p:spPr>
          <a:xfrm>
            <a:off x="8266176" y="433425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49640" y="4261104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4572000"/>
            <a:ext cx="382493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63840" y="473659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k, v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dic.items():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4992624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v)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80960" y="5522976"/>
            <a:ext cx="3824935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7863840" y="5614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5907024"/>
            <a:ext cx="3459175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kim / age 25 / city Busan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4937760"/>
            <a:ext cx="6675120" cy="685800"/>
          </a:xfrm>
          <a:prstGeom prst="roundRect">
            <a:avLst>
              <a:gd name="adj" fmla="val 16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49377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리스트로 바꾸기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list(dic.keys()) → ['name', 'age', 'city']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3-4, Python Tutorial — Data Structures (docs.python.org/3/tutorial/datastructures.html) — Looping Techniques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2) 추가 · 변경 — dic[키] = 값 하나로 둘 다!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있는 키 → 변경,  없는 키 → 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26    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변경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'phone'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'010-1234-5678'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557016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9410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'kim', 'age': 26,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'city': 'Busan', 'phone': '010-1234-5678'}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update( ) — 여러 개를 한 번에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78728" y="1874520"/>
            <a:ext cx="522716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88456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25,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88456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dic.update({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27,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'job'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'student'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8728" y="3557016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61608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61608" y="39410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'kim', 'age': 27,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'city': 'Busan', 'job': 'student'}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4663440"/>
            <a:ext cx="10820095" cy="960120"/>
          </a:xfrm>
          <a:prstGeom prst="roundRect">
            <a:avLst>
              <a:gd name="adj" fmla="val 1142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466344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사물함 비유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이름표(키)가 붙은 사물함이 있으면 내용물만 갈아 넣고(변경), 없으면 새 사물함을 만들어요(추가). 같은 이름표의 사물함은 절대 2개가 될 수 없어요.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update 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키를 한 번에 — 있는 키(age)는 변경, 없는 키(job)는 추가!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setdefault( ) — '없을 때만' 추가하는 안전한 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583680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58368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25,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(dic.setdefault(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(dic.setdefault(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'job'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'student'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1693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83864"/>
            <a:ext cx="658368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575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867912"/>
            <a:ext cx="62179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'kim', 'age': 25, 'city': 'Busan',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'job': 'student'}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1508760"/>
            <a:ext cx="391637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18120" y="1508760"/>
            <a:ext cx="3459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'city' 는 이미 있음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기존 값 'Busan' 을 그대로 돌려줌 (Seoul 로 안 바뀜!)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2880360"/>
            <a:ext cx="3916375" cy="1188720"/>
          </a:xfrm>
          <a:prstGeom prst="roundRect">
            <a:avLst>
              <a:gd name="adj" fmla="val 9231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2880360"/>
            <a:ext cx="3459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'job' 은 없음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'student' 로 새로 추가하고 그 값을 돌려줌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89520" y="4297680"/>
            <a:ext cx="3916375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4297680"/>
            <a:ext cx="34591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dic[키] = 값 과 차이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dic['city'] = 'Seoul' 은 무조건 덮어쓰기, setdefault 는 이미 있으면 손대지 않아요.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set + default = '기본값으로 설정' — 비어 있을 때만 기본값을 채워 넣어요.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키 중복은 덮어쓰기 · fromkeys( ) 로 한 번에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키를 두 번 쓰면?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{20: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30: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30: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'lee'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{20: 'son', 30: 'lee'}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11480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키 30 의 값 'kim' 이 나중 값 'lee' 로 덮어써져요. 키는 '주민번호'처럼 유일해야 해요.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dict.fromkeys(키 목록, 기본값)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dict.fromkeys([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'kor'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'eng'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'math'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0)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8728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61608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{'kor': 0, 'eng': 0, 'math': 0}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78728" y="411480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과목별 점수표를 0점으로 초기화 — 성적 입력 전 빈 양식 만들기!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" y="4754880"/>
            <a:ext cx="1082009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47548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키가 될 수 있는 것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· 문자열 · 튜플처럼 '바뀌지 않는 값'만! 리스트는 키가 될 수 없어요 (TypeError: unhashable type: 'list'). 값(value)에는 아무거나 넣을 수 있어요.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튜플의 쓸모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좌표 (35, 129) 같은 튜플은 딕셔너리의 키로 쓸 수 있어요 — 바뀌지 않으니까!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3-4, Python Tutorial — Data Structures (docs.python.org/3/tutorial/datastructures.html) — Dictionaries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3) 삭제 — pop · popitem · del · clear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4206240"/>
                <a:gridCol w="2224735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방법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 (dic = {'name': 'kim', 'age': 25, 'city': 'Busan'})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 dic</a:t>
                      </a:r>
                      <a:endParaRPr lang="en-US" sz="13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pop(키)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키로 삭제 + 값 돌려줌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dic.pop('age')  → 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{'name': 'kim', 'city': 'Busan'}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popitem( 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마지막 쌍 삭제 + 돌려줌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dic.popitem()  → ('city', 'Busan')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{'name': 'kim', 'age': 25}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 dic[키]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키로 삭제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 dic['city']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{'name': 'kim', 'age': 25}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 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전부 비우기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dic.clear()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892040"/>
            <a:ext cx="10820095" cy="731520"/>
          </a:xfrm>
          <a:prstGeom prst="roundRect">
            <a:avLst>
              <a:gd name="adj" fmla="val 15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48920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리스트와 비교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 pop(번호) ↔ 딕셔너리 pop(키).  딕셔너리엔 remove( ) 가 없어요!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오류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dic.pop('phone') · del dic['phone'] → KeyError — 없는 키는 지울 수 없어요.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4) 복사 — 리스트와 똑같은 함정!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a = dic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25}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dic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99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84962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3367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663440"/>
            <a:ext cx="522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 를 고쳤는데 dic 도 바뀌었어요 — 같은 사전에 이름표만 2개!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copy( ) 또는 dict( 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78728" y="1874520"/>
            <a:ext cx="5227168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6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88456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873088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'kim'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25}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388456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73088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dic.copy()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dict(dic) 도 OK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88456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73088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30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388456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873088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(dic[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b[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78728" y="384962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6461608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61608" y="423367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25 30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278728" y="4663440"/>
            <a:ext cx="522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 는 독립된 복사본 → 원본 dic 은 25 그대로!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53949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53949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규칙 하나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 · 딕셔너리 · 집합처럼 '바뀌는' 데이터는 = 로 복사하지 말고 .copy( ) 를 쓰세요!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5) 실무 활용 — 중첩 딕셔너리 · 메뉴판 · 개수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중첩 : 선수 명단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423818" cy="2231136"/>
          </a:xfrm>
          <a:prstGeom prst="roundRect">
            <a:avLst>
              <a:gd name="adj" fmla="val 409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0487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 = {1: 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'son'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60904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31},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916936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2: 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'karina'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17296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24}}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42900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(st[1][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68503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(st[2][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15384"/>
            <a:ext cx="342381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59943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karina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85232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st[1] 로 안쪽 사전 → ['age']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83938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메뉴판 : 주문 합계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3938" y="1874520"/>
            <a:ext cx="3423818" cy="2487168"/>
          </a:xfrm>
          <a:prstGeom prst="roundRect">
            <a:avLst>
              <a:gd name="adj" fmla="val 36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681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476798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496915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52618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3938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66818" y="240487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'아메리카노'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4500,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66818" y="2660904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'라떼'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5000}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66818" y="2916936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'라떼'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'아메리카노'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66818" y="317296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'라떼'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66818" y="342900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'라떼'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2 \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66818" y="368503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price[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'아메리카노'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66818" y="3941064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3938" y="4471416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4566818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66818" y="4855464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14500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383938" y="530352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메뉴 이름(키)으로 가격 찾기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082077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개수 세기 : 방문 도시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82077" y="1874520"/>
            <a:ext cx="3423818" cy="1975104"/>
          </a:xfrm>
          <a:prstGeom prst="roundRect">
            <a:avLst>
              <a:gd name="adj" fmla="val 463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4957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43" name="Shape 41"/>
          <p:cNvSpPr/>
          <p:nvPr/>
        </p:nvSpPr>
        <p:spPr>
          <a:xfrm>
            <a:off x="8466125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4" name="Shape 42"/>
          <p:cNvSpPr/>
          <p:nvPr/>
        </p:nvSpPr>
        <p:spPr>
          <a:xfrm>
            <a:off x="8667293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950757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82077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64957" y="2404872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= {}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264957" y="2660904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'서울'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264957" y="2916936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'대구'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'부산'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264957" y="317296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cnt[c] = cnt.get(c, 0) + 1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264957" y="342900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(cnt)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82077" y="3959352"/>
            <a:ext cx="342381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8264957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264957" y="43434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{'부산': 3, '서울':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'대구': 1}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082077" y="50292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get(c, 0) — 처음이면 0부터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미리보기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for 반복문은 04장에서 배워요. 지금은 '딕셔너리로 이런 것도 되는구나!' 정도면 충분해요.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메서드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92528"/>
                <a:gridCol w="2743200"/>
                <a:gridCol w="266684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get(키, 기본값)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안전하게 값 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pop(키)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삭제 + 값 반환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keys(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목록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popitem(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마지막 쌍 삭제 + 반환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 목록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전부 삭제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items(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(키, 값) 목록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복사본 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update(딕셔너리)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여러 개 추가 · 변경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setdefault(키, 값)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없을 때만 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dict.fromkeys(목록, 값)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키 목록으로 새로 만들기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—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가장 많이 쓰는 3총사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get( ) · items( ) · update( ) — 실무 데이터(JSON, API 응답)를 다룰 때 매일 써요!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3-4, Python Tutorial — Data Structures (docs.python.org/3/tutorial/datastructures.html)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3.4  ·  딕셔너리 (dict)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3.4 딕셔너리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만들기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키 : 값 } — 키는 중복 불가(덮어씀), 바뀌지 않는 값만 키 가능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검색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dic[키] (없으면 KeyError) · get(키, 기본값) · keys · values · items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추가 · 변경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dic[키] = 값 (있으면 변경, 없으면 추가) · update( ) · setdefault( 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삭제 · 복사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pop(키) · popitem( ) · del dic[키] · clear( ),  복사는 copy( )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중복 없이 모으려면? → 3.5 집합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(set)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— 중복 없는 출석부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만들기 · 특징 (중복 ✗ · 순서 ✗)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추가 · 삭제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합집합 · 교집합 · 차집합 · 대칭차집합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만들기 — 중복은 자동으로 사라져요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2157984"/>
          </a:xfrm>
          <a:prstGeom prst="roundRect">
            <a:avLst>
              <a:gd name="adj" fmla="val 423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dunk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'강백호'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'서태웅'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'채치수'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(dunk)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(len(dunk))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1693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'강백호'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dunk,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'정대만'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dunk)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09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0954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({20, 20, 30})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776472"/>
            <a:ext cx="603504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160520"/>
            <a:ext cx="5669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{'서태웅', '강백호', '채치수'}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{20, 30}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3766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※ 집합은 순서가 없어서 출력 순서가 실행할 때마다 다를 수 있어요.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1508760"/>
            <a:ext cx="4465015" cy="2103120"/>
          </a:xfrm>
          <a:prstGeom prst="roundRect">
            <a:avLst>
              <a:gd name="adj" fmla="val 5217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9480" y="1572768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출석부 비유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9480" y="2148840"/>
            <a:ext cx="594360" cy="594360"/>
          </a:xfrm>
          <a:prstGeom prst="ellipse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694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55280" y="2148840"/>
            <a:ext cx="594360" cy="594360"/>
          </a:xfrm>
          <a:prstGeom prst="ellipse">
            <a:avLst/>
          </a:prstGeom>
          <a:solidFill>
            <a:srgbClr val="F472B6">
              <a:alpha val="6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641080" y="2148840"/>
            <a:ext cx="594360" cy="594360"/>
          </a:xfrm>
          <a:prstGeom prst="ellipse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4108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418320" y="2286000"/>
            <a:ext cx="502920" cy="320040"/>
          </a:xfrm>
          <a:prstGeom prst="rightArrow">
            <a:avLst/>
          </a:prstGeom>
          <a:solidFill>
            <a:srgbClr val="34D399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58400" y="2148840"/>
            <a:ext cx="594360" cy="594360"/>
          </a:xfrm>
          <a:prstGeom prst="ellipse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584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744200" y="2148840"/>
            <a:ext cx="594360" cy="594360"/>
          </a:xfrm>
          <a:prstGeom prst="ellipse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7442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269480" y="2880360"/>
            <a:ext cx="4007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학생은 출석부에 한 번만! 이름이 적힌 '순서'는 의미 없어요.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3749040"/>
            <a:ext cx="4465015" cy="530352"/>
          </a:xfrm>
          <a:prstGeom prst="roundRect">
            <a:avLst>
              <a:gd name="adj" fmla="val 2069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69480" y="3749040"/>
            <a:ext cx="40992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중복 불가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같은 값은 하나만 남음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040880" y="4370832"/>
            <a:ext cx="4465015" cy="530352"/>
          </a:xfrm>
          <a:prstGeom prst="roundRect">
            <a:avLst>
              <a:gd name="adj" fmla="val 2069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69480" y="4370832"/>
            <a:ext cx="40992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순서 없음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인덱스 · 슬라이싱 ✗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040880" y="4992624"/>
            <a:ext cx="4465015" cy="530352"/>
          </a:xfrm>
          <a:prstGeom prst="roundRect">
            <a:avLst>
              <a:gd name="adj" fmla="val 2069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69480" y="4992624"/>
            <a:ext cx="40992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추가 · 삭제 OK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add · remove · discard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빈 집합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 } 는 빈 '딕셔너리'예요!  빈 집합은 set( ) 으로 만들어요.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3-5, Python Tutorial — Data Structures (docs.python.org/3/tutorial/datastructures.html) — Sets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순서가 없다 = 번호로 꺼낼 수 없다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인덱스로 꺼내기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dunk = {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'강백호'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'서태웅'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'채치수'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(dunk[0])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'set' object is not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subscriptable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필요하면 리스트로 바꿔서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8728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sorted(dunk)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정렬된 리스트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(names[0])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8728" y="3300984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61608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61608" y="3685032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강백호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389120"/>
            <a:ext cx="10820095" cy="1280160"/>
          </a:xfrm>
          <a:prstGeom prst="roundRect">
            <a:avLst>
              <a:gd name="adj" fmla="val 8571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389120"/>
            <a:ext cx="10271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: 중복 제거 — 집합의 가장 큰 쓸모!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= ['부산', '서울', '부산', '대구', '서울']     # 방문 기록 5건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print(set(visit), len(set(visit)))   →  {'부산', '대구', '서울'} 3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방문한 '서로 다른 도시'는 3곳!  (고객 수 · 상품 종류 세기에 딱)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subscriptable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'[ ] 로 번호를 붙여 꺼낼 수 있는' 이라는 뜻 — 집합은 번호가 없어서 안 돼요.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1) 추가 — add( ) 한 개 · update( ) 여러 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add(값) — 1개 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dunk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'강백호'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'서태웅'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'채치수'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dunk.add(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'송태섭'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(dunk)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557016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941064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{'서태웅', '송태섭', '강백호', '채치수'}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update(여러 값) — 이미 있는 값은 무시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78728" y="1874520"/>
            <a:ext cx="522716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88456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dunk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'강백호'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'서태웅'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'채치수'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88456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dunk.update([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'정대만'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'강백호'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(dunk)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8728" y="3557016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61608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61608" y="3941064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{'서태웅', '강백호', '정대만', '채치수'}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4434840"/>
            <a:ext cx="10820095" cy="1097280"/>
          </a:xfrm>
          <a:prstGeom prst="roundRect">
            <a:avLst>
              <a:gd name="adj" fmla="val 1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4434840"/>
            <a:ext cx="10271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update 에는 리스트 · 튜플 · 집합 무엇이든!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'강백호' 는 이미 있으니 무시되고 '정대만' 만 들어왔어요 → 4명.  리스트의 append ↔ 집합의 add,  리스트의 extend ↔ 집합의 update 로 짝지어 기억하세요.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566928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※ 집합은 순서가 없어서 출력 순서가 실행할 때마다 다를 수 있어요.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2) 삭제 — remove · discard · pop · clear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377440"/>
                <a:gridCol w="4236415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방법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없는 값이면?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 (dunk = {'강백호', '서태웅', '채치수'})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remove(값)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 삭제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KeyError 오류!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dunk.remove('서태웅') → {'강백호', '채치수'}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discard(값)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 삭제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조용히 넘어감 (안전)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dunk.discard('윤대협') → 변화 없음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 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아무거나 1개 꺼내기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빈 집합이면 오류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dunk.pop() → '서태웅' (무엇이 나올지 몰라요)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 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전부 비우기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—</a:t>
                      </a:r>
                      <a:endParaRPr lang="en-US" sz="13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dunk.clear() → set()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80060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480060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remove vs discard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remove 는 '없으면 화내는' 직원, discard 는 '없으면 그냥 넘어가는' 직원 — 있는지 확실치 않으면 discard!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set() 출력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빈 집합은 { } 가 아니라 set() 으로 표시돼요 ({ } 는 빈 딕셔너리니까!)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3) 집합 연산 — 벤 다이어그램으로 이해하기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{'파이썬', '엑셀', 'R'}   (김 대리가 아는 도구)        B = {'파이썬', 'SQL'}   (이 대리가 아는 도구)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2499284" cy="374904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3852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합집합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8182" y="2395728"/>
            <a:ext cx="1207008" cy="1207008"/>
          </a:xfrm>
          <a:prstGeom prst="ellipse">
            <a:avLst/>
          </a:prstGeom>
          <a:solidFill>
            <a:srgbClr val="818CF8">
              <a:alpha val="4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62036" y="2395728"/>
            <a:ext cx="1207008" cy="1207008"/>
          </a:xfrm>
          <a:prstGeom prst="ellipse">
            <a:avLst/>
          </a:prstGeom>
          <a:solidFill>
            <a:srgbClr val="818CF8">
              <a:alpha val="4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2036" y="2540569"/>
            <a:ext cx="543154" cy="917326"/>
          </a:xfrm>
          <a:prstGeom prst="ellipse">
            <a:avLst/>
          </a:prstGeom>
          <a:solidFill>
            <a:srgbClr val="818CF8">
              <a:alpha val="4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43902" y="2816352"/>
            <a:ext cx="618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05190" y="2816352"/>
            <a:ext cx="663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| 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6908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A.union(B)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434840"/>
            <a:ext cx="2316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{'파이썬', 'SQL', 'R', '엑셀'}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983480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중 한 명이라도 아는 도구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59404" y="1874520"/>
            <a:ext cx="2499284" cy="374904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59404" y="193852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교집합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71786" y="2395728"/>
            <a:ext cx="1207008" cy="1207008"/>
          </a:xfrm>
          <a:prstGeom prst="ellipse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5640" y="2395728"/>
            <a:ext cx="1207008" cy="1207008"/>
          </a:xfrm>
          <a:prstGeom prst="ellipse">
            <a:avLst/>
          </a:prstGeom>
          <a:solidFill>
            <a:srgbClr val="0D1B3D">
              <a:alpha val="7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5640" y="2540569"/>
            <a:ext cx="543154" cy="917326"/>
          </a:xfrm>
          <a:prstGeom prst="ellipse">
            <a:avLst/>
          </a:prstGeom>
          <a:solidFill>
            <a:srgbClr val="34D399">
              <a:alpha val="6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17506" y="2816352"/>
            <a:ext cx="618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78794" y="2816352"/>
            <a:ext cx="663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59404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&amp; B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459404" y="406908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A.intersection(B)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50844" y="4434840"/>
            <a:ext cx="2316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{'파이썬'}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50844" y="4983480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둘 다 아는 도구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3008" y="1874520"/>
            <a:ext cx="2499284" cy="374904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193852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차집합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45390" y="2395728"/>
            <a:ext cx="1207008" cy="1207008"/>
          </a:xfrm>
          <a:prstGeom prst="ellipse">
            <a:avLst/>
          </a:prstGeom>
          <a:solidFill>
            <a:srgbClr val="FACC15">
              <a:alpha val="4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09244" y="2395728"/>
            <a:ext cx="1207008" cy="1207008"/>
          </a:xfrm>
          <a:prstGeom prst="ellipse">
            <a:avLst/>
          </a:prstGeom>
          <a:solidFill>
            <a:srgbClr val="0D1B3D">
              <a:alpha val="7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9244" y="2540569"/>
            <a:ext cx="543154" cy="917326"/>
          </a:xfrm>
          <a:prstGeom prst="ellipse">
            <a:avLst/>
          </a:prstGeom>
          <a:solidFill>
            <a:srgbClr val="0D1B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91110" y="2816352"/>
            <a:ext cx="618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52398" y="2816352"/>
            <a:ext cx="663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233008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- B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233008" y="406908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A.difference(B)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24448" y="4434840"/>
            <a:ext cx="2316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{'R', '엑셀'}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24448" y="4983480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 대리만 아는 도구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006611" y="1874520"/>
            <a:ext cx="2499284" cy="374904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06611" y="1938528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대칭차집합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318993" y="2395728"/>
            <a:ext cx="1207008" cy="1207008"/>
          </a:xfrm>
          <a:prstGeom prst="ellipse">
            <a:avLst/>
          </a:prstGeom>
          <a:solidFill>
            <a:srgbClr val="F472B6">
              <a:alpha val="4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82848" y="2395728"/>
            <a:ext cx="1207008" cy="1207008"/>
          </a:xfrm>
          <a:prstGeom prst="ellipse">
            <a:avLst/>
          </a:prstGeom>
          <a:solidFill>
            <a:srgbClr val="F472B6">
              <a:alpha val="45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82848" y="2540569"/>
            <a:ext cx="543154" cy="917326"/>
          </a:xfrm>
          <a:prstGeom prst="ellipse">
            <a:avLst/>
          </a:prstGeom>
          <a:solidFill>
            <a:srgbClr val="0D1B3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364713" y="2816352"/>
            <a:ext cx="618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0526001" y="2816352"/>
            <a:ext cx="663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006611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^ B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9006611" y="406908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A.symmetric_difference(B)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098051" y="4434840"/>
            <a:ext cx="2316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{'SQL', 'R', '엑셀'}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098051" y="4983480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명만 아는 도구 (공통 제외)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달의 구매 고객 비교 — 두 달 모두 산 충성 고객(&amp;), 이번 달 신규 고객(-) 찾기에 그대로 써요!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3-5, Python Tutorial — Data Structures (docs.python.org/3/tutorial/datastructures.html) — Sets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_update 메서드 — 결과로 '원본 A 자체'를 바꾸기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50489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새 집합을 돌려줌 (A 그대로)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A 자체를 바꿈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실행 후 A</a:t>
                      </a:r>
                      <a:endParaRPr lang="en-US" sz="14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A.union(B)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A.update(B)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{'파이썬', 'SQL', 'R', '엑셀'}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A.intersection(B)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A.intersection_update(B)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{'파이썬'}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A.difference(B)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A.difference_update(B)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{'R', '엑셀'}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A.symmetric_difference(B)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A.symmetric_difference_update(B)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{'SQL', 'R', '엑셀'}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4462272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5"/>
          <p:cNvSpPr/>
          <p:nvPr/>
        </p:nvSpPr>
        <p:spPr>
          <a:xfrm>
            <a:off x="1069848" y="459028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6"/>
          <p:cNvSpPr/>
          <p:nvPr/>
        </p:nvSpPr>
        <p:spPr>
          <a:xfrm>
            <a:off x="1271016" y="459028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54480" y="4517136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828032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4992624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'엑셀'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248656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A.union({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그대로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78728" y="4462272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61608" y="459028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3"/>
          <p:cNvSpPr/>
          <p:nvPr/>
        </p:nvSpPr>
        <p:spPr>
          <a:xfrm>
            <a:off x="6662776" y="459028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6863944" y="459028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47408" y="4517136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78728" y="4828032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61608" y="4992624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'엑셀'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61608" y="5248656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A.update({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'SQL'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     </a:t>
            </a:r>
            <a:pPr indent="0" marL="0">
              <a:buNone/>
            </a:pPr>
            <a:r>
              <a:rPr lang="en-US" sz="12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가 바뀜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" y="5806440"/>
            <a:ext cx="10820095" cy="438912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580644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규칙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뒤에 _update 가 붙으면 '원본을 업데이트(변경)한다' — 리스트의 sort( ) 처럼!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3-5, Python Tutorial — Data Structures (docs.python.org/3/tutorial/datastructures.html)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메서드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32608"/>
                <a:gridCol w="3291840"/>
                <a:gridCol w="211820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 / 연산자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1개 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union( )  |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update(목록)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여러 개 추가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intersection( )  &amp;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교집합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remove(x)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 (없으면 오류)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difference( )  -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차집합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discard(x)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삭제 (없어도 OK)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symmetric_difference( )  ^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대칭차집합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아무거나 1개 꺼내기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issubset(B)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 가 B 에 다 들어 있나?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clear( ) · copy( 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비우기 · 복사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in 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x 가 있나? (True/False)</a:t>
                      </a:r>
                      <a:endParaRPr lang="en-US" sz="14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issubset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{1, 2}.issubset({1, 2, 3}) → True  (부분집합 확인 — 원문 표의 'set( )' 칸은 issubset( ) 의 오타로 보여요)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3-5, Python Tutorial — Data Structures (docs.python.org/3/tutorial/datastructures.html)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3.5  ·  집합 (set)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3.5 집합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만들기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{값, 값} 또는 set(목록) — 빈 집합은 set( ),  중복 자동 제거 · 순서 없음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추가 · 삭제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add · update,  remove(없으면 오류) · discard(안전) · pop · clear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| 합집합 · &amp; 교집합 · - 차집합 · ^ 대칭차집합 (_update 는 원본 변경)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활용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중복 제거 len(set(목록)), 공통 고객 · 신규 고객 찾기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참 / 거짓을 담는 그릇 → 3.6 부울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부울 (bool)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True / False — 예 · 아니오 스위치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비교 결과는 부울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bool( ) — 무엇이 참이고 무엇이 거짓?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if · 함수 · isinstance 와 함께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3.6  ·  부울 (bool)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부울 = 딱 두 개의 값 True · False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63040"/>
            <a:ext cx="5227168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463040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참 · 예 · 켜짐 (1)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463040"/>
            <a:ext cx="5227168" cy="1005840"/>
          </a:xfrm>
          <a:prstGeom prst="roundRect">
            <a:avLst>
              <a:gd name="adj" fmla="val 10909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160020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50328" y="1463040"/>
            <a:ext cx="367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거짓 · 아니오 · 꺼짐 (0)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6032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비교하면 결과는 항상 부울!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2926080"/>
            <a:ext cx="5227168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30540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Shape 10"/>
          <p:cNvSpPr/>
          <p:nvPr/>
        </p:nvSpPr>
        <p:spPr>
          <a:xfrm>
            <a:off x="1069848" y="30540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Shape 11"/>
          <p:cNvSpPr/>
          <p:nvPr/>
        </p:nvSpPr>
        <p:spPr>
          <a:xfrm>
            <a:off x="1271016" y="30540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554480" y="298094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" y="329184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95528" y="3456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280160" y="3456432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&gt; 9)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95528" y="37124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280160" y="3712464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== 9)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95528" y="3968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3968496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 &lt; 9)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85800" y="4498848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868680" y="4590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68680" y="4882896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278728" y="256032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부울도 숫자처럼 계산돼요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278728" y="292608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61608" y="30540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6"/>
          <p:cNvSpPr/>
          <p:nvPr/>
        </p:nvSpPr>
        <p:spPr>
          <a:xfrm>
            <a:off x="6662776" y="30540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7"/>
          <p:cNvSpPr/>
          <p:nvPr/>
        </p:nvSpPr>
        <p:spPr>
          <a:xfrm>
            <a:off x="6863944" y="30540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147408" y="298094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278728" y="329184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388456" y="34564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873088" y="3456432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6388456" y="37124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873088" y="3712464"/>
            <a:ext cx="444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278728" y="4242816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5"/>
          <p:cNvSpPr txBox="1"/>
          <p:nvPr/>
        </p:nvSpPr>
        <p:spPr>
          <a:xfrm>
            <a:off x="6461608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6461608" y="46268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'bool'&gt;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6278728" y="5285232"/>
            <a:ext cx="522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True = 1, False = 0 → sum( ) 으로 '조건에 맞는 개수'를 셀 수 있어요.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685800" y="5833872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14400" y="5833872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대소문자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True · False 는 첫 글자만 대문자! true · TRUE 는 NameError 가 나요.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3-6, Python Library — Truth Value Testing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3.6  ·  부울 (bool)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 와 부울 — 조건에 따라 다른 길로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852160" cy="2286000"/>
          </a:xfrm>
          <a:prstGeom prst="roundRect">
            <a:avLst>
              <a:gd name="adj" fmla="val 400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8521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200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0428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04288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69464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69464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&gt; a: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34640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34640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'b가 a보다 크다'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99816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99816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64992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64992"/>
            <a:ext cx="5074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'b가 a보다 크지 않다'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904488"/>
            <a:ext cx="585216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68680" y="3995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288536"/>
            <a:ext cx="5486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b가 a보다 크지 않다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61808" y="1554480"/>
            <a:ext cx="2377440" cy="1188720"/>
          </a:xfrm>
          <a:prstGeom prst="diamond">
            <a:avLst/>
          </a:prstGeom>
          <a:solidFill>
            <a:srgbClr val="10193A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61808" y="1554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&gt; a ?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278892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&gt; 200 → False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94244" y="3127248"/>
            <a:ext cx="274320" cy="365760"/>
          </a:xfrm>
          <a:prstGeom prst="downArrow">
            <a:avLst/>
          </a:prstGeom>
          <a:solidFill>
            <a:srgbClr val="34D399"/>
          </a:solidFill>
          <a:ln/>
        </p:spPr>
      </p:sp>
      <p:sp>
        <p:nvSpPr>
          <p:cNvPr id="30" name="Shape 28"/>
          <p:cNvSpPr/>
          <p:nvPr/>
        </p:nvSpPr>
        <p:spPr>
          <a:xfrm>
            <a:off x="6995160" y="3566160"/>
            <a:ext cx="2072488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95160" y="3566160"/>
            <a:ext cx="207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True 이면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'크다' 출력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332491" y="3127248"/>
            <a:ext cx="274320" cy="365760"/>
          </a:xfrm>
          <a:prstGeom prst="downArrow">
            <a:avLst/>
          </a:prstGeom>
          <a:solidFill>
            <a:srgbClr val="F472B6"/>
          </a:solidFill>
          <a:ln/>
        </p:spPr>
      </p:sp>
      <p:sp>
        <p:nvSpPr>
          <p:cNvPr id="33" name="Shape 31"/>
          <p:cNvSpPr/>
          <p:nvPr/>
        </p:nvSpPr>
        <p:spPr>
          <a:xfrm>
            <a:off x="9433408" y="3566160"/>
            <a:ext cx="2072488" cy="914400"/>
          </a:xfrm>
          <a:prstGeom prst="roundRect">
            <a:avLst>
              <a:gd name="adj" fmla="val 12000"/>
            </a:avLst>
          </a:prstGeom>
          <a:solidFill>
            <a:srgbClr val="0D1B3D"/>
          </a:solidFill>
          <a:ln w="3175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33408" y="3566160"/>
            <a:ext cx="207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False 이면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'크지 않다' 출력 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5800" y="480060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480060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갈림길 비유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if 는 갈림길의 표지판. 조건이 True 면 왼쪽 길, False 면 else 길로 가요. (if 문은 04장에서 자세히!)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들여쓰기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if · else 아래 줄은 4칸 들여쓰기 — 파이썬은 들여쓰기로 '이 조건에 속한 코드'를 구분해요.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3.6  ·  부울 (bool)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bool( ) — 무엇이 참이고 무엇이 거짓일까?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True — '뭔가 들어 있으면' 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16736"/>
          </a:xfrm>
          <a:prstGeom prst="roundRect">
            <a:avLst>
              <a:gd name="adj" fmla="val 694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(bool(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bool(15))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(bool([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]), bool(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공백 1칸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0098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8503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True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False — '비어 있거나 0' 이면 거짓</a:t>
            </a:r>
            <a:endParaRPr lang="en-US" sz="17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874520"/>
          <a:ext cx="5227168" cy="914400"/>
        </p:xfrm>
        <a:graphic>
          <a:graphicData uri="http://schemas.openxmlformats.org/drawingml/2006/table">
            <a:tbl>
              <a:tblPr/>
              <a:tblGrid>
                <a:gridCol w="3581248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값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bool( )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''  (빈 문자열)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()  []  {}  (빈 그릇)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472B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85800" y="4754880"/>
            <a:ext cx="10820095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0120" y="475488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상자 비유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상자를 흔들어 봐서 '뭔가 들어 있으면 True, 텅 비었으면 False'. 공백 ' ' 도 한 글자가 들어 있으니 True!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활용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if cart:  → 장바구니가 비어 있지 않을 때만 결제 진행 — 이렇게 짧게 쓸 수 있어요.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3-6, Python Library — Truth Value Testing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3.6  ·  부울 (bool)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부울을 돌려주는 함수 · isinstance( ) · 빈 장바구니 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True/False 를 돌려주는 함수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423818" cy="2066544"/>
          </a:xfrm>
          <a:prstGeom prst="roundRect">
            <a:avLst>
              <a:gd name="adj" fmla="val 442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0487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is_adult(age):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7919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&gt;= 19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95351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22783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(is_adult(25))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502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(is_adult(15))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050792"/>
            <a:ext cx="342381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8680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43484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120640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나이가 19 이상이면 True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83938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isinstance(값, 타입)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3938" y="1874520"/>
            <a:ext cx="3423818" cy="1792224"/>
          </a:xfrm>
          <a:prstGeom prst="roundRect">
            <a:avLst>
              <a:gd name="adj" fmla="val 51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681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476798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915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52618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3938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66818" y="240487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(isinstance(200, int))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66818" y="267919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(isinstance(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'200'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int))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66818" y="295351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(isinstance(3.5,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66818" y="322783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(int, float)))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3938" y="3776472"/>
            <a:ext cx="342381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4566818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66818" y="4160520"/>
            <a:ext cx="305805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383938" y="5084064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숫자인지 확인할 때 (type 과 비슷)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082077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빈 장바구니 확인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82077" y="1874520"/>
            <a:ext cx="3423818" cy="1517904"/>
          </a:xfrm>
          <a:prstGeom prst="roundRect">
            <a:avLst>
              <a:gd name="adj" fmla="val 602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64957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9" name="Shape 37"/>
          <p:cNvSpPr/>
          <p:nvPr/>
        </p:nvSpPr>
        <p:spPr>
          <a:xfrm>
            <a:off x="8466125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0" name="Shape 38"/>
          <p:cNvSpPr/>
          <p:nvPr/>
        </p:nvSpPr>
        <p:spPr>
          <a:xfrm>
            <a:off x="8667293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50757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82077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64957" y="240487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 = []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264957" y="267919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cart: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264957" y="295351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'장바구니가 비어 있어요'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82077" y="3502152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8264957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264957" y="3886200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장바구니가 비어 있어요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082077" y="4334256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not cart → 비었으면 True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is · has 로 시작하는 이름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is_adult · isdigit · isinstance 처럼 'is~' 함수는 대부분 True/False 를 돌려줘요!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3-6, Python Built-in Functions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3.6  ·  부울 (bool)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3.6 부울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값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True · False 두 개뿐 (첫 글자 대문자), 숫자로는 1 · 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만들어지는 곳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비교 연산 ( &gt; == &lt; … ),  in,  isinstance( ),  is~ 함수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bool( )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비어 있거나 0 · None 이면 False,  뭔가 들어 있으면 True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쓰임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if 조건문의 갈림길 — if cart:  ·  if not cart: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03. 데이터 구조 마무리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데이터 구조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데이터, 4가지 그릇에 담아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50876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= ['부산', '서울', '부산']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50876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순서대로 · 중복 OK · 수정 OK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1508760"/>
            <a:ext cx="2499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['부산', '서울', '부산']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496312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49631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= ('부산', '서울', '부산')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9631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순서대로 · 중복 OK · 수정 ✗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496312"/>
            <a:ext cx="2499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('부산', '서울', '부산')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483864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483864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48386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= {'부산', '서울', '부산'}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483864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중복 제거 · 순서 없음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483864"/>
            <a:ext cx="2499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{'부산', '서울'}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471416"/>
            <a:ext cx="10820095" cy="841248"/>
          </a:xfrm>
          <a:prstGeom prst="roundRect">
            <a:avLst>
              <a:gd name="adj" fmla="val 1304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471416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447141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= {'부산': 2, '서울': 1}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47141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이름(키)으로 값 찾기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4471416"/>
            <a:ext cx="2499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visit['부산'] →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820095" cy="594360"/>
          </a:xfrm>
          <a:prstGeom prst="roundRect">
            <a:avLst>
              <a:gd name="adj" fmla="val 18462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6235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그리고 부울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'부산' in visit → True — 네 그릇 모두 in 으로 '들어 있나?'를 물어보면 부울로 답해 줘요!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— Data Structures (docs.python.org/3/tutorial/datastructures.html)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데이터 구조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체크리스트 — Chap02 실습 노트북에서 해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리스트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매출 리스트 만들고 append · sort · sum · max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리스트 복사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 = a 와 b = a.copy( ) 차이 확인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튜플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 바꾸기 → TypeError 확인 후 list( ) 로 우회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딕셔너리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회원 정보 만들고 get · update · pop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집합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방문 기록 중복 제거, 두 집합의 &amp; · | · -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6. 부울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bool( ) 로 빈 값 · 0 · ' ' 확인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연습문제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리스트 · 튜플 · 딕셔너리 · 집합 PBL 연습문제는 별도 파일(PBL 연습문제)로 풀어 봐요!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데이터 구조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10820095" cy="676656"/>
          </a:xfrm>
          <a:prstGeom prst="roundRect">
            <a:avLst>
              <a:gd name="adj" fmla="val 1621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50876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리스트 [ ]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508760"/>
            <a:ext cx="7116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번호 붙은 서랍장 — 순서 · 중복 · 수정 OK,  append · insert · pop · sort · copy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95144"/>
            <a:ext cx="10820095" cy="676656"/>
          </a:xfrm>
          <a:prstGeom prst="roundRect">
            <a:avLst>
              <a:gd name="adj" fmla="val 1621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29514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29514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튜플 ( 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295144"/>
            <a:ext cx="7116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봉인된 도시락 — 수정 ✗,  index · count,  언패킹 x, y = 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081528"/>
            <a:ext cx="10820095" cy="676656"/>
          </a:xfrm>
          <a:prstGeom prst="roundRect">
            <a:avLst>
              <a:gd name="adj" fmla="val 1621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0815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08152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딕셔너리 { : }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81528"/>
            <a:ext cx="7116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사전 — 키로 찾기,  get · keys · values · items · update · pop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867912"/>
            <a:ext cx="10820095" cy="676656"/>
          </a:xfrm>
          <a:prstGeom prst="roundRect">
            <a:avLst>
              <a:gd name="adj" fmla="val 1621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86791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86791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{ }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867912"/>
            <a:ext cx="7116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출석부 — 중복 ✗ · 순서 ✗,  add · discard,  | &amp; - ^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654296"/>
            <a:ext cx="10820095" cy="676656"/>
          </a:xfrm>
          <a:prstGeom prst="roundRect">
            <a:avLst>
              <a:gd name="adj" fmla="val 1621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65429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3.6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65429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부울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654296"/>
            <a:ext cx="7116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True / False 스위치 — 비교 결과, bool( ), if 조건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557784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04. PBL 연습문제 — 리스트 · 튜플 · 딕셔너리 · 집합 문제를 직접 풀어 보기!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03. 데이터 구조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 02장 — 03. 데이터 구조 (3.1 개요 · 3-2 리스트 · 튜플 · 3-4 딕셔너리 · 집합 · 부울). WikiDocs. https://wikidocs.net/205237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Chap02 변수와 데이터 유형 실습 노트북 (.ipynb)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Data Structures (Lists, Tuples and Sequences, Sets, Dictionaries). https://docs.python.org/3/tutorial/datastructures.html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Types — Sequence Types, Set Types, Mapping Types, Truth Value Testing. https://docs.python.org/3/library/stdtypes.html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Functions (len, sorted, list, tuple, dict, set, bool, isinstance). https://docs.python.org/3/library/functions.html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Sorting Techniques (HOWTO). https://docs.python.org/3/howto/sorting.html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02장 · 03. 데이터 구조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- 02장. 변수와 데이터 유형 · 03. 데이터 구조</dc:title>
  <dc:subject>PptxGenJS Presentation</dc:subject>
  <dc:creator>김진성</dc:creator>
  <cp:lastModifiedBy>김진성</cp:lastModifiedBy>
  <cp:revision>1</cp:revision>
  <dcterms:created xsi:type="dcterms:W3CDTF">2026-10-05T17:35:29Z</dcterms:created>
  <dcterms:modified xsi:type="dcterms:W3CDTF">2026-10-05T17:35:29Z</dcterms:modified>
</cp:coreProperties>
</file>