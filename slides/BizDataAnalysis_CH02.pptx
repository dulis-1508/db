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de9e94c1-0e5f-62d9-8316-7aec8b61b90e}">
          <p14:sldIdLst>
            <p14:sldId id="256"/>
            <p14:sldId id="257"/>
            <p14:sldId id="258"/>
            <p14:sldId id="259"/>
          </p14:sldIdLst>
        </p14:section>
        <p14:section name="2.1 파이썬 설치" id="{ab25d14b-d4a7-03f2-8419-119e8afaab91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2.2 파이썬 패키지 설치" id="{955dde1f-5607-3dd8-cd9c-f869da399bf5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2.3 Google Colab" id="{cdd8216d-1195-7903-e843-3594e39316e4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마무리" id="{48e052eb-a1d2-801d-7159-8047c710fb7d}">
          <p14:sldIdLst>
            <p14:sldId id="299"/>
            <p14:sldId id="300"/>
            <p14:sldId id="301"/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6" Type="http://schemas.openxmlformats.org/officeDocument/2006/relationships/image" Target="../media/image-4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463040"/>
            <a:ext cx="4023360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PYTHON FOR BUSINESS DATA ANALYSIS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920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비즈니스 데이터 분석 with Python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914400" y="2971800"/>
            <a:ext cx="146304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02장. 파이썬 시작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2.1 파이썬 설치  /  2.2 파이썬 패키지 설치  /  2.3 Google Colab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760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 ·  각 공식 문서로 보완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비즈니스 데이터 분석 with Python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Contents — 02장. 파이썬 시작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실습 파일 : Chap02_파이썬시작_실습.ipynb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3423818" cy="356616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423160"/>
            <a:ext cx="868680" cy="86868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010" y="2640330"/>
            <a:ext cx="434340" cy="4343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05840" y="347472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2.1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406908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 설치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466344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 컴퓨터에 Anaconda 설치하고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첫 코드 실행하기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83938" y="2103120"/>
            <a:ext cx="3423818" cy="356616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03978" y="2423160"/>
            <a:ext cx="868680" cy="86868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148" y="2640330"/>
            <a:ext cx="434340" cy="4343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703978" y="347472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2.2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4703978" y="406908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 패키지 설치</a:t>
            </a:r>
            <a:endParaRPr lang="en-US" sz="2100" dirty="0"/>
          </a:p>
        </p:txBody>
      </p:sp>
      <p:sp>
        <p:nvSpPr>
          <p:cNvPr id="17" name="Text 13"/>
          <p:cNvSpPr txBox="1"/>
          <p:nvPr/>
        </p:nvSpPr>
        <p:spPr>
          <a:xfrm>
            <a:off x="4703978" y="466344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pip · conda 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필요한 도구 추가하기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8082077" y="2103120"/>
            <a:ext cx="3423818" cy="356616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402117" y="2423160"/>
            <a:ext cx="868680" cy="86868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287" y="2640330"/>
            <a:ext cx="434340" cy="4343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402117" y="347472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2.3</a:t>
            </a:r>
            <a:endParaRPr lang="en-US" sz="3000" dirty="0"/>
          </a:p>
        </p:txBody>
      </p:sp>
      <p:sp>
        <p:nvSpPr>
          <p:cNvPr id="22" name="Text 17"/>
          <p:cNvSpPr txBox="1"/>
          <p:nvPr/>
        </p:nvSpPr>
        <p:spPr>
          <a:xfrm>
            <a:off x="8402117" y="406908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Google Colab</a:t>
            </a:r>
            <a:endParaRPr lang="en-US" sz="2100" dirty="0"/>
          </a:p>
        </p:txBody>
      </p:sp>
      <p:sp>
        <p:nvSpPr>
          <p:cNvPr id="23" name="Text 18"/>
          <p:cNvSpPr txBox="1"/>
          <p:nvPr/>
        </p:nvSpPr>
        <p:spPr>
          <a:xfrm>
            <a:off x="8402117" y="466344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 없이 웹에서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 쓰기 (우리 수업!)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02장 시작하기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오늘의 미션 : 내 손으로 첫 파이썬 코드 실행하기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669280" cy="3977640"/>
          </a:xfrm>
          <a:prstGeom prst="roundRect">
            <a:avLst>
              <a:gd name="adj" fmla="val 275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691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오늘 수업이 끝나면 할 수 있어요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240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파이썬을 쓰는 3가지 방법을 구분한다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95351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28620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Anaconda를 설치하고 Jupyter를 연다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75304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34838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pip / conda 로 패키지를 설치한다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197096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63040" y="41056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Colab에서 코드를 쓰고 실행 · 저장한다</a:t>
            </a:r>
            <a:endParaRPr lang="en-US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818888"/>
            <a:ext cx="274320" cy="27432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463040" y="47274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Colab에 내 데이터 파일을 불러온다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6675120" y="1554480"/>
            <a:ext cx="4830775" cy="1152144"/>
          </a:xfrm>
          <a:prstGeom prst="roundRect">
            <a:avLst>
              <a:gd name="adj" fmla="val 7937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6858000" y="168249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9" name="Shape 12"/>
          <p:cNvSpPr/>
          <p:nvPr/>
        </p:nvSpPr>
        <p:spPr>
          <a:xfrm>
            <a:off x="7059168" y="168249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Shape 13"/>
          <p:cNvSpPr/>
          <p:nvPr/>
        </p:nvSpPr>
        <p:spPr>
          <a:xfrm>
            <a:off x="7260336" y="168249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4"/>
          <p:cNvSpPr txBox="1"/>
          <p:nvPr/>
        </p:nvSpPr>
        <p:spPr>
          <a:xfrm>
            <a:off x="7543800" y="1609344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나의 첫 코드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6675120" y="1920240"/>
            <a:ext cx="483077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6784848" y="208483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7269480" y="2084832"/>
            <a:ext cx="4053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Python!"</a:t>
            </a:r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25" name="Shape 18"/>
          <p:cNvSpPr/>
          <p:nvPr/>
        </p:nvSpPr>
        <p:spPr>
          <a:xfrm>
            <a:off x="6675120" y="2880360"/>
            <a:ext cx="4830775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6" name="Text 19"/>
          <p:cNvSpPr txBox="1"/>
          <p:nvPr/>
        </p:nvSpPr>
        <p:spPr>
          <a:xfrm>
            <a:off x="6858000" y="2971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6858000" y="3264408"/>
            <a:ext cx="446501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Python!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6675120" y="3931920"/>
            <a:ext cx="4830775" cy="1600200"/>
          </a:xfrm>
          <a:prstGeom prst="roundRect">
            <a:avLst>
              <a:gd name="adj" fmla="val 6857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949440" y="3931920"/>
            <a:ext cx="42821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print( ) 란?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괄호 안의 내용을 화면에 '출력'하는 명령입니다. 따옴표 " " 안의 글자는 그대로 보여 줍니다.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걱정 마세요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설치가 잘 안 되어도 괜찮습니다. 수업은 설치가 필요 없는 Colab으로 진행해요!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02장 시작하기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파이썬을 쓰는 3가지 방법 — 큰 그림 먼저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685800" cy="685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25603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파이썬만 설치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97180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python.org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60120" y="3429000"/>
            <a:ext cx="2875178" cy="457200"/>
          </a:xfrm>
          <a:prstGeom prst="roundRect">
            <a:avLst>
              <a:gd name="adj" fmla="val 20000"/>
            </a:avLst>
          </a:prstGeom>
          <a:solidFill>
            <a:srgbClr val="FACC15">
              <a:alpha val="18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60120" y="342900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비유 : 빈 주방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406908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언어 본체만 설치. 필요한 도구는 하나씩 직접 설치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493776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가볍다 / 직접 챙길 게 많다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83938" y="150876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258" y="1737360"/>
            <a:ext cx="685800" cy="6858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58258" y="25603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Anaconda 설치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4658258" y="297180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anaconda.com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658258" y="3429000"/>
            <a:ext cx="2875178" cy="457200"/>
          </a:xfrm>
          <a:prstGeom prst="roundRect">
            <a:avLst>
              <a:gd name="adj" fmla="val 20000"/>
            </a:avLst>
          </a:prstGeom>
          <a:solidFill>
            <a:srgbClr val="44A833">
              <a:alpha val="18000"/>
            </a:srgbClr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658258" y="342900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비유 : 풀옵션 주방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4658258" y="406908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 + 분석 패키지 + Jupyter 를 한 번에 설치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4658258" y="493776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편하다 / 용량이 크다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8082077" y="150876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25400">
            <a:solidFill>
              <a:srgbClr val="FACC1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180015" y="173736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10180015" y="17373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우리 수업</a:t>
            </a:r>
            <a:endParaRPr lang="en-US" sz="1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397" y="1737360"/>
            <a:ext cx="685800" cy="6858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356397" y="25603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③ Google Colab</a:t>
            </a:r>
            <a:endParaRPr lang="en-US" sz="1900" dirty="0"/>
          </a:p>
        </p:txBody>
      </p:sp>
      <p:sp>
        <p:nvSpPr>
          <p:cNvPr id="26" name="Text 21"/>
          <p:cNvSpPr txBox="1"/>
          <p:nvPr/>
        </p:nvSpPr>
        <p:spPr>
          <a:xfrm>
            <a:off x="8356397" y="297180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colab.research.google.com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8356397" y="3429000"/>
            <a:ext cx="2875178" cy="457200"/>
          </a:xfrm>
          <a:prstGeom prst="roundRect">
            <a:avLst>
              <a:gd name="adj" fmla="val 20000"/>
            </a:avLst>
          </a:prstGeom>
          <a:solidFill>
            <a:srgbClr val="F9AB00">
              <a:alpha val="18000"/>
            </a:srgbClr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8356397" y="342900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비유 : 공유 주방 (빌려 쓰기)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8356397" y="406908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 없이 웹 브라우저에서 바로 사용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8356397" y="493776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제일 쉽다 / 인터넷 필요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어떤 걸 써도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 문법은 똑같습니다. 차이는 '어디서, 얼마나 편하게' 쓰느냐 뿐이에요.</a:t>
            </a:r>
            <a:endParaRPr lang="en-US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python.org, Anaconda Documentation (anaconda.com/docs), Google Colab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2.1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 설치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 컴퓨터에 Anaconda 설치하기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 전 확인 사항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Windows · Mac 설치 순서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 확인과 Jupyter Notebook 첫 실행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파이썬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왜 Anaconda로 설치할까?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227168" cy="2926080"/>
          </a:xfrm>
          <a:prstGeom prst="roundRect">
            <a:avLst>
              <a:gd name="adj" fmla="val 375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594360" cy="594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783080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python.org 파이썬</a:t>
            </a:r>
            <a:endParaRPr lang="en-US" sz="2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807208"/>
            <a:ext cx="201168" cy="201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69748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 언어 본체 + 표준 라이브러리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5584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324612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pandas · numpy 등은 따로 설치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04488"/>
            <a:ext cx="201168" cy="20116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71600" y="379476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에디터(Jupyter)도 따로 설치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6278728" y="1554480"/>
            <a:ext cx="5227168" cy="2926080"/>
          </a:xfrm>
          <a:prstGeom prst="roundRect">
            <a:avLst>
              <a:gd name="adj" fmla="val 3750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048" y="1783080"/>
            <a:ext cx="594360" cy="59436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330288" y="1783080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Anaconda Distribution</a:t>
            </a:r>
            <a:endParaRPr lang="en-US" sz="20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768" y="2807208"/>
            <a:ext cx="201168" cy="201168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6964528" y="269748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 + 표준 라이브러리</a:t>
            </a:r>
            <a:endParaRPr lang="en-US" sz="15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8768" y="3355848"/>
            <a:ext cx="201168" cy="201168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6964528" y="324612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pandas · numpy · matplotlib 등 분석 패키지 포함</a:t>
            </a:r>
            <a:endParaRPr lang="en-US" sz="15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8768" y="3904488"/>
            <a:ext cx="201168" cy="201168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6964528" y="379476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Jupyter · Navigator · conda 포함</a:t>
            </a:r>
            <a:endParaRPr lang="en-US" sz="1500" dirty="0"/>
          </a:p>
        </p:txBody>
      </p:sp>
      <p:sp>
        <p:nvSpPr>
          <p:cNvPr id="23" name="Shape 13"/>
          <p:cNvSpPr/>
          <p:nvPr/>
        </p:nvSpPr>
        <p:spPr>
          <a:xfrm>
            <a:off x="685800" y="4663440"/>
            <a:ext cx="10820095" cy="914400"/>
          </a:xfrm>
          <a:prstGeom prst="roundRect">
            <a:avLst>
              <a:gd name="adj" fmla="val 12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4" name="Text 14"/>
          <p:cNvSpPr txBox="1"/>
          <p:nvPr/>
        </p:nvSpPr>
        <p:spPr>
          <a:xfrm>
            <a:off x="960120" y="466344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결론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데이터 분석에 필요한 도구를 한 번에 설치해 주므로, 처음 배우는 사람에게는 Anaconda가 편합니다. (최신 Anaconda 2025.12에는 Python 3.13이 들어 있습니다)</a:t>
            </a:r>
            <a:endParaRPr lang="en-US" sz="1500" dirty="0"/>
          </a:p>
        </p:txBody>
      </p:sp>
      <p:sp>
        <p:nvSpPr>
          <p:cNvPr id="25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참고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둘 다 설치할 필요는 없습니다. 하나만 고르세요!</a:t>
            </a:r>
            <a:endParaRPr lang="en-US" sz="1600" dirty="0"/>
          </a:p>
        </p:txBody>
      </p:sp>
      <p:sp>
        <p:nvSpPr>
          <p:cNvPr id="27" name="Text 1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Python」(김진성), Anaconda Documentation (anaconda.com/docs) — Release notes 2025.12</a:t>
            </a:r>
            <a:endParaRPr lang="en-US" sz="1000" dirty="0"/>
          </a:p>
        </p:txBody>
      </p:sp>
      <p:sp>
        <p:nvSpPr>
          <p:cNvPr id="28" name="Text 1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파이썬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설치 전에 확인하기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272888" cy="1783080"/>
          </a:xfrm>
          <a:prstGeom prst="roundRect">
            <a:avLst>
              <a:gd name="adj" fmla="val 6154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28800"/>
            <a:ext cx="731520" cy="73152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116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74520" y="178308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운영체제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2212848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Windows / macOS / Linux 중 무엇인지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874520" y="274320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Windows : 설정 → 시스템 → 정보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33008" y="1554480"/>
            <a:ext cx="5272888" cy="1783080"/>
          </a:xfrm>
          <a:prstGeom prst="roundRect">
            <a:avLst>
              <a:gd name="adj" fmla="val 6154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07328" y="1828800"/>
            <a:ext cx="731520" cy="73152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20116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21728" y="178308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Mac 칩 종류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421728" y="2212848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Apple 실리콘(M1~)인지 Intel인지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421728" y="274320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Mac : 왼쪽 위 사과 → 이 Mac에 관하여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85800" y="3520440"/>
            <a:ext cx="5272888" cy="1783080"/>
          </a:xfrm>
          <a:prstGeom prst="roundRect">
            <a:avLst>
              <a:gd name="adj" fmla="val 6154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60120" y="3794760"/>
            <a:ext cx="731520" cy="73152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9776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874520" y="374904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저장 공간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874520" y="4178808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설치에 수 GB가 필요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874520" y="470916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여유 공간을 넉넉히 확보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233008" y="3520440"/>
            <a:ext cx="5272888" cy="1783080"/>
          </a:xfrm>
          <a:prstGeom prst="roundRect">
            <a:avLst>
              <a:gd name="adj" fmla="val 6154"/>
            </a:avLst>
          </a:prstGeom>
          <a:solidFill>
            <a:srgbClr val="0D1B3D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07328" y="3794760"/>
            <a:ext cx="731520" cy="731520"/>
          </a:xfrm>
          <a:prstGeom prst="ellipse">
            <a:avLst/>
          </a:prstGeom>
          <a:solidFill>
            <a:srgbClr val="F472B6">
              <a:alpha val="30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208" y="397764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21728" y="374904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사용자 이름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7421728" y="4178808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Windows 사용자 폴더 이름에 한글 · 띄어쓰기가 있는지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7421728" y="470916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C:\Users\홍길동 → 문제 생길 수 있음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가장 흔한 실패 원인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한글 사용자 이름! 설치 경로에 한글이 들어가면 오류가 날 수 있어요. 이때는 C:\anaconda3 처럼 영어 경로로 설치하세요.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Anaconda Documentation (anaconda.com/docs)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파이썬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설치 순서 한눈에 보기 (Windows 기준)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00200"/>
            <a:ext cx="1907987" cy="182880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8308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55648"/>
            <a:ext cx="11307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다운로드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240280"/>
            <a:ext cx="158794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 운영체제용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 파일 받기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39507" y="239572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1" name="Shape 9"/>
          <p:cNvSpPr/>
          <p:nvPr/>
        </p:nvSpPr>
        <p:spPr>
          <a:xfrm>
            <a:off x="2913827" y="1600200"/>
            <a:ext cx="1907987" cy="182880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96707" y="178308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96707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53907" y="1755648"/>
            <a:ext cx="11307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파일 실행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096707" y="2240280"/>
            <a:ext cx="158794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.exe 더블클릭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→ Next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67534" y="239572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5141854" y="1600200"/>
            <a:ext cx="1907987" cy="182880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24734" y="178308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324734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781934" y="1755648"/>
            <a:ext cx="11307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옵션 선택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324734" y="2240280"/>
            <a:ext cx="158794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Just Me,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PATH 체크 안 함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095561" y="239572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7369881" y="1600200"/>
            <a:ext cx="1907987" cy="182880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52761" y="178308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552761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009961" y="1755648"/>
            <a:ext cx="11307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설치 완료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552761" y="2240280"/>
            <a:ext cx="158794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Install → Finish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(몇 분 걸림)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323588" y="239572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9" name="Shape 27"/>
          <p:cNvSpPr/>
          <p:nvPr/>
        </p:nvSpPr>
        <p:spPr>
          <a:xfrm>
            <a:off x="9597908" y="1600200"/>
            <a:ext cx="1907987" cy="182880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80788" y="178308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780788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237988" y="1755648"/>
            <a:ext cx="11307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실행 확인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780788" y="2240280"/>
            <a:ext cx="158794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Prompt 에서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버전 확인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5800" y="3657600"/>
            <a:ext cx="5227168" cy="1874520"/>
          </a:xfrm>
          <a:prstGeom prst="roundRect">
            <a:avLst>
              <a:gd name="adj" fmla="val 5854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0120" y="3657600"/>
            <a:ext cx="46785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설치되는 것들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· conda · Anaconda Navigator · Jupyter Notebook · Anaconda Prompt · 수백 개의 분석 패키지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278728" y="3657600"/>
            <a:ext cx="5227168" cy="1874520"/>
          </a:xfrm>
          <a:prstGeom prst="roundRect">
            <a:avLst>
              <a:gd name="adj" fmla="val 5854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53048" y="3657600"/>
            <a:ext cx="46785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시간이 걸려요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파일이 커서 다운로드와 설치에 시간이 걸립니다. 설치 중 창이 멈춘 것처럼 보여도 기다려 주세요.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Mac 사용자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.pkg 설치 파일을 받아 '계속' 버튼을 눌러 진행합니다. 칩 종류(Apple 실리콘 / Intel)에 맞는 파일을 고르세요.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Anaconda Documentation (anaconda.com/docs) — Installing on Windows / macOS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파이썬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다운로드 — anaconda.com/download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694944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9525">
            <a:solidFill>
              <a:srgbClr val="8A9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572768"/>
            <a:ext cx="6912864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691640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69164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69164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Shape 8"/>
          <p:cNvSpPr/>
          <p:nvPr/>
        </p:nvSpPr>
        <p:spPr>
          <a:xfrm>
            <a:off x="1463040" y="1627632"/>
            <a:ext cx="59893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00200" y="162763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https://www.anaconda.com/download</a:t>
            </a:r>
            <a:endParaRPr lang="en-US" sz="11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9456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600200" y="21945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Download Anaconda Distribution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914400" y="2971800"/>
            <a:ext cx="2042160" cy="210312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25400">
            <a:solidFill>
              <a:srgbClr val="44A8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160" y="315468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14400" y="379476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Windows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005840" y="4160520"/>
            <a:ext cx="185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64-Bit Graphical Installer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143000" y="4572000"/>
            <a:ext cx="1584960" cy="347472"/>
          </a:xfrm>
          <a:prstGeom prst="roundRect">
            <a:avLst>
              <a:gd name="adj" fmla="val 50000"/>
            </a:avLst>
          </a:prstGeom>
          <a:solidFill>
            <a:srgbClr val="44A833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1143000" y="4572000"/>
            <a:ext cx="158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Download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139440" y="2971800"/>
            <a:ext cx="2042160" cy="210312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15468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139440" y="379476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Mac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3230880" y="4160520"/>
            <a:ext cx="185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Apple Silicon / Intel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368040" y="4572000"/>
            <a:ext cx="1584960" cy="347472"/>
          </a:xfrm>
          <a:prstGeom prst="roundRect">
            <a:avLst>
              <a:gd name="adj" fmla="val 50000"/>
            </a:avLst>
          </a:prstGeom>
          <a:solidFill>
            <a:srgbClr val="44A833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3368040" y="4572000"/>
            <a:ext cx="158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Download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364480" y="2971800"/>
            <a:ext cx="2042160" cy="210312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1240" y="3154680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364480" y="379476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Linux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5455920" y="4160520"/>
            <a:ext cx="185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64-Bit Installer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593080" y="4572000"/>
            <a:ext cx="1584960" cy="347472"/>
          </a:xfrm>
          <a:prstGeom prst="roundRect">
            <a:avLst>
              <a:gd name="adj" fmla="val 50000"/>
            </a:avLst>
          </a:prstGeom>
          <a:solidFill>
            <a:srgbClr val="44A833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5593080" y="4572000"/>
            <a:ext cx="158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Download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685800" y="5623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(화면 구성을 단순화한 그림)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7955280" y="1554480"/>
            <a:ext cx="3550615" cy="896112"/>
          </a:xfrm>
          <a:prstGeom prst="roundRect">
            <a:avLst>
              <a:gd name="adj" fmla="val 1224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8138160" y="171907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813816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8595360" y="1682496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주소 입력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8595360" y="2029968"/>
            <a:ext cx="27276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anaconda.com/download</a:t>
            </a:r>
            <a:endParaRPr lang="en-US" sz="1400" dirty="0"/>
          </a:p>
        </p:txBody>
      </p:sp>
      <p:sp>
        <p:nvSpPr>
          <p:cNvPr id="38" name="Shape 32"/>
          <p:cNvSpPr/>
          <p:nvPr/>
        </p:nvSpPr>
        <p:spPr>
          <a:xfrm>
            <a:off x="7955280" y="2578608"/>
            <a:ext cx="3550615" cy="896112"/>
          </a:xfrm>
          <a:prstGeom prst="roundRect">
            <a:avLst>
              <a:gd name="adj" fmla="val 1224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8138160" y="274320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8138160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8595360" y="2706624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이메일 입력은 선택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8595360" y="3054096"/>
            <a:ext cx="27276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Skip registration 가능</a:t>
            </a:r>
            <a:endParaRPr lang="en-US" sz="1400" dirty="0"/>
          </a:p>
        </p:txBody>
      </p:sp>
      <p:sp>
        <p:nvSpPr>
          <p:cNvPr id="43" name="Shape 37"/>
          <p:cNvSpPr/>
          <p:nvPr/>
        </p:nvSpPr>
        <p:spPr>
          <a:xfrm>
            <a:off x="7955280" y="3602736"/>
            <a:ext cx="3550615" cy="896112"/>
          </a:xfrm>
          <a:prstGeom prst="roundRect">
            <a:avLst>
              <a:gd name="adj" fmla="val 1224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8138160" y="3767328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8138160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46" name="Text 40"/>
          <p:cNvSpPr txBox="1"/>
          <p:nvPr/>
        </p:nvSpPr>
        <p:spPr>
          <a:xfrm>
            <a:off x="8595360" y="3730752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운영체제 고르기</a:t>
            </a:r>
            <a:endParaRPr lang="en-US" sz="1600" dirty="0"/>
          </a:p>
        </p:txBody>
      </p:sp>
      <p:sp>
        <p:nvSpPr>
          <p:cNvPr id="47" name="Text 41"/>
          <p:cNvSpPr txBox="1"/>
          <p:nvPr/>
        </p:nvSpPr>
        <p:spPr>
          <a:xfrm>
            <a:off x="8595360" y="4078224"/>
            <a:ext cx="27276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Windows : 64-Bit 설치 파일</a:t>
            </a:r>
            <a:endParaRPr lang="en-US" sz="1400" dirty="0"/>
          </a:p>
        </p:txBody>
      </p:sp>
      <p:sp>
        <p:nvSpPr>
          <p:cNvPr id="48" name="Shape 42"/>
          <p:cNvSpPr/>
          <p:nvPr/>
        </p:nvSpPr>
        <p:spPr>
          <a:xfrm>
            <a:off x="7955280" y="4626864"/>
            <a:ext cx="3550615" cy="896112"/>
          </a:xfrm>
          <a:prstGeom prst="roundRect">
            <a:avLst>
              <a:gd name="adj" fmla="val 1224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8138160" y="4791456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0" name="Text 44"/>
          <p:cNvSpPr txBox="1"/>
          <p:nvPr/>
        </p:nvSpPr>
        <p:spPr>
          <a:xfrm>
            <a:off x="8138160" y="4791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300" dirty="0"/>
          </a:p>
        </p:txBody>
      </p:sp>
      <p:sp>
        <p:nvSpPr>
          <p:cNvPr id="51" name="Text 45"/>
          <p:cNvSpPr txBox="1"/>
          <p:nvPr/>
        </p:nvSpPr>
        <p:spPr>
          <a:xfrm>
            <a:off x="8595360" y="475488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파일 확인</a:t>
            </a:r>
            <a:endParaRPr lang="en-US" sz="1600" dirty="0"/>
          </a:p>
        </p:txBody>
      </p:sp>
      <p:sp>
        <p:nvSpPr>
          <p:cNvPr id="52" name="Text 46"/>
          <p:cNvSpPr txBox="1"/>
          <p:nvPr/>
        </p:nvSpPr>
        <p:spPr>
          <a:xfrm>
            <a:off x="8595360" y="5102352"/>
            <a:ext cx="27276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Anaconda3-….exe 저장됨</a:t>
            </a:r>
            <a:endParaRPr lang="en-US" sz="1400" dirty="0"/>
          </a:p>
        </p:txBody>
      </p:sp>
      <p:sp>
        <p:nvSpPr>
          <p:cNvPr id="53" name="Text 4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Anaconda Documentation (anaconda.com/docs) — Installing Anaconda Distribution</a:t>
            </a:r>
            <a:endParaRPr lang="en-US" sz="1000" dirty="0"/>
          </a:p>
        </p:txBody>
      </p:sp>
      <p:sp>
        <p:nvSpPr>
          <p:cNvPr id="54" name="Text 4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파이썬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~ ④ 설치 프로그램에서 고를 것 (Windows)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6583680" cy="4023360"/>
          </a:xfrm>
          <a:prstGeom prst="rect">
            <a:avLst/>
          </a:prstGeom>
          <a:solidFill>
            <a:srgbClr val="F1F5F9"/>
          </a:solidFill>
          <a:ln w="9525">
            <a:solidFill>
              <a:srgbClr val="8A9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6583680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Anaconda3 Setup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0574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Select Installation Type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263347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679192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17320" y="25603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Just Me (recommended)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04495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29718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All Users (requires admin privileges)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20840" y="260604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Destination Folder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97280" y="3886200"/>
            <a:ext cx="5120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88720" y="38862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C:\Users\student\anaconda3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20840" y="3913632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20840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97280" y="4553712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17320" y="44805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Add Anaconda3 to my PATH environment variable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97280" y="4965192"/>
            <a:ext cx="20116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417320" y="48920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Register Anaconda3 as my default Python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20840" y="452628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20840" y="4526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0" y="1554480"/>
            <a:ext cx="3916375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0" y="171907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682496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Just Me 선택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2029968"/>
            <a:ext cx="3093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 계정에만 설치 (공식 권장)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589520" y="2788920"/>
            <a:ext cx="3916375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0" y="295351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772400" y="2953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2916936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설치 경로 확인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3264408"/>
            <a:ext cx="3093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경로에 한글 · 띄어쓰기가 없어야 안전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589520" y="4023360"/>
            <a:ext cx="3916375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0" y="418795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772400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4151376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PATH 추가는 체크 안 함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498848"/>
            <a:ext cx="3093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다른 프로그램과 충돌할 수 있어 공식적으로 권장하지 않음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589520" y="5166360"/>
            <a:ext cx="3916375" cy="411480"/>
          </a:xfrm>
          <a:prstGeom prst="roundRect">
            <a:avLst>
              <a:gd name="adj" fmla="val 26667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818120" y="5166360"/>
            <a:ext cx="3459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나머지는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기본값 그대로 Next / Install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85800" y="56692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(설치 화면을 단순화한 그림 — 버전에 따라 문구가 조금 다를 수 있음)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Anaconda Documentation (anaconda.com/docs) — Installing on Windows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파이썬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⑤ 설치 확인 — Anaconda Prompt 에서 버전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시작 메뉴 → 'Anaconda Prompt' 검색 → 실행  (Mac : 터미널 앱)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6217920" cy="1463040"/>
          </a:xfrm>
          <a:prstGeom prst="roundRect">
            <a:avLst>
              <a:gd name="adj" fmla="val 6250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939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939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939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20208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 Prompt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331720"/>
            <a:ext cx="621792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9631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9631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88036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88036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--version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64808" y="2551176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64808" y="2551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64808" y="2935224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64808" y="2935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3429000"/>
            <a:ext cx="621792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68680" y="3520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3813048"/>
            <a:ext cx="5852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3.13.9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25.x.x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5262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(버전 숫자는 설치 시점에 따라 다를 수 있음)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23760" y="1965960"/>
            <a:ext cx="4282135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40" y="213055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06640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2093976"/>
            <a:ext cx="3459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python --version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2441448"/>
            <a:ext cx="3459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설치된 파이썬 버전 보기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223760" y="3017520"/>
            <a:ext cx="4282135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06640" y="318211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06640" y="3182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863840" y="3145536"/>
            <a:ext cx="3459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conda --version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863840" y="3493008"/>
            <a:ext cx="3459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conda 패키지 관리자 버전 보기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223760" y="4023360"/>
            <a:ext cx="4282135" cy="1554480"/>
          </a:xfrm>
          <a:prstGeom prst="roundRect">
            <a:avLst>
              <a:gd name="adj" fmla="val 7059"/>
            </a:avLst>
          </a:prstGeom>
          <a:solidFill>
            <a:srgbClr val="10193A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52360" y="4023360"/>
            <a:ext cx="38249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'python'은(는) 내부 또는 외부 명령이 아닙니다…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일반 '명령 프롬프트(cmd)'에서 입력했을 때 흔히 나와요. 꼭 'Anaconda Prompt'에서 입력하세요.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성공!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버전 숫자가 보이면 설치 완료입니다.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Anaconda Documentation (anaconda.com/docs) — Verifying your installation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파이썬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Anaconda Navigator — 클릭으로 프로그램 실행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6949440" cy="4023360"/>
          </a:xfrm>
          <a:prstGeom prst="rect">
            <a:avLst/>
          </a:prstGeom>
          <a:solidFill>
            <a:srgbClr val="F8FAFC"/>
          </a:solidFill>
          <a:ln w="9525">
            <a:solidFill>
              <a:srgbClr val="8A9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1463040" cy="402336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691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Navigator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Home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697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Environments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Learning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377440" y="1783080"/>
            <a:ext cx="24003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F3762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270" y="19202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377440" y="2514600"/>
            <a:ext cx="2400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Jupyter Notebook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074670" y="292608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3074670" y="29260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Launch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06340" y="1783080"/>
            <a:ext cx="24003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170" y="192024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006340" y="2514600"/>
            <a:ext cx="2400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JupyterLab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703570" y="292608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5703570" y="29260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Launch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2377440" y="3611880"/>
            <a:ext cx="24003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3270" y="374904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2377440" y="4343400"/>
            <a:ext cx="2400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Spyder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3074670" y="475488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3074670" y="47548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Launch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006340" y="3611880"/>
            <a:ext cx="24003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2170" y="3749040"/>
            <a:ext cx="548640" cy="5486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006340" y="4343400"/>
            <a:ext cx="2400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VS Code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5703570" y="475488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5703570" y="47548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Launch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4366260" y="288036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436626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685800" y="56235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(화면 구성을 단순화한 그림 — 설치된 앱에 따라 다름)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7955280" y="1554480"/>
            <a:ext cx="3550615" cy="182880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8183880" y="1554480"/>
            <a:ext cx="3093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Navigator 란?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명령어 없이 마우스 클릭만으로 Jupyter · Spyder 등을 실행하고 패키지를 관리하는 '메뉴판' 프로그램</a:t>
            </a:r>
            <a:endParaRPr lang="en-US" sz="1500" dirty="0"/>
          </a:p>
        </p:txBody>
      </p:sp>
      <p:sp>
        <p:nvSpPr>
          <p:cNvPr id="37" name="Shape 30"/>
          <p:cNvSpPr/>
          <p:nvPr/>
        </p:nvSpPr>
        <p:spPr>
          <a:xfrm>
            <a:off x="7955280" y="3566160"/>
            <a:ext cx="3550615" cy="1005840"/>
          </a:xfrm>
          <a:prstGeom prst="roundRect">
            <a:avLst>
              <a:gd name="adj" fmla="val 1090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138160" y="373075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8138160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8595360" y="3694176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Jupyter → Launch</a:t>
            </a:r>
            <a:endParaRPr lang="en-US" sz="1600" dirty="0"/>
          </a:p>
        </p:txBody>
      </p:sp>
      <p:sp>
        <p:nvSpPr>
          <p:cNvPr id="41" name="Text 34"/>
          <p:cNvSpPr txBox="1"/>
          <p:nvPr/>
        </p:nvSpPr>
        <p:spPr>
          <a:xfrm>
            <a:off x="8595360" y="4041648"/>
            <a:ext cx="2727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브라우저에 노트북 화면이 열림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7955280" y="4754880"/>
            <a:ext cx="3550615" cy="822960"/>
          </a:xfrm>
          <a:prstGeom prst="roundRect">
            <a:avLst>
              <a:gd name="adj" fmla="val 13333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183880" y="4754880"/>
            <a:ext cx="3093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단축 경로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시작 메뉴에서 'Jupyter Notebook'을 바로 실행해도 됩니다.</a:t>
            </a:r>
            <a:endParaRPr lang="en-US" sz="1400" dirty="0"/>
          </a:p>
        </p:txBody>
      </p:sp>
      <p:sp>
        <p:nvSpPr>
          <p:cNvPr id="44" name="Text 3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Anaconda Documentation (anaconda.com/docs) — Anaconda Navigator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파이썬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Jupyter Notebook 첫 실행 — 새 노트북 만들기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2464994" cy="1417320"/>
          </a:xfrm>
          <a:prstGeom prst="roundRect">
            <a:avLst>
              <a:gd name="adj" fmla="val 774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9164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6420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브라우저 열림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14884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주소 : localhost:8888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(내 컴퓨터 안의 주소)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96514" y="209854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1" name="Shape 9"/>
          <p:cNvSpPr/>
          <p:nvPr/>
        </p:nvSpPr>
        <p:spPr>
          <a:xfrm>
            <a:off x="3470834" y="1508760"/>
            <a:ext cx="2464994" cy="1417320"/>
          </a:xfrm>
          <a:prstGeom prst="roundRect">
            <a:avLst>
              <a:gd name="adj" fmla="val 774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3714" y="169164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3714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10914" y="166420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폴더 이동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653714" y="214884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실습 파일을 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폴더를 클릭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81548" y="209854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6255868" y="1508760"/>
            <a:ext cx="2464994" cy="1417320"/>
          </a:xfrm>
          <a:prstGeom prst="roundRect">
            <a:avLst>
              <a:gd name="adj" fmla="val 774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38748" y="169164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38748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95948" y="166420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새 노트북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38748" y="214884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New → Notebook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→ Python 3 선택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766581" y="209854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9040901" y="1508760"/>
            <a:ext cx="2464994" cy="1417320"/>
          </a:xfrm>
          <a:prstGeom prst="roundRect">
            <a:avLst>
              <a:gd name="adj" fmla="val 774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23781" y="169164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23781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680981" y="166420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코드 실행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223781" y="214884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코드 입력 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Shift + Enter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3154680"/>
            <a:ext cx="6583680" cy="1463040"/>
          </a:xfrm>
          <a:prstGeom prst="roundRect">
            <a:avLst>
              <a:gd name="adj" fmla="val 6250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328269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0" name="Shape 28"/>
          <p:cNvSpPr/>
          <p:nvPr/>
        </p:nvSpPr>
        <p:spPr>
          <a:xfrm>
            <a:off x="1069848" y="328269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1" name="Shape 29"/>
          <p:cNvSpPr/>
          <p:nvPr/>
        </p:nvSpPr>
        <p:spPr>
          <a:xfrm>
            <a:off x="1271016" y="328269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554480" y="32095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Untitled.ipynb — Jupyter Notebook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" y="3520440"/>
            <a:ext cx="658368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95528" y="368503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280160" y="3685032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6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Python!"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95528" y="406908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280160" y="4069080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+ 2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85800" y="4526280"/>
            <a:ext cx="658368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868680" y="4617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68680" y="4910328"/>
            <a:ext cx="6217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Python!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7589520" y="3154680"/>
            <a:ext cx="3916375" cy="2423160"/>
          </a:xfrm>
          <a:prstGeom prst="roundRect">
            <a:avLst>
              <a:gd name="adj" fmla="val 452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818120" y="3154680"/>
            <a:ext cx="3459175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localhost 란?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인터넷 사이트가 아니라 '내 컴퓨터'를 뜻하는 주소입니다. Jupyter는 내 컴퓨터에서 돌아가고, 화면만 브라우저로 보여 줍니다.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472B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검은 창(서버)을 닫으면 Jupyter도 꺼져요!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저장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 파일은 .ipynb 확장자로 저장됩니다. Colab에서도 그대로 열 수 있어요.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Project Jupyter Documentation (docs.jupyter.org)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파이썬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설치할 때 자주 만나는 문제와 해결법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54480"/>
          <a:ext cx="1082009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291840"/>
                <a:gridCol w="3687775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증상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원인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해결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72B6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설치 중 오류 · 실행이 안 됨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설치 경로에 한글 · 띄어쓰기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C:\anaconda3 처럼 영어 경로로 재설치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72B6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'python'은(는) 내부 또는 외부 명령이 아닙니다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일반 cmd 에서 실행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Anaconda Prompt 에서 실행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72B6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설치가 너무 오래 걸림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파일이 크고 패키지가 많음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멈춘 것이 아니니 기다리기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72B6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백신 · 보안 경고 창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새 프로그램 설치 확인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공식 사이트에서 받은 파일이면 허용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72B6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Jupyter 창이 바로 꺼짐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검은 서버 창을 닫음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서버 창은 켜 둔 채 사용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그래도 안 되면?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괜찮습니다! 우리 수업은 Colab으로 진행하니, 설치 문제는 수업 후 함께 해결해요.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Anaconda Documentation (anaconda.com/docs) — Troubleshooting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파이썬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참고 · python.org 에서 파이썬만 설치할 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6400800" cy="3108960"/>
          </a:xfrm>
          <a:prstGeom prst="rect">
            <a:avLst/>
          </a:prstGeom>
          <a:solidFill>
            <a:srgbClr val="F1F5F9"/>
          </a:solidFill>
          <a:ln w="9525">
            <a:solidFill>
              <a:srgbClr val="8A9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6400800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3.14 Setup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0574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Install Python 3.14 (64-bit)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60120" y="2606040"/>
            <a:ext cx="29260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→ Install Now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→ Customize installation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3977640"/>
            <a:ext cx="219456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71600" y="39136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Add python.exe to PATH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767328"/>
            <a:ext cx="3474720" cy="64008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F472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(설치 화면을 단순화한 그림)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0" y="1554480"/>
            <a:ext cx="4099255" cy="1005840"/>
          </a:xfrm>
          <a:prstGeom prst="roundRect">
            <a:avLst>
              <a:gd name="adj" fmla="val 1090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171907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8952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1682496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python.org/downloads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2029968"/>
            <a:ext cx="3276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최신 버전 다운로드 (현재 3.14)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06640" y="2697480"/>
            <a:ext cx="4099255" cy="1005840"/>
          </a:xfrm>
          <a:prstGeom prst="roundRect">
            <a:avLst>
              <a:gd name="adj" fmla="val 1090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286207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589520" y="2862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2825496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PATH 체크 꼭!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3172968"/>
            <a:ext cx="3276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맨 아래 Add python.exe to PATH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06640" y="3840480"/>
            <a:ext cx="4099255" cy="1005840"/>
          </a:xfrm>
          <a:prstGeom prst="roundRect">
            <a:avLst>
              <a:gd name="adj" fmla="val 1090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9520" y="400507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589520" y="4005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3968496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Install Now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4315968"/>
            <a:ext cx="3276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기본 설정으로 설치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헷갈리지 마세요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 는 PATH 체크 안 함(권장),  python.org 설치는 PATH 체크(권장) — 설치 방법마다 다릅니다.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Documentation — Using Python on Windows (docs.python.org)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파이썬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2.1 핵심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39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3가지 방법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python.org(빈 주방) · Anaconda(풀옵션 주방) · Colab(빌려 쓰는 주방)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Anaconda 설치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24688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anaconda.com/download → Just Me → 영어 경로 → PATH 체크 안 함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3832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027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설치 확인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343400" y="33832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 Prompt 에서 python --version / conda --version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85800" y="42976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171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97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Jupyter 실행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343400" y="42976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Navigator 또는 시작 메뉴 → 브라우저에서 New → Notebook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다음으로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설치한 파이썬에 도구를 더 추가하려면? → 2.2 파이썬 패키지 설치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2.2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 패키지 설치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필요한 도구를 내 파이썬에 추가하기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패키지와 패키지 관리자 (pip · conda)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꼭 알아야 할 명령어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자주 만나는 오류와 해결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파이썬 패키지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복습 · 패키지 = 남이 만든 기능 묶음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3423818" cy="3200400"/>
          </a:xfrm>
          <a:prstGeom prst="roundRect">
            <a:avLst>
              <a:gd name="adj" fmla="val 3429"/>
            </a:avLst>
          </a:prstGeom>
          <a:solidFill>
            <a:srgbClr val="0D1B3D"/>
          </a:solidFill>
          <a:ln w="15875">
            <a:solidFill>
              <a:srgbClr val="818C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26060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기본 탑재 (표준)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06324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파이썬만 설치해도 들어 있음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60120" y="3886200"/>
            <a:ext cx="2875178" cy="548640"/>
          </a:xfrm>
          <a:prstGeom prst="roundRect">
            <a:avLst>
              <a:gd name="adj" fmla="val 16667"/>
            </a:avLst>
          </a:prstGeom>
          <a:solidFill>
            <a:srgbClr val="070D2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51560" y="3886200"/>
            <a:ext cx="2692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· random · datetime · 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83938" y="1554480"/>
            <a:ext cx="3423818" cy="3200400"/>
          </a:xfrm>
          <a:prstGeom prst="roundRect">
            <a:avLst>
              <a:gd name="adj" fmla="val 3429"/>
            </a:avLst>
          </a:prstGeom>
          <a:solidFill>
            <a:srgbClr val="0D1B3D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258" y="178308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8258" y="26060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Anaconda가 추가 설치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658258" y="306324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Anaconda를 설치하면 함께 들어옴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658258" y="3886200"/>
            <a:ext cx="2875178" cy="548640"/>
          </a:xfrm>
          <a:prstGeom prst="roundRect">
            <a:avLst>
              <a:gd name="adj" fmla="val 16667"/>
            </a:avLst>
          </a:prstGeom>
          <a:solidFill>
            <a:srgbClr val="070D20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749698" y="3886200"/>
            <a:ext cx="2692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· numpy · matplotlib …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082077" y="1554480"/>
            <a:ext cx="3423818" cy="3200400"/>
          </a:xfrm>
          <a:prstGeom prst="roundRect">
            <a:avLst>
              <a:gd name="adj" fmla="val 3429"/>
            </a:avLst>
          </a:prstGeom>
          <a:solidFill>
            <a:srgbClr val="0D1B3D"/>
          </a:solidFill>
          <a:ln w="15875">
            <a:solidFill>
              <a:srgbClr val="FACC15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397" y="178308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56397" y="26060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직접 추가 설치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356397" y="306324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그 외 필요한 것은 사용자가 설치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8356397" y="3886200"/>
            <a:ext cx="2875178" cy="548640"/>
          </a:xfrm>
          <a:prstGeom prst="roundRect">
            <a:avLst>
              <a:gd name="adj" fmla="val 16667"/>
            </a:avLst>
          </a:prstGeom>
          <a:solidFill>
            <a:srgbClr val="070D20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447837" y="3886200"/>
            <a:ext cx="2692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wordcloud · folium · …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85800" y="4937760"/>
            <a:ext cx="10820095" cy="640080"/>
          </a:xfrm>
          <a:prstGeom prst="roundRect">
            <a:avLst>
              <a:gd name="adj" fmla="val 17143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60120" y="493776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패키지(package) ≈ 라이브러리(library)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— 이 수업에서는 같은 뜻으로 써도 괜찮습니다 (01장 1.3 참고)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오늘의 질문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③ 처럼 내 파이썬에 없는 패키지는 어떻게 설치할까?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2-2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파이썬 패키지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패키지 관리자 = 파이썬의 '앱스토어 앱'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227168" cy="3977640"/>
          </a:xfrm>
          <a:prstGeom prst="roundRect">
            <a:avLst>
              <a:gd name="adj" fmla="val 2759"/>
            </a:avLst>
          </a:prstGeom>
          <a:solidFill>
            <a:srgbClr val="0D1B3D"/>
          </a:solidFill>
          <a:ln w="15875">
            <a:solidFill>
              <a:srgbClr val="FACC1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755648"/>
            <a:ext cx="385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ACC15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pip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194560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 기본 패키지 관리자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89864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78892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파이썬을 설치하면 함께 설치됨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0156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329184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PyPI(파이썬 패키지 저장소)에서 내려받음</a:t>
            </a:r>
            <a:endParaRPr lang="en-US" sz="15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04488"/>
            <a:ext cx="201168" cy="2011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71600" y="379476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가장 많은 패키지를 찾을 수 있음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960120" y="4480560"/>
            <a:ext cx="4678528" cy="685800"/>
          </a:xfrm>
          <a:prstGeom prst="roundRect">
            <a:avLst>
              <a:gd name="adj" fmla="val 13333"/>
            </a:avLst>
          </a:prstGeom>
          <a:solidFill>
            <a:srgbClr val="070D20"/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1143000" y="4480560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6278728" y="1554480"/>
            <a:ext cx="5227168" cy="3977640"/>
          </a:xfrm>
          <a:prstGeom prst="roundRect">
            <a:avLst>
              <a:gd name="adj" fmla="val 2759"/>
            </a:avLst>
          </a:prstGeom>
          <a:solidFill>
            <a:srgbClr val="0D1B3D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048" y="1783080"/>
            <a:ext cx="685800" cy="6858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421728" y="1755648"/>
            <a:ext cx="385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34D399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conda</a:t>
            </a:r>
            <a:endParaRPr lang="en-US" sz="2600" dirty="0"/>
          </a:p>
        </p:txBody>
      </p:sp>
      <p:sp>
        <p:nvSpPr>
          <p:cNvPr id="20" name="Text 13"/>
          <p:cNvSpPr txBox="1"/>
          <p:nvPr/>
        </p:nvSpPr>
        <p:spPr>
          <a:xfrm>
            <a:off x="7421728" y="2194560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 전용 패키지 관리자</a:t>
            </a:r>
            <a:endParaRPr lang="en-US" sz="15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768" y="2898648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964528" y="278892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 를 설치하면 함께 설치됨</a:t>
            </a:r>
            <a:endParaRPr lang="en-US" sz="15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8768" y="3401568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964528" y="329184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 저장소 · conda-forge 에서 내려받음</a:t>
            </a:r>
            <a:endParaRPr lang="en-US" sz="15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8768" y="3904488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6964528" y="3794760"/>
            <a:ext cx="431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패키지끼리 버전이 맞도록 함께 관리</a:t>
            </a:r>
            <a:endParaRPr lang="en-US" sz="1500" dirty="0"/>
          </a:p>
        </p:txBody>
      </p:sp>
      <p:sp>
        <p:nvSpPr>
          <p:cNvPr id="27" name="Shape 17"/>
          <p:cNvSpPr/>
          <p:nvPr/>
        </p:nvSpPr>
        <p:spPr>
          <a:xfrm>
            <a:off x="6553048" y="4480560"/>
            <a:ext cx="4678528" cy="685800"/>
          </a:xfrm>
          <a:prstGeom prst="roundRect">
            <a:avLst>
              <a:gd name="adj" fmla="val 13333"/>
            </a:avLst>
          </a:prstGeom>
          <a:solidFill>
            <a:srgbClr val="070D20"/>
          </a:solidFill>
          <a:ln/>
        </p:spPr>
      </p:sp>
      <p:sp>
        <p:nvSpPr>
          <p:cNvPr id="28" name="Text 18"/>
          <p:cNvSpPr txBox="1"/>
          <p:nvPr/>
        </p:nvSpPr>
        <p:spPr>
          <a:xfrm>
            <a:off x="6735928" y="4480560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install pandas</a:t>
            </a:r>
            <a:endParaRPr lang="en-US" sz="1800" dirty="0"/>
          </a:p>
        </p:txBody>
      </p:sp>
      <p:sp>
        <p:nvSpPr>
          <p:cNvPr id="29" name="Shape 19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0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비유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PyPI = 앱스토어,  pip / conda = 앱스토어 앱,  install = '받기' 버튼</a:t>
            </a:r>
            <a:endParaRPr lang="en-US" sz="1600" dirty="0"/>
          </a:p>
        </p:txBody>
      </p:sp>
      <p:sp>
        <p:nvSpPr>
          <p:cNvPr id="31" name="Text 2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2-2, pip documentation (pip.pypa.io), conda User Guide (docs.conda.io)</a:t>
            </a:r>
            <a:endParaRPr lang="en-US" sz="1000" dirty="0"/>
          </a:p>
        </p:txBody>
      </p:sp>
      <p:sp>
        <p:nvSpPr>
          <p:cNvPr id="32" name="Text 2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파이썬 패키지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명령어는 어디에 입력할까?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3423818" cy="3383280"/>
          </a:xfrm>
          <a:prstGeom prst="roundRect">
            <a:avLst>
              <a:gd name="adj" fmla="val 3243"/>
            </a:avLst>
          </a:prstGeom>
          <a:solidFill>
            <a:srgbClr val="0D1B3D"/>
          </a:solidFill>
          <a:ln w="15875">
            <a:solidFill>
              <a:srgbClr val="818C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86229" y="1783080"/>
            <a:ext cx="822960" cy="822960"/>
          </a:xfrm>
          <a:prstGeom prst="ellipse">
            <a:avLst/>
          </a:prstGeom>
          <a:solidFill>
            <a:srgbClr val="818CF8">
              <a:alpha val="4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1969" y="19888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74320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Anaconda Prompt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(Mac : 터미널)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14400" y="3611880"/>
            <a:ext cx="2966618" cy="548640"/>
          </a:xfrm>
          <a:prstGeom prst="roundRect">
            <a:avLst>
              <a:gd name="adj" fmla="val 16667"/>
            </a:avLst>
          </a:prstGeom>
          <a:solidFill>
            <a:srgbClr val="070D2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60120" y="361188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2976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그대로 입력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83938" y="1554480"/>
            <a:ext cx="3423818" cy="3383280"/>
          </a:xfrm>
          <a:prstGeom prst="roundRect">
            <a:avLst>
              <a:gd name="adj" fmla="val 3243"/>
            </a:avLst>
          </a:prstGeom>
          <a:solidFill>
            <a:srgbClr val="0D1B3D"/>
          </a:solidFill>
          <a:ln w="15875">
            <a:solidFill>
              <a:srgbClr val="F37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84368" y="1783080"/>
            <a:ext cx="822960" cy="822960"/>
          </a:xfrm>
          <a:prstGeom prst="ellipse">
            <a:avLst/>
          </a:prstGeom>
          <a:solidFill>
            <a:srgbClr val="F37626">
              <a:alpha val="45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108" y="198882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66818" y="274320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Jupyter Notebook 셀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4612538" y="3611880"/>
            <a:ext cx="2966618" cy="548640"/>
          </a:xfrm>
          <a:prstGeom prst="roundRect">
            <a:avLst>
              <a:gd name="adj" fmla="val 16667"/>
            </a:avLst>
          </a:prstGeom>
          <a:solidFill>
            <a:srgbClr val="070D2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658258" y="361188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%pip install pandas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4566818" y="42976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3762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앞에 % 를 붙임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8082077" y="1554480"/>
            <a:ext cx="3423818" cy="3383280"/>
          </a:xfrm>
          <a:prstGeom prst="roundRect">
            <a:avLst>
              <a:gd name="adj" fmla="val 3243"/>
            </a:avLst>
          </a:prstGeom>
          <a:solidFill>
            <a:srgbClr val="0D1B3D"/>
          </a:solidFill>
          <a:ln w="15875">
            <a:solidFill>
              <a:srgbClr val="FACC1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382506" y="1783080"/>
            <a:ext cx="822960" cy="822960"/>
          </a:xfrm>
          <a:prstGeom prst="ellipse">
            <a:avLst/>
          </a:prstGeom>
          <a:solidFill>
            <a:srgbClr val="FACC15">
              <a:alpha val="45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246" y="198882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264957" y="274320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Google Colab 셀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8310677" y="3611880"/>
            <a:ext cx="2966618" cy="548640"/>
          </a:xfrm>
          <a:prstGeom prst="roundRect">
            <a:avLst>
              <a:gd name="adj" fmla="val 16667"/>
            </a:avLst>
          </a:prstGeom>
          <a:solidFill>
            <a:srgbClr val="070D20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356397" y="361188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pandas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8264957" y="42976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앞에 ! 를 붙임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685800" y="507492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60120" y="5074920"/>
            <a:ext cx="10271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! 와 % 의 뜻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'이건 파이썬 코드가 아니라 명령어(터미널) 줄이야' 라고 노트북에 알려 주는 표시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우리 수업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셀에서  !pip install 패키지이름  만 기억하세요!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pip documentation (pip.pypa.io), IPython %pip magic, Google Colab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파이썬 패키지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pip 필수 명령어 6가지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576072"/>
          </a:xfrm>
          <a:prstGeom prst="roundRect">
            <a:avLst>
              <a:gd name="adj" fmla="val 1904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09928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554480"/>
            <a:ext cx="4206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패키지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715000" y="1554480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설치하기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1554480"/>
            <a:ext cx="295625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예) pip install wordcloud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" y="2221992"/>
            <a:ext cx="10820095" cy="576072"/>
          </a:xfrm>
          <a:prstGeom prst="roundRect">
            <a:avLst>
              <a:gd name="adj" fmla="val 1904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774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2221992"/>
            <a:ext cx="4206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패키지==버전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2221992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특정 버전 설치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458200" y="2221992"/>
            <a:ext cx="295625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예) pip install pandas==2.2.3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85800" y="2889504"/>
            <a:ext cx="10820095" cy="576072"/>
          </a:xfrm>
          <a:prstGeom prst="roundRect">
            <a:avLst>
              <a:gd name="adj" fmla="val 1904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4495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2889504"/>
            <a:ext cx="4206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--upgrade 패키지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0" y="2889504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최신 버전으로 업데이트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458200" y="2889504"/>
            <a:ext cx="295625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예) pip install --upgrade pandas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85800" y="3557016"/>
            <a:ext cx="10820095" cy="576072"/>
          </a:xfrm>
          <a:prstGeom prst="roundRect">
            <a:avLst>
              <a:gd name="adj" fmla="val 1904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1246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3557016"/>
            <a:ext cx="4206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uninstall 패키지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715000" y="3557016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삭제하기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8458200" y="3557016"/>
            <a:ext cx="295625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예) pip uninstall wordcloud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85800" y="4224528"/>
            <a:ext cx="10820095" cy="576072"/>
          </a:xfrm>
          <a:prstGeom prst="roundRect">
            <a:avLst>
              <a:gd name="adj" fmla="val 1904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7997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4224528"/>
            <a:ext cx="4206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list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5715000" y="4224528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설치된 패키지 목록 보기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8458200" y="4224528"/>
            <a:ext cx="295625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예) pip list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685800" y="4892040"/>
            <a:ext cx="10820095" cy="576072"/>
          </a:xfrm>
          <a:prstGeom prst="roundRect">
            <a:avLst>
              <a:gd name="adj" fmla="val 1904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04748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417320" y="4892040"/>
            <a:ext cx="4206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show 패키지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5715000" y="4892040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패키지 정보(버전 등) 보기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8458200" y="4892040"/>
            <a:ext cx="295625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예) pip show pandas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685800" y="566928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914400" y="56692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Colab 에서는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모든 명령 앞에 ! 를 붙여요 →  !pip install wordcloud,  !pip list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pip documentation (pip.pypa.io) — User Guide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파이썬 패키지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실습 · 설치할 때 화면에 나오는 글 읽기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949440" cy="1078992"/>
          </a:xfrm>
          <a:prstGeom prst="roundRect">
            <a:avLst>
              <a:gd name="adj" fmla="val 847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94944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wordcloud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2651760"/>
            <a:ext cx="6949440" cy="2651760"/>
          </a:xfrm>
          <a:prstGeom prst="roundRect">
            <a:avLst>
              <a:gd name="adj" fmla="val 275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868680" y="2724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 (예시)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06324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Collecting wordcloud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410712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Downloading wordcloud-x.y.z-…whl (…kB)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758184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 already satisfied: numpy in …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105656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 already satisfied: pillow in …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453128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Installing collected packages: wordcloud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80060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Successfully installed wordcloud-x.y.z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78040" y="309067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78040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78040" y="3785616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78040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78040" y="4480560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78040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78040" y="482803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7804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5280" y="1508760"/>
            <a:ext cx="355061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167335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138160" y="1673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595360" y="1636776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Collecting / Downloading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595360" y="1984248"/>
            <a:ext cx="2727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PyPI 에서 찾아서 내려받는 중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955280" y="2487168"/>
            <a:ext cx="355061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265176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13816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595360" y="2615184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already satisfied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595360" y="2962656"/>
            <a:ext cx="2727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필요한 패키지는 이미 있음 (오류 X)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955280" y="3465576"/>
            <a:ext cx="355061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0" y="3630168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13816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8595360" y="3593592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Installing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595360" y="3941064"/>
            <a:ext cx="2727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 환경에 설치하는 중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955280" y="4443984"/>
            <a:ext cx="355061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38160" y="4608576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138160" y="4608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595360" y="457200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Successfully installed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8595360" y="4919472"/>
            <a:ext cx="2727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 성공! 이 줄만 확인하면 OK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포인트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글자가 많이 나와도 당황하지 마세요. 마지막 줄의 Successfully 만 확인하면 됩니다.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pip documentation (pip.pypa.io) — pip install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파이썬 패키지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conda 필수 명령어 (Anaconda 사용자)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7680960" cy="603504"/>
          </a:xfrm>
          <a:prstGeom prst="roundRect">
            <a:avLst>
              <a:gd name="adj" fmla="val 1818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190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55448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install 패키지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155448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설치하기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2267712"/>
            <a:ext cx="7680960" cy="603504"/>
          </a:xfrm>
          <a:prstGeom prst="roundRect">
            <a:avLst>
              <a:gd name="adj" fmla="val 18182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3230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26771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install -c conda-forge 패키지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080760" y="226771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conda-forge 에서 설치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85800" y="2980944"/>
            <a:ext cx="7680960" cy="603504"/>
          </a:xfrm>
          <a:prstGeom prst="roundRect">
            <a:avLst>
              <a:gd name="adj" fmla="val 1818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45536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298094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update 패키지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080760" y="298094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업데이트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85800" y="3694176"/>
            <a:ext cx="7680960" cy="603504"/>
          </a:xfrm>
          <a:prstGeom prst="roundRect">
            <a:avLst>
              <a:gd name="adj" fmla="val 18182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5876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17320" y="369417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remove 패키지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080760" y="3694176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삭제하기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85800" y="4407408"/>
            <a:ext cx="7680960" cy="603504"/>
          </a:xfrm>
          <a:prstGeom prst="roundRect">
            <a:avLst>
              <a:gd name="adj" fmla="val 1818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57200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17320" y="440740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list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6080760" y="440740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설치된 패키지 목록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8686800" y="1554480"/>
            <a:ext cx="2819095" cy="3456432"/>
          </a:xfrm>
          <a:prstGeom prst="roundRect">
            <a:avLst>
              <a:gd name="adj" fmla="val 389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915400" y="1554480"/>
            <a:ext cx="2361895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conda 가 물어보면?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 전에 바뀔 패키지 목록을 보여 주고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Proceed ([y]/n)?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라고 묻습니다. y 를 입력하고 Enter!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685800" y="525780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914400" y="52578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pip 과 비슷하죠?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install · list 는 같고, 삭제는 pip uninstall / conda remove 로 단어만 달라요.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conda User Guide (docs.conda.io) — Managing packages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파이썬 패키지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설치가 잘 되었는지 파이썬으로 확인하기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217920" cy="2157984"/>
          </a:xfrm>
          <a:prstGeom prst="roundRect">
            <a:avLst>
              <a:gd name="adj" fmla="val 4237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21792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40487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4048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numpy </a:t>
            </a:r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7706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7706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(pd.__version__)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31363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136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(np.__version__)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64808" y="208483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64808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64808" y="281635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64808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3849624"/>
            <a:ext cx="621792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68680" y="39410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4233672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2.2.2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2.0.2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80974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(버전 숫자는 예시 — 환경마다 다름)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23760" y="1508760"/>
            <a:ext cx="4282135" cy="960120"/>
          </a:xfrm>
          <a:prstGeom prst="roundRect">
            <a:avLst>
              <a:gd name="adj" fmla="val 1142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06640" y="167335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06640" y="1673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1636776"/>
            <a:ext cx="3459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import 가 에러 없이 되면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863840" y="1984248"/>
            <a:ext cx="3459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 성공! 아무 메시지도 안 나오는 게 정상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223760" y="2606040"/>
            <a:ext cx="4282135" cy="960120"/>
          </a:xfrm>
          <a:prstGeom prst="roundRect">
            <a:avLst>
              <a:gd name="adj" fmla="val 1142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0" y="277063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406640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863840" y="2734056"/>
            <a:ext cx="3459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__version__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863840" y="3081528"/>
            <a:ext cx="3459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밑줄 2개씩 — 패키지 버전 확인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223760" y="3703320"/>
            <a:ext cx="4282135" cy="1828800"/>
          </a:xfrm>
          <a:prstGeom prst="roundRect">
            <a:avLst>
              <a:gd name="adj" fmla="val 6000"/>
            </a:avLst>
          </a:prstGeom>
          <a:solidFill>
            <a:srgbClr val="10193A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52360" y="3703320"/>
            <a:ext cx="38249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설치가 안 되어 있으면?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ModuleNotFoundError: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module named 'wordcloud'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→ 다음 장에서 해결법 확인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참고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pip show pandas 로도 버전을 볼 수 있어요 (Colab 에서는 !pip show pandas).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pandas · NumPy 공식 문서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파이썬 패키지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자주 만나는 오류 ① — ModuleNotFoundError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10820095" cy="1060704"/>
          </a:xfrm>
          <a:prstGeom prst="roundRect">
            <a:avLst>
              <a:gd name="adj" fmla="val 8621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108200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10042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wordcloud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2560320"/>
            <a:ext cx="10820095" cy="868680"/>
          </a:xfrm>
          <a:prstGeom prst="roundRect">
            <a:avLst>
              <a:gd name="adj" fmla="val 8421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256032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ModuleNotFoundError: No module named 'wordcloud'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85800" y="3657600"/>
            <a:ext cx="3423818" cy="1783080"/>
          </a:xfrm>
          <a:prstGeom prst="roundRect">
            <a:avLst>
              <a:gd name="adj" fmla="val 6154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37947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읽는 법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251960"/>
            <a:ext cx="28751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'wordcloud 라는 모듈(패키지)을 찾을 수 없다'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83938" y="3657600"/>
            <a:ext cx="3423818" cy="1783080"/>
          </a:xfrm>
          <a:prstGeom prst="roundRect">
            <a:avLst>
              <a:gd name="adj" fmla="val 6154"/>
            </a:avLst>
          </a:prstGeom>
          <a:solidFill>
            <a:srgbClr val="0D1B3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58258" y="37947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원인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658258" y="4251960"/>
            <a:ext cx="28751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 환경에 그 패키지가 설치되어 있지 않음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82077" y="3657600"/>
            <a:ext cx="3423818" cy="1783080"/>
          </a:xfrm>
          <a:prstGeom prst="roundRect">
            <a:avLst>
              <a:gd name="adj" fmla="val 6154"/>
            </a:avLst>
          </a:prstGeom>
          <a:solidFill>
            <a:srgbClr val="0D1B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56397" y="37947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해결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356397" y="4251960"/>
            <a:ext cx="28751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!pip install wordcloud 실행 후 다시 import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오류는 친구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빨간 글씨는 '무엇이 문제인지' 알려 주는 안내문입니다. 마지막 줄부터 읽어 보세요!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Documentation — Built-in Exceptions (ModuleNotFoundError)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파이썬 패키지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자주 만나는 오류 ② — 설치 이름 ≠ import 이름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대부분은 같지만, 몇몇 유명한 패키지는 설치할 때 이름과 불러올 때 이름이 다릅니다.</a:t>
            </a:r>
            <a:endParaRPr lang="en-US" sz="17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11680"/>
          <a:ext cx="1082009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  <a:gridCol w="2773375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설치할 때 (pip install …)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불러올 때 (import …)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쓰는 곳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scikit-learn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sklearn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12장 머신러닝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beautifulsoup4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bs4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11장 웹 크롤링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pillow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PIL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이미지 처리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opencv-python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cv2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영상 처리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pandas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pandas  (같음)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08장 데이터 처리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56235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예시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!pip install scikit-learn  으로 설치하고,  from sklearn.linear_model import LinearRegression  으로 불러와요.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PyPI (pypi.org) 각 패키지 페이지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파이썬 패키지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pip 과 conda, 무엇을 써야 할까?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0020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002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Google Colab 을 쓴다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989320" y="1874520"/>
            <a:ext cx="640080" cy="36576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9" name="Shape 6"/>
          <p:cNvSpPr/>
          <p:nvPr/>
        </p:nvSpPr>
        <p:spPr>
          <a:xfrm>
            <a:off x="6812280" y="1600200"/>
            <a:ext cx="4693615" cy="914400"/>
          </a:xfrm>
          <a:prstGeom prst="roundRect">
            <a:avLst>
              <a:gd name="adj" fmla="val 12000"/>
            </a:avLst>
          </a:prstGeom>
          <a:solidFill>
            <a:srgbClr val="10193A"/>
          </a:solidFill>
          <a:ln w="25400">
            <a:solidFill>
              <a:srgbClr val="FACC1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40880" y="1600200"/>
            <a:ext cx="4327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!pip install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85800" y="269748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260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26974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 를 설치해서 쓴다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5989320" y="2971800"/>
            <a:ext cx="640080" cy="36576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5" name="Shape 11"/>
          <p:cNvSpPr/>
          <p:nvPr/>
        </p:nvSpPr>
        <p:spPr>
          <a:xfrm>
            <a:off x="6812280" y="2697480"/>
            <a:ext cx="4693615" cy="914400"/>
          </a:xfrm>
          <a:prstGeom prst="roundRect">
            <a:avLst>
              <a:gd name="adj" fmla="val 12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040880" y="2697480"/>
            <a:ext cx="4327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conda install 먼저 → 없으면 pip install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85800" y="379476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2336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54480" y="37947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python.org 파이썬을 쓴다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5989320" y="4069080"/>
            <a:ext cx="640080" cy="36576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1" name="Shape 16"/>
          <p:cNvSpPr/>
          <p:nvPr/>
        </p:nvSpPr>
        <p:spPr>
          <a:xfrm>
            <a:off x="6812280" y="3794760"/>
            <a:ext cx="4693615" cy="914400"/>
          </a:xfrm>
          <a:prstGeom prst="roundRect">
            <a:avLst>
              <a:gd name="adj" fmla="val 12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040880" y="3794760"/>
            <a:ext cx="4327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pip install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685800" y="4937760"/>
            <a:ext cx="10820095" cy="685800"/>
          </a:xfrm>
          <a:prstGeom prst="roundRect">
            <a:avLst>
              <a:gd name="adj" fmla="val 16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60120" y="4937760"/>
            <a:ext cx="1027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주의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한 환경에서 같은 패키지를 pip 과 conda 로 번갈아 설치하면 버전이 꼬일 수 있어요. 하나를 정해서 쓰세요.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우리 수업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에는 pandas · numpy · matplotlib 등이 이미 설치되어 있어, 대부분 바로 import 하면 됩니다.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conda User Guide (docs.conda.io) — Using pip in an environment, wikidocs 「비즈니스 데이터 분석 with Python」(김진성) 2-2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파이썬 패키지 설치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2.2 핵심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39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패키지 관리자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pip = 파이썬 기본 (PyPI),  conda = Anaconda 전용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어디에 입력?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24688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Prompt/터미널 : pip install  ·  Jupyter : %pip  ·  Colab : !pip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3832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027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필수 명령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343400" y="33832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install · install --upgrade · uninstall(remove) · list · show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85800" y="42976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171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97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오류 해결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343400" y="42976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ModuleNotFoundError → 설치!  ·  설치 이름 ≠ import 이름 주의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다음으로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이제 우리 수업의 주 무대로! → 2.3 Google Colab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2.3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Google Colab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 없이 웹 브라우저에서 파이썬 쓰기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시작하기와 화면 구성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코드 · 텍스트 셀 실행과 단축키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 불러오기 · 저장 · 런타임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Colab = 구글 문서처럼 쓰는 Jupyter Notebook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4572000" cy="3977640"/>
          </a:xfrm>
          <a:prstGeom prst="roundRect">
            <a:avLst>
              <a:gd name="adj" fmla="val 2759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178308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Google Colaboratory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줄여서 'Colab (코랩)'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9776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Jupyter Notebook 을 기반으로 한 웹 편집기.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Chrome 등 브라우저로 접속해 언제 어디서나 코드를 작성합니다.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577840" y="1554480"/>
            <a:ext cx="5928055" cy="868680"/>
          </a:xfrm>
          <a:prstGeom prst="roundRect">
            <a:avLst>
              <a:gd name="adj" fmla="val 12632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0" y="1691640"/>
            <a:ext cx="594360" cy="5943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310" y="184023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37960" y="1627632"/>
            <a:ext cx="4830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설치가 필요 없음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537960" y="1993392"/>
            <a:ext cx="4830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구글 계정 + 인터넷만 있으면 OK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577840" y="2560320"/>
            <a:ext cx="5928055" cy="868680"/>
          </a:xfrm>
          <a:prstGeom prst="roundRect">
            <a:avLst>
              <a:gd name="adj" fmla="val 12632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760720" y="2697480"/>
            <a:ext cx="594360" cy="5943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310" y="284607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37960" y="2633472"/>
            <a:ext cx="4830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패키지가 미리 설치됨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537960" y="2999232"/>
            <a:ext cx="4830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pandas · numpy · matplotlib 등 바로 import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577840" y="3566160"/>
            <a:ext cx="5928055" cy="868680"/>
          </a:xfrm>
          <a:prstGeom prst="roundRect">
            <a:avLst>
              <a:gd name="adj" fmla="val 12632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760720" y="3703320"/>
            <a:ext cx="594360" cy="5943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10" y="3851910"/>
            <a:ext cx="297180" cy="2971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537960" y="3639312"/>
            <a:ext cx="4830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무료로 사용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537960" y="4005072"/>
            <a:ext cx="4830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구글의 컴퓨터(가상 머신)를 빌려 씀 · GPU도 제한적으로 무료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577840" y="4572000"/>
            <a:ext cx="5928055" cy="868680"/>
          </a:xfrm>
          <a:prstGeom prst="roundRect">
            <a:avLst>
              <a:gd name="adj" fmla="val 12632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760720" y="4709160"/>
            <a:ext cx="594360" cy="5943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9310" y="4857750"/>
            <a:ext cx="297180" cy="29718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537960" y="4645152"/>
            <a:ext cx="4830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저장 · 공유가 쉬움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6537960" y="5010912"/>
            <a:ext cx="4830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구글 드라이브에 자동 저장, 링크로 공유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비유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 컴퓨터에 주방을 짓는 대신(Anaconda), 구글의 주방을 빌려 요리하는 것(Colab)!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2.3, Google Colab FAQ · 시작 가이드 (research.google.com/colaboratory)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Colab vs 내 컴퓨터의 Jupyter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54480"/>
          <a:ext cx="1082009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12768"/>
                <a:gridCol w="4312768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구분</a:t>
                      </a:r>
                      <a:endParaRPr lang="en-US" sz="17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0A1128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Google Colab</a:t>
                      </a:r>
                      <a:endParaRPr lang="en-US" sz="17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B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Jupyter (Anaconda)</a:t>
                      </a:r>
                      <a:endParaRPr lang="en-US" sz="17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818CF8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설치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필요 없음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Anaconda 설치 필요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818CF8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실행 장소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구글의 클라우드 컴퓨터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내 컴퓨터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818CF8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패키지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주요 패키지 미리 설치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Anaconda 포함 패키지 + 직접 설치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818CF8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파일 저장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구글 드라이브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내 컴퓨터 폴더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818CF8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인터넷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꼭 필요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없어도 사용 가능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818CF8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사용 시간</a:t>
                      </a:r>
                      <a:endParaRPr lang="en-US" sz="16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ACC1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무료는 시간 제한 있음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제한 없음</a:t>
                      </a:r>
                      <a:endParaRPr lang="en-US" sz="16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6235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공통점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둘 다 .ipynb 노트북 파일을 쓰고, 셀 단위로 실행합니다. 하나를 익히면 다른 것도 바로 쓸 수 있어요!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Google Colab FAQ · 시작 가이드 (research.google.com/colaboratory), Project Jupyter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Colab 시작하기 — 4단계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2464994" cy="1600200"/>
          </a:xfrm>
          <a:prstGeom prst="roundRect">
            <a:avLst>
              <a:gd name="adj" fmla="val 685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0992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구글 로그인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194560"/>
            <a:ext cx="2144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Gmail 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구글 계정으로 로그인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96514" y="223570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1" name="Shape 9"/>
          <p:cNvSpPr/>
          <p:nvPr/>
        </p:nvSpPr>
        <p:spPr>
          <a:xfrm>
            <a:off x="3470834" y="1554480"/>
            <a:ext cx="2464994" cy="1600200"/>
          </a:xfrm>
          <a:prstGeom prst="roundRect">
            <a:avLst>
              <a:gd name="adj" fmla="val 685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3714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3714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10914" y="170992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Colab 접속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653714" y="2194560"/>
            <a:ext cx="2144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 주소로 접속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(Chrome 권장)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81548" y="223570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6255868" y="1554480"/>
            <a:ext cx="2464994" cy="1600200"/>
          </a:xfrm>
          <a:prstGeom prst="roundRect">
            <a:avLst>
              <a:gd name="adj" fmla="val 685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38748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38748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95948" y="170992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새 노트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38748" y="2194560"/>
            <a:ext cx="2144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'새 노트' 버튼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또는 파일 → 새 노트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766581" y="223570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9040901" y="1554480"/>
            <a:ext cx="2464994" cy="1600200"/>
          </a:xfrm>
          <a:prstGeom prst="roundRect">
            <a:avLst>
              <a:gd name="adj" fmla="val 685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23781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23781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680981" y="170992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이름 바꾸기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223781" y="2194560"/>
            <a:ext cx="2144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Untitled0.ipynb 클릭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→ 이름 변경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3383280"/>
            <a:ext cx="6949440" cy="2240280"/>
          </a:xfrm>
          <a:prstGeom prst="roundRect">
            <a:avLst>
              <a:gd name="adj" fmla="val 4082"/>
            </a:avLst>
          </a:prstGeom>
          <a:solidFill>
            <a:srgbClr val="F8FAFC"/>
          </a:solidFill>
          <a:ln w="9525">
            <a:solidFill>
              <a:srgbClr val="8A9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" y="3401568"/>
            <a:ext cx="6912864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" y="3520440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5840" y="352044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2" name="Shape 30"/>
          <p:cNvSpPr/>
          <p:nvPr/>
        </p:nvSpPr>
        <p:spPr>
          <a:xfrm>
            <a:off x="1188720" y="352044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3" name="Shape 31"/>
          <p:cNvSpPr/>
          <p:nvPr/>
        </p:nvSpPr>
        <p:spPr>
          <a:xfrm>
            <a:off x="1463040" y="3456432"/>
            <a:ext cx="59893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600200" y="345643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https://colab.research.google.com</a:t>
            </a:r>
            <a:endParaRPr lang="en-US" sz="11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77640"/>
            <a:ext cx="411480" cy="41148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1463040" y="3995928"/>
            <a:ext cx="274320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554480" y="39959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Chap02_파이썬시작_실습.ipynb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297680" y="4032504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4297680" y="4032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146304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   수정   보기   삽입   런타임   도구   도움말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14400" y="4846320"/>
            <a:ext cx="649224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51560" y="4846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+ 코드     + 텍스트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685800" y="5650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(화면을 단순화한 그림)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955280" y="3383280"/>
            <a:ext cx="3550615" cy="2240280"/>
          </a:xfrm>
          <a:prstGeom prst="roundRect">
            <a:avLst>
              <a:gd name="adj" fmla="val 489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183880" y="3383280"/>
            <a:ext cx="3093415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파일은 어디에 저장될까?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 구글 드라이브 →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'Colab Notebooks' 폴더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에 자동으로 저장됩니다.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685800" y="5943600"/>
            <a:ext cx="10820095" cy="365760"/>
          </a:xfrm>
          <a:prstGeom prst="roundRect">
            <a:avLst>
              <a:gd name="adj" fmla="val 30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14400" y="59436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이름 규칙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Chap02_파이썬시작_실습.ipynb 처럼 장 번호를 붙이면 나중에 찾기 쉬워요.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Google Colab FAQ · 시작 가이드 (research.google.com/colaboratory)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Colab 화면 구성 한눈에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7498080" cy="4114800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9525">
            <a:solidFill>
              <a:srgbClr val="8A9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527048"/>
            <a:ext cx="7461504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645920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64592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64592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Shape 8"/>
          <p:cNvSpPr/>
          <p:nvPr/>
        </p:nvSpPr>
        <p:spPr>
          <a:xfrm>
            <a:off x="1463040" y="1581912"/>
            <a:ext cx="65379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00200" y="1581912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colab.research.google.com/drive/…</a:t>
            </a:r>
            <a:endParaRPr lang="en-US" sz="11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71600" y="2029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Chap02_파이썬시작_실습.ipynb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22860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  수정  보기  삽입  런타임  도구  도움말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949440" y="2084832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949440" y="20848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공유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2606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+ 코드   + 텍스트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37960" y="260604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DCFC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583680" y="2606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✓ RAM ▬ 디스크 ▬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22960" y="2971800"/>
            <a:ext cx="411480" cy="25146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49040"/>
            <a:ext cx="228600" cy="228600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00400"/>
            <a:ext cx="228600" cy="2286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1371600" y="3063240"/>
            <a:ext cx="653796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1508760" y="3063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첫 번째 실습  (텍스트 셀)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1417320" y="3840480"/>
            <a:ext cx="310896" cy="310896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904" y="3913632"/>
            <a:ext cx="128016" cy="155448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1828800" y="3749040"/>
            <a:ext cx="60807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1920240" y="37490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Colab!"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192024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Colab!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4663440" y="2011680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466344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3474720" y="2606040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347472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6172200" y="2606040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617220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868680" y="4069080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86868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1389888" y="4224528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1389888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7589520" y="3822192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7589520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685800" y="5650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(화면을 단순화한 그림)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8458200" y="1508760"/>
            <a:ext cx="3047695" cy="594360"/>
          </a:xfrm>
          <a:prstGeom prst="roundRect">
            <a:avLst>
              <a:gd name="adj" fmla="val 1846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8595360" y="1664208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859536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8961120" y="1508760"/>
            <a:ext cx="2453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노트 이름 · 메뉴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런타임 메뉴를 자주 씀</a:t>
            </a:r>
            <a:endParaRPr lang="en-US" sz="1600" dirty="0"/>
          </a:p>
        </p:txBody>
      </p:sp>
      <p:sp>
        <p:nvSpPr>
          <p:cNvPr id="47" name="Shape 41"/>
          <p:cNvSpPr/>
          <p:nvPr/>
        </p:nvSpPr>
        <p:spPr>
          <a:xfrm>
            <a:off x="8458200" y="2194560"/>
            <a:ext cx="3047695" cy="594360"/>
          </a:xfrm>
          <a:prstGeom prst="roundRect">
            <a:avLst>
              <a:gd name="adj" fmla="val 1846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8595360" y="2350008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8595360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50" name="Text 44"/>
          <p:cNvSpPr txBox="1"/>
          <p:nvPr/>
        </p:nvSpPr>
        <p:spPr>
          <a:xfrm>
            <a:off x="8961120" y="2194560"/>
            <a:ext cx="2453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+ 코드 / + 텍스트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새 셀 추가</a:t>
            </a:r>
            <a:endParaRPr lang="en-US" sz="1600" dirty="0"/>
          </a:p>
        </p:txBody>
      </p:sp>
      <p:sp>
        <p:nvSpPr>
          <p:cNvPr id="51" name="Shape 45"/>
          <p:cNvSpPr/>
          <p:nvPr/>
        </p:nvSpPr>
        <p:spPr>
          <a:xfrm>
            <a:off x="8458200" y="2880360"/>
            <a:ext cx="3047695" cy="594360"/>
          </a:xfrm>
          <a:prstGeom prst="roundRect">
            <a:avLst>
              <a:gd name="adj" fmla="val 1846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8595360" y="3035808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53" name="Text 47"/>
          <p:cNvSpPr txBox="1"/>
          <p:nvPr/>
        </p:nvSpPr>
        <p:spPr>
          <a:xfrm>
            <a:off x="8595360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100" dirty="0"/>
          </a:p>
        </p:txBody>
      </p:sp>
      <p:sp>
        <p:nvSpPr>
          <p:cNvPr id="54" name="Text 48"/>
          <p:cNvSpPr txBox="1"/>
          <p:nvPr/>
        </p:nvSpPr>
        <p:spPr>
          <a:xfrm>
            <a:off x="8961120" y="2880360"/>
            <a:ext cx="2453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연결 상태 (RAM · 디스크)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구글 컴퓨터와 연결됨</a:t>
            </a:r>
            <a:endParaRPr lang="en-US" sz="1600" dirty="0"/>
          </a:p>
        </p:txBody>
      </p:sp>
      <p:sp>
        <p:nvSpPr>
          <p:cNvPr id="55" name="Shape 49"/>
          <p:cNvSpPr/>
          <p:nvPr/>
        </p:nvSpPr>
        <p:spPr>
          <a:xfrm>
            <a:off x="8458200" y="3566160"/>
            <a:ext cx="3047695" cy="594360"/>
          </a:xfrm>
          <a:prstGeom prst="roundRect">
            <a:avLst>
              <a:gd name="adj" fmla="val 1846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8595360" y="3721608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57" name="Text 51"/>
          <p:cNvSpPr txBox="1"/>
          <p:nvPr/>
        </p:nvSpPr>
        <p:spPr>
          <a:xfrm>
            <a:off x="8595360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100" dirty="0"/>
          </a:p>
        </p:txBody>
      </p:sp>
      <p:sp>
        <p:nvSpPr>
          <p:cNvPr id="58" name="Text 52"/>
          <p:cNvSpPr txBox="1"/>
          <p:nvPr/>
        </p:nvSpPr>
        <p:spPr>
          <a:xfrm>
            <a:off x="8961120" y="3566160"/>
            <a:ext cx="2453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왼쪽 패널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목차 · 파일(폴더) 보기</a:t>
            </a:r>
            <a:endParaRPr lang="en-US" sz="1600" dirty="0"/>
          </a:p>
        </p:txBody>
      </p:sp>
      <p:sp>
        <p:nvSpPr>
          <p:cNvPr id="59" name="Shape 53"/>
          <p:cNvSpPr/>
          <p:nvPr/>
        </p:nvSpPr>
        <p:spPr>
          <a:xfrm>
            <a:off x="8458200" y="4251960"/>
            <a:ext cx="3047695" cy="594360"/>
          </a:xfrm>
          <a:prstGeom prst="roundRect">
            <a:avLst>
              <a:gd name="adj" fmla="val 1846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8595360" y="4407408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61" name="Text 55"/>
          <p:cNvSpPr txBox="1"/>
          <p:nvPr/>
        </p:nvSpPr>
        <p:spPr>
          <a:xfrm>
            <a:off x="859536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</a:t>
            </a:r>
            <a:endParaRPr lang="en-US" sz="1100" dirty="0"/>
          </a:p>
        </p:txBody>
      </p:sp>
      <p:sp>
        <p:nvSpPr>
          <p:cNvPr id="62" name="Text 56"/>
          <p:cNvSpPr txBox="1"/>
          <p:nvPr/>
        </p:nvSpPr>
        <p:spPr>
          <a:xfrm>
            <a:off x="8961120" y="4251960"/>
            <a:ext cx="2453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실행 버튼 ▶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셀 실행 (Shift+Enter)</a:t>
            </a:r>
            <a:endParaRPr lang="en-US" sz="1600" dirty="0"/>
          </a:p>
        </p:txBody>
      </p:sp>
      <p:sp>
        <p:nvSpPr>
          <p:cNvPr id="63" name="Shape 57"/>
          <p:cNvSpPr/>
          <p:nvPr/>
        </p:nvSpPr>
        <p:spPr>
          <a:xfrm>
            <a:off x="8458200" y="4937760"/>
            <a:ext cx="3047695" cy="594360"/>
          </a:xfrm>
          <a:prstGeom prst="roundRect">
            <a:avLst>
              <a:gd name="adj" fmla="val 1846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8595360" y="5093208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65" name="Text 59"/>
          <p:cNvSpPr txBox="1"/>
          <p:nvPr/>
        </p:nvSpPr>
        <p:spPr>
          <a:xfrm>
            <a:off x="8595360" y="5093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</a:t>
            </a:r>
            <a:endParaRPr lang="en-US" sz="1100" dirty="0"/>
          </a:p>
        </p:txBody>
      </p:sp>
      <p:sp>
        <p:nvSpPr>
          <p:cNvPr id="66" name="Text 60"/>
          <p:cNvSpPr txBox="1"/>
          <p:nvPr/>
        </p:nvSpPr>
        <p:spPr>
          <a:xfrm>
            <a:off x="8961120" y="4937760"/>
            <a:ext cx="2453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코드 셀 · 결과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결과는 셀 바로 아래</a:t>
            </a:r>
            <a:endParaRPr lang="en-US" sz="1600" dirty="0"/>
          </a:p>
        </p:txBody>
      </p:sp>
      <p:sp>
        <p:nvSpPr>
          <p:cNvPr id="67" name="Text 6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Google Colab FAQ · 시작 가이드 (research.google.com/colaboratory)</a:t>
            </a:r>
            <a:endParaRPr lang="en-US" sz="1000" dirty="0"/>
          </a:p>
        </p:txBody>
      </p:sp>
      <p:sp>
        <p:nvSpPr>
          <p:cNvPr id="68" name="Text 6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셀은 두 종류 — 코드 셀과 텍스트 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코드 셀  (+ 코드)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792224"/>
          </a:xfrm>
          <a:prstGeom prst="roundRect">
            <a:avLst>
              <a:gd name="adj" fmla="val 51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주석(메모) — 실행 안 됨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67919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1500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5351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22783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* count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3749040"/>
            <a:ext cx="5227168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68680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133088"/>
            <a:ext cx="486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4500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526280"/>
            <a:ext cx="522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 코드를 쓰고 실행 → 결과가 아래에 나옴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텍스트 셀  (+ 텍스트)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278728" y="1874520"/>
            <a:ext cx="2522144" cy="2514600"/>
          </a:xfrm>
          <a:prstGeom prst="roundRect">
            <a:avLst>
              <a:gd name="adj" fmla="val 290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15888" y="1965960"/>
            <a:ext cx="22935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2장 실습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**매출 계산**을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해 봅시다.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가격 : 1500원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수량 : 3개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819159" y="2971800"/>
            <a:ext cx="237744" cy="27432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8" name="Shape 26"/>
          <p:cNvSpPr/>
          <p:nvPr/>
        </p:nvSpPr>
        <p:spPr>
          <a:xfrm>
            <a:off x="9075191" y="1874520"/>
            <a:ext cx="2430704" cy="2514600"/>
          </a:xfrm>
          <a:prstGeom prst="roundRect">
            <a:avLst>
              <a:gd name="adj" fmla="val 3009"/>
            </a:avLst>
          </a:prstGeom>
          <a:solidFill>
            <a:srgbClr val="F8FAF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12351" y="1965960"/>
            <a:ext cx="215638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2장 실습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매출 계산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을 해 봅시다.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• 가격 : 1500원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• 수량 : 3개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278728" y="4526280"/>
            <a:ext cx="522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설명 · 메모를 쓰는 칸. 마크다운(Markdown) 기호로 꾸밈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85800" y="56235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마크다운 기호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#  제목   **굵게**   -  목록   — 텍스트 셀을 더블클릭하면 편집, Shift+Enter 로 완성!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Google Colab FAQ · 시작 가이드 (research.google.com/colaboratory) — Markdown Guide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첫 코드 실행하기 — [ ] 안의 숫자 읽기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80160" y="1554480"/>
            <a:ext cx="5806440" cy="457200"/>
          </a:xfrm>
          <a:prstGeom prst="rect">
            <a:avLst/>
          </a:prstGeom>
          <a:solidFill>
            <a:srgbClr val="070D20"/>
          </a:solidFill>
          <a:ln w="9525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15544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5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Colab!"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← 아직 실행 전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280160" y="2880360"/>
            <a:ext cx="5806440" cy="457200"/>
          </a:xfrm>
          <a:prstGeom prst="rect">
            <a:avLst/>
          </a:prstGeom>
          <a:solidFill>
            <a:srgbClr val="070D20"/>
          </a:solidFill>
          <a:ln w="9525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28803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5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Colab!"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3832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Colab!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← 1번째로 실행됨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206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80160" y="4206240"/>
            <a:ext cx="5806440" cy="457200"/>
          </a:xfrm>
          <a:prstGeom prst="rect">
            <a:avLst/>
          </a:prstGeom>
          <a:solidFill>
            <a:srgbClr val="070D20"/>
          </a:solidFill>
          <a:ln w="9525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17320" y="42062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+ 20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7091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← 2번째로 실행됨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372600" y="1554480"/>
            <a:ext cx="2133295" cy="3931920"/>
          </a:xfrm>
          <a:prstGeom prst="roundRect">
            <a:avLst>
              <a:gd name="adj" fmla="val 5144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0" y="1554480"/>
            <a:ext cx="167609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[ 숫자 ] 의 뜻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셀이 '몇 번째로' 실행되었는지를 알려 주는 번호표입니다.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마지막 줄 결과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print 없이 10 + 20 만 써도, 셀의 마지막 줄 값은 자동으로 보여 줘요.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처음 실행할 때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첫 실행은 구글 컴퓨터에 '연결'하느라 몇 초 걸려요. 두 번째부터는 빨라집니다.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Google Colab FAQ · 시작 가이드 (research.google.com/colaboratory)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꼭 외울 Colab 단축키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272888" cy="786384"/>
          </a:xfrm>
          <a:prstGeom prst="roundRect">
            <a:avLst>
              <a:gd name="adj" fmla="val 13953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719072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1E2A5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719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 + Enter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554480"/>
            <a:ext cx="2255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실행하고 다음 셀로 이동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487168"/>
            <a:ext cx="5272888" cy="786384"/>
          </a:xfrm>
          <a:prstGeom prst="roundRect">
            <a:avLst>
              <a:gd name="adj" fmla="val 1395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65176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1E2A5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Enter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487168"/>
            <a:ext cx="2255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실행하고 제자리에 있기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3419856"/>
            <a:ext cx="5272888" cy="786384"/>
          </a:xfrm>
          <a:prstGeom prst="roundRect">
            <a:avLst>
              <a:gd name="adj" fmla="val 1395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84448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1E2A5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5844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+ Enter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419856"/>
            <a:ext cx="2255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실행하고 아래에 새 셀 추가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4352544"/>
            <a:ext cx="5272888" cy="786384"/>
          </a:xfrm>
          <a:prstGeom prst="roundRect">
            <a:avLst>
              <a:gd name="adj" fmla="val 1395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517136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1E2A5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5171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M  →  B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4352544"/>
            <a:ext cx="2255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아래에 코드 셀 추가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33008" y="1554480"/>
            <a:ext cx="5272888" cy="786384"/>
          </a:xfrm>
          <a:prstGeom prst="roundRect">
            <a:avLst>
              <a:gd name="adj" fmla="val 1395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1608" y="1719072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1E2A5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61608" y="1719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M  →  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113368" y="1554480"/>
            <a:ext cx="2255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위에 코드 셀 추가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33008" y="2487168"/>
            <a:ext cx="5272888" cy="786384"/>
          </a:xfrm>
          <a:prstGeom prst="roundRect">
            <a:avLst>
              <a:gd name="adj" fmla="val 1395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61608" y="265176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1E2A5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61608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M  →  M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113368" y="2487168"/>
            <a:ext cx="2255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텍스트(마크다운) 셀로 바꾸기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33008" y="3419856"/>
            <a:ext cx="5272888" cy="786384"/>
          </a:xfrm>
          <a:prstGeom prst="roundRect">
            <a:avLst>
              <a:gd name="adj" fmla="val 1395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61608" y="3584448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1E2A5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61608" y="35844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M  →  Y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113368" y="3419856"/>
            <a:ext cx="2255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코드 셀로 바꾸기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33008" y="4352544"/>
            <a:ext cx="5272888" cy="786384"/>
          </a:xfrm>
          <a:prstGeom prst="roundRect">
            <a:avLst>
              <a:gd name="adj" fmla="val 1395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61608" y="4517136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1E2A5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61608" y="45171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M  →  D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113368" y="4352544"/>
            <a:ext cx="2255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셀 삭제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" y="5440680"/>
            <a:ext cx="10820095" cy="685800"/>
          </a:xfrm>
          <a:prstGeom prst="roundRect">
            <a:avLst>
              <a:gd name="adj" fmla="val 16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4400" y="544068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외우는 요령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Ctrl + M 을 먼저 눌렀다 떼고 → 알파벳.   B = Below(아래),  A = Above(위),  M = Markdown,  D = Delete.   전체 목록 : Ctrl + M → H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Google Colab FAQ · 시작 가이드 (research.google.com/colaboratory) — 도구 → 단축키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주의 · 셀을 실행한 '순서'가 중요해요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✗  아래 셀을 먼저 실행하면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005840"/>
          </a:xfrm>
          <a:prstGeom prst="roundRect">
            <a:avLst>
              <a:gd name="adj" fmla="val 9091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셀 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404872"/>
            <a:ext cx="486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1500  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셀 ① (아직 실행 안 함)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2971800"/>
            <a:ext cx="5227168" cy="1005840"/>
          </a:xfrm>
          <a:prstGeom prst="roundRect">
            <a:avLst>
              <a:gd name="adj" fmla="val 9091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09981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9848" y="309981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6" name="Shape 14"/>
          <p:cNvSpPr/>
          <p:nvPr/>
        </p:nvSpPr>
        <p:spPr>
          <a:xfrm>
            <a:off x="1271016" y="309981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54480" y="302666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셀 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33756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3502152"/>
            <a:ext cx="486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* 3     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셀 ② 를 먼저 실행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069080"/>
            <a:ext cx="5227168" cy="640080"/>
          </a:xfrm>
          <a:prstGeom prst="roundRect">
            <a:avLst>
              <a:gd name="adj" fmla="val 11429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069080"/>
            <a:ext cx="486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NameError: name 'price' is not defined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800600"/>
            <a:ext cx="522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'price 라는 이름을 아직 모른다' — 셀 ①을 실행하지 않았기 때문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  위에서부터 차례대로 실행하면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78728" y="1874520"/>
            <a:ext cx="5227168" cy="1005840"/>
          </a:xfrm>
          <a:prstGeom prst="roundRect">
            <a:avLst>
              <a:gd name="adj" fmla="val 9091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6" name="Shape 24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7" name="Shape 25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셀 ①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61608" y="2404872"/>
            <a:ext cx="486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1500  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셀 ① 먼저 실행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78728" y="2971800"/>
            <a:ext cx="5227168" cy="1005840"/>
          </a:xfrm>
          <a:prstGeom prst="roundRect">
            <a:avLst>
              <a:gd name="adj" fmla="val 9091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61608" y="309981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3" name="Shape 31"/>
          <p:cNvSpPr/>
          <p:nvPr/>
        </p:nvSpPr>
        <p:spPr>
          <a:xfrm>
            <a:off x="6662776" y="309981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4" name="Shape 32"/>
          <p:cNvSpPr/>
          <p:nvPr/>
        </p:nvSpPr>
        <p:spPr>
          <a:xfrm>
            <a:off x="6863944" y="309981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147408" y="302666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셀 ②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78728" y="333756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61608" y="3502152"/>
            <a:ext cx="486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* 3     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그다음 셀 ②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78728" y="4069080"/>
            <a:ext cx="5227168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6461608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461608" y="4453128"/>
            <a:ext cx="486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4500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6278728" y="4846320"/>
            <a:ext cx="522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셀들은 '기억'을 공유합니다. 앞 셀에서 만든 값을 뒤 셀이 사용해요.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꼬였을 때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메뉴 런타임 → '모두 실행' 을 누르면 위에서부터 차례대로 다시 실행됩니다.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Google Colab FAQ · 시작 가이드 (research.google.com/colaboratory)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내 데이터 불러오기 ① — 파일 업로드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2464994" cy="1371600"/>
          </a:xfrm>
          <a:prstGeom prst="roundRect">
            <a:avLst>
              <a:gd name="adj" fmla="val 8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0992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폴더 아이콘 클릭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19456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왼쪽 패널의 폴더(파일) 아이콘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96514" y="212140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1" name="Shape 9"/>
          <p:cNvSpPr/>
          <p:nvPr/>
        </p:nvSpPr>
        <p:spPr>
          <a:xfrm>
            <a:off x="3470834" y="1554480"/>
            <a:ext cx="2464994" cy="1371600"/>
          </a:xfrm>
          <a:prstGeom prst="roundRect">
            <a:avLst>
              <a:gd name="adj" fmla="val 8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3714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3714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10914" y="170992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업로드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653714" y="219456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업로드 아이콘 클릭 또는 파일을 끌어다 놓기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81548" y="212140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6255868" y="1554480"/>
            <a:ext cx="2464994" cy="1371600"/>
          </a:xfrm>
          <a:prstGeom prst="roundRect">
            <a:avLst>
              <a:gd name="adj" fmla="val 8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38748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38748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95948" y="170992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경로 복사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38748" y="219456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 오른쪽 ⋮ → '경로 복사'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766581" y="2121408"/>
            <a:ext cx="228600" cy="237744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9040901" y="1554480"/>
            <a:ext cx="2464994" cy="1371600"/>
          </a:xfrm>
          <a:prstGeom prst="roundRect">
            <a:avLst>
              <a:gd name="adj" fmla="val 8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23781" y="1737360"/>
            <a:ext cx="347472" cy="3474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23781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680981" y="1709928"/>
            <a:ext cx="1687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코드에서 사용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223781" y="219456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/content/파일이름 으로 읽기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3154680"/>
            <a:ext cx="6766560" cy="1682496"/>
          </a:xfrm>
          <a:prstGeom prst="roundRect">
            <a:avLst>
              <a:gd name="adj" fmla="val 543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328269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0" name="Shape 28"/>
          <p:cNvSpPr/>
          <p:nvPr/>
        </p:nvSpPr>
        <p:spPr>
          <a:xfrm>
            <a:off x="1069848" y="328269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1" name="Shape 29"/>
          <p:cNvSpPr/>
          <p:nvPr/>
        </p:nvSpPr>
        <p:spPr>
          <a:xfrm>
            <a:off x="1271016" y="328269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554480" y="320954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" y="3520440"/>
            <a:ext cx="6766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95528" y="368503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280160" y="3685032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95528" y="401421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280160" y="4014216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'/content/sales_2024.csv'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95528" y="43434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280160" y="4343400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013448" y="4041648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013448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" y="4974336"/>
            <a:ext cx="6766560" cy="54864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8680" y="5093208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68680" y="5093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1325880" y="4974336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/content/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컴퓨터의 기본 작업 폴더 (01장 예제의 경로)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772400" y="3154680"/>
            <a:ext cx="3733495" cy="2377440"/>
          </a:xfrm>
          <a:prstGeom prst="roundRect">
            <a:avLst>
              <a:gd name="adj" fmla="val 4615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001000" y="3154680"/>
            <a:ext cx="32762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주의 : 임시 보관함!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이렇게 올린 파일은 런타임(구글 컴퓨터 연결)이 끝나면 사라집니다. 다음 날 다시 열면 또 올려야 해요.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계속 쓰는 파일이라면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다음 장의 '구글 드라이브 연결'을 사용하세요.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Google Colab FAQ · 시작 가이드 (research.google.com/colaboratory) — External data: Local files, Drive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내 데이터 불러오기 ② — 구글 드라이브 연결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766560" cy="2157984"/>
          </a:xfrm>
          <a:prstGeom prst="roundRect">
            <a:avLst>
              <a:gd name="adj" fmla="val 4237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766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google.colab </a:t>
            </a:r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drive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317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3172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drive.mount(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'/content/drive'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62432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243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91693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916936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20954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209544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'/content/drive/MyDrive/data/sales_2024.csv'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13448" y="2048256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13448" y="2048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13448" y="2340864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013448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13448" y="3218688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013448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3776472"/>
            <a:ext cx="676656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868680" y="3867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41605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Mounted at /content/drive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0" y="1508760"/>
            <a:ext cx="373349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55280" y="167335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955280" y="1673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1636776"/>
            <a:ext cx="2910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drive 도구 빌리기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412480" y="1984248"/>
            <a:ext cx="2910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전용 기능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772400" y="2487168"/>
            <a:ext cx="373349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265176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95528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412480" y="2615184"/>
            <a:ext cx="2910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드라이브 연결(mount)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8412480" y="2962656"/>
            <a:ext cx="2910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권한 허용 창 → 구글 계정 선택 → 허용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772400" y="3465576"/>
            <a:ext cx="373349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55280" y="3630168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95528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412480" y="3593592"/>
            <a:ext cx="2910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드라이브 경로로 읽기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8412480" y="3941064"/>
            <a:ext cx="2910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MyDrive = '내 드라이브'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85800" y="4800600"/>
            <a:ext cx="2602154" cy="502920"/>
          </a:xfrm>
          <a:prstGeom prst="roundRect">
            <a:avLst>
              <a:gd name="adj" fmla="val 14545"/>
            </a:avLst>
          </a:prstGeom>
          <a:solidFill>
            <a:srgbClr val="6366F1">
              <a:alpha val="40000"/>
            </a:srgbClr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85800" y="4800600"/>
            <a:ext cx="26021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/content/drive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85800" y="5349240"/>
            <a:ext cx="26021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연결된 드라이브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425114" y="4800600"/>
            <a:ext cx="2602154" cy="502920"/>
          </a:xfrm>
          <a:prstGeom prst="roundRect">
            <a:avLst>
              <a:gd name="adj" fmla="val 14545"/>
            </a:avLst>
          </a:prstGeom>
          <a:solidFill>
            <a:srgbClr val="6366F1">
              <a:alpha val="50000"/>
            </a:srgbClr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3425114" y="4800600"/>
            <a:ext cx="26021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/MyDrive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3425114" y="5349240"/>
            <a:ext cx="26021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 드라이브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164428" y="4800600"/>
            <a:ext cx="2602154" cy="502920"/>
          </a:xfrm>
          <a:prstGeom prst="roundRect">
            <a:avLst>
              <a:gd name="adj" fmla="val 14545"/>
            </a:avLst>
          </a:prstGeom>
          <a:solidFill>
            <a:srgbClr val="6366F1">
              <a:alpha val="60000"/>
            </a:srgbClr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164428" y="4800600"/>
            <a:ext cx="26021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6164428" y="5349240"/>
            <a:ext cx="26021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내가 만든 폴더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903741" y="4800600"/>
            <a:ext cx="2602154" cy="502920"/>
          </a:xfrm>
          <a:prstGeom prst="roundRect">
            <a:avLst>
              <a:gd name="adj" fmla="val 14545"/>
            </a:avLst>
          </a:prstGeom>
          <a:solidFill>
            <a:srgbClr val="6366F1">
              <a:alpha val="70000"/>
            </a:srgbClr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903741" y="4800600"/>
            <a:ext cx="26021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/sales_2024.csv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8903741" y="5349240"/>
            <a:ext cx="26021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장점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드라이브에 둔 파일은 사라지지 않아 매 수업마다 다시 올릴 필요가 없어요.</a:t>
            </a:r>
            <a:endParaRPr lang="en-US" sz="1600" dirty="0"/>
          </a:p>
        </p:txBody>
      </p:sp>
      <p:sp>
        <p:nvSpPr>
          <p:cNvPr id="59" name="Text 5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Google Colab FAQ · 시작 가이드 (research.google.com/colaboratory) — External data: Drive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런타임 이해하기 — 구글 컴퓨터를 '빌려' 쓰는 시간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669280" cy="2011680"/>
          </a:xfrm>
          <a:prstGeom prst="roundRect">
            <a:avLst>
              <a:gd name="adj" fmla="val 545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55448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런타임(runtime) 이란?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내 노트북에 연결된 구글의 가상 컴퓨터. 코드는 내 컴퓨터가 아니라 여기서 실행됩니다.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749040"/>
            <a:ext cx="5669280" cy="777240"/>
          </a:xfrm>
          <a:prstGeom prst="roundRect">
            <a:avLst>
              <a:gd name="adj" fmla="val 1411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749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ACC15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약 90분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3749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아무것도 안 하면 연결이 끊김 (유휴 시간)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663440"/>
            <a:ext cx="5669280" cy="777240"/>
          </a:xfrm>
          <a:prstGeom prst="roundRect">
            <a:avLst>
              <a:gd name="adj" fmla="val 1411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6634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최대 12시간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46634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무료 버전에서 한 번에 쓸 수 있는 최대 시간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1554480"/>
            <a:ext cx="4830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런타임 메뉴에서 자주 쓰는 것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675120" y="2011680"/>
            <a:ext cx="483077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2011680"/>
            <a:ext cx="4465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모두 실행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위에서부터 모든 셀 실행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75120" y="2898648"/>
            <a:ext cx="483077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2898648"/>
            <a:ext cx="4465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세션 다시 시작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기억(변수)을 지우고 새로 시작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75120" y="3785616"/>
            <a:ext cx="483077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3785616"/>
            <a:ext cx="4465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런타임 유형 변경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GPU 등 선택 (12장 이후)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75120" y="4672584"/>
            <a:ext cx="483077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4672584"/>
            <a:ext cx="4465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런타임 연결 해제 및 삭제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가상 컴퓨터 반납 · 업로드 파일 삭제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기억할 것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연결이 끊겨도 노트(코드)는 드라이브에 남아요. 단, 변수와 업로드 파일은 다시 실행 · 업로드!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Google Colab FAQ · 시작 가이드 (research.google.com/colaboratory) — 시간 제한은 이용 상황에 따라 바뀔 수 있음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저장 · 공유 · 내려받기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3423818" cy="393192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783080"/>
            <a:ext cx="777240" cy="77724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1977390"/>
            <a:ext cx="388620" cy="3886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20240" y="1783080"/>
            <a:ext cx="2052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저장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005840" y="303580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234440" y="2834640"/>
            <a:ext cx="2646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자동 저장 (구글 드라이브)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05840" y="38130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34440" y="3611880"/>
            <a:ext cx="2646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직접 저장 : Ctrl + 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005840" y="459028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234440" y="4389120"/>
            <a:ext cx="2646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드라이브 → Colab Notebooks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383938" y="1554480"/>
            <a:ext cx="3423818" cy="393192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58258" y="1783080"/>
            <a:ext cx="777240" cy="77724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568" y="1977390"/>
            <a:ext cx="388620" cy="3886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618378" y="1783080"/>
            <a:ext cx="2052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공유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4703978" y="303580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932578" y="2834640"/>
            <a:ext cx="2646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오른쪽 위 '공유' 버튼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4703978" y="38130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4932578" y="3611880"/>
            <a:ext cx="2646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구글 문서처럼 링크 · 권한 설정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4703978" y="459028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4932578" y="4389120"/>
            <a:ext cx="2646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과제 제출 시 링크 공유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8082077" y="1554480"/>
            <a:ext cx="3423818" cy="393192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56397" y="1783080"/>
            <a:ext cx="777240" cy="77724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707" y="1977390"/>
            <a:ext cx="388620" cy="38862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316517" y="1783080"/>
            <a:ext cx="2052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내려받기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8402117" y="303580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8630717" y="2834640"/>
            <a:ext cx="2646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 → 다운로드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8402117" y="38130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8630717" y="3611880"/>
            <a:ext cx="2646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.ipynb : 노트북 그대로 (Jupyter에서 열림)</a:t>
            </a:r>
            <a:endParaRPr lang="en-US" sz="1500" dirty="0"/>
          </a:p>
        </p:txBody>
      </p:sp>
      <p:sp>
        <p:nvSpPr>
          <p:cNvPr id="33" name="Shape 28"/>
          <p:cNvSpPr/>
          <p:nvPr/>
        </p:nvSpPr>
        <p:spPr>
          <a:xfrm>
            <a:off x="8402117" y="459028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8630717" y="4389120"/>
            <a:ext cx="2646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.py : 코드만 파이썬 파일로</a:t>
            </a:r>
            <a:endParaRPr lang="en-US" sz="1500" dirty="0"/>
          </a:p>
        </p:txBody>
      </p:sp>
      <p:sp>
        <p:nvSpPr>
          <p:cNvPr id="35" name="Shape 30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다른 사람 노트를 받았다면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파일 → '드라이브에 사본 저장' 을 먼저! 그래야 내 것으로 수정할 수 있어요.</a:t>
            </a:r>
            <a:endParaRPr lang="en-US" sz="1600" dirty="0"/>
          </a:p>
        </p:txBody>
      </p:sp>
      <p:sp>
        <p:nvSpPr>
          <p:cNvPr id="37" name="Text 3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Google Colab FAQ · 시작 가이드 (research.google.com/colaboratory)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Colab의 AI 도우미 (Gemini) 똑똑하게 쓰기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227168" cy="3977640"/>
          </a:xfrm>
          <a:prstGeom prst="roundRect">
            <a:avLst>
              <a:gd name="adj" fmla="val 275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783080"/>
            <a:ext cx="777240" cy="777240"/>
          </a:xfrm>
          <a:prstGeom prst="ellipse">
            <a:avLst/>
          </a:prstGeom>
          <a:solidFill>
            <a:srgbClr val="38BDF8">
              <a:alpha val="3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1977390"/>
            <a:ext cx="388620" cy="3886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20240" y="1783080"/>
            <a:ext cx="385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이런 걸 도와줘요</a:t>
            </a:r>
            <a:endParaRPr lang="en-US" sz="2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97180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834640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말로 설명하면 코드를 만들어 줌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70332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17320" y="3566160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오류가 나면 원인과 해결 방법을 설명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434840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17320" y="4297680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어려운 코드를 한 줄씩 풀이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6278728" y="1554480"/>
            <a:ext cx="5227168" cy="3977640"/>
          </a:xfrm>
          <a:prstGeom prst="roundRect">
            <a:avLst>
              <a:gd name="adj" fmla="val 2759"/>
            </a:avLst>
          </a:prstGeom>
          <a:solidFill>
            <a:srgbClr val="0D1B3D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553048" y="1783080"/>
            <a:ext cx="777240" cy="777240"/>
          </a:xfrm>
          <a:prstGeom prst="ellipse">
            <a:avLst/>
          </a:prstGeom>
          <a:solidFill>
            <a:srgbClr val="F472B6">
              <a:alpha val="30000"/>
            </a:srgbClr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358" y="1977390"/>
            <a:ext cx="388620" cy="3886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513168" y="1783080"/>
            <a:ext cx="385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이렇게 쓰세요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6553048" y="2926080"/>
            <a:ext cx="310896" cy="310896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20" name="Text 13"/>
          <p:cNvSpPr txBox="1"/>
          <p:nvPr/>
        </p:nvSpPr>
        <p:spPr>
          <a:xfrm>
            <a:off x="6553048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7010248" y="2834640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먼저 스스로 오류 메시지를 읽어 보기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6553048" y="3657600"/>
            <a:ext cx="310896" cy="310896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6553048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7010248" y="3566160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AI 답이 항상 맞지는 않아요 — 실행해서 확인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6553048" y="4389120"/>
            <a:ext cx="310896" cy="310896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6553048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7010248" y="4297680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받은 코드는 한 줄씩 이해한 뒤 사용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수업 원칙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AI는 '선생님'이 아니라 '도우미'입니다. 이해하지 못한 코드는 내 실력이 되지 않아요!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Google Colab — AI 기능 (화면 · 메뉴 이름은 업데이트에 따라 달라질 수 있음)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Google Colab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2.3 핵심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39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Colab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설치 없이 웹에서 쓰는 Jupyter — 패키지 미리 설치, 드라이브에 저장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셀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24688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코드 셀(실행) · 텍스트 셀(설명) — Shift + Enter 로 실행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3832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027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데이터 불러오기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343400" y="33832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업로드(/content, 임시) · 드라이브 연결(/content/drive/MyDrive, 영구)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85800" y="42976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171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97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런타임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343400" y="42976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구글 컴퓨터를 빌리는 시간 — 끊기면 변수 · 업로드 파일은 다시!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다음으로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02장 정리와 실습 체크리스트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02장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실습 체크리스트 — 오늘 직접 해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01952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8249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 Colab 접속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10312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colab.research.google.com 에 구글 계정으로 로그인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283464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18211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96265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2. 새 노트 만들기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554480" y="338328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이름을 Chap02_파이썬시작_실습 으로 변경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85800" y="411480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6227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424281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3. 첫 코드 실행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1554480" y="46634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"Hello, Colab!"</a:t>
            </a:r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) 입력 → Shift + Enter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233008" y="155448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190195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01688" y="168249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4. 텍스트 셀 추가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7101688" y="210312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'2장 실습'</a:t>
            </a:r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제목 쓰기 (Ctrl + M → M)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233008" y="283464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328" y="3182112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01688" y="296265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5. 패키지 설치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101688" y="338328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!pip install wordcloud → Successfully 확인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233008" y="411480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7328" y="4462272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101688" y="424281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6. 드라이브 연결</a:t>
            </a:r>
            <a:endParaRPr lang="en-US" sz="1700" dirty="0"/>
          </a:p>
        </p:txBody>
      </p:sp>
      <p:sp>
        <p:nvSpPr>
          <p:cNvPr id="28" name="Text 20"/>
          <p:cNvSpPr txBox="1"/>
          <p:nvPr/>
        </p:nvSpPr>
        <p:spPr>
          <a:xfrm>
            <a:off x="7101688" y="46634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drive.mount(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'/content/drive'</a:t>
            </a:r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) 실행 → 허용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685800" y="5486400"/>
            <a:ext cx="10820095" cy="640080"/>
          </a:xfrm>
          <a:prstGeom prst="roundRect">
            <a:avLst>
              <a:gd name="adj" fmla="val 17143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914400" y="54864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제출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완성한 노트는 '공유' 버튼으로 링크를 복사해 제출합니다. (제출 방법은 수업 공지 확인)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02장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오늘 배운 것 한 장 요약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00200"/>
            <a:ext cx="10820095" cy="1005840"/>
          </a:xfrm>
          <a:prstGeom prst="roundRect">
            <a:avLst>
              <a:gd name="adj" fmla="val 1090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0020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600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어떻게 설치?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600200"/>
            <a:ext cx="72539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 : Just Me · 영어 경로 · PATH 체크 안 함 → Prompt 에서 버전 확인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788920"/>
            <a:ext cx="10820095" cy="1005840"/>
          </a:xfrm>
          <a:prstGeom prst="roundRect">
            <a:avLst>
              <a:gd name="adj" fmla="val 1090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78892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7889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도구 추가는?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2788920"/>
            <a:ext cx="72539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pip / conda install — Colab 은 !pip install, 오류는 마지막 줄부터 읽기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3977640"/>
            <a:ext cx="10820095" cy="1005840"/>
          </a:xfrm>
          <a:prstGeom prst="roundRect">
            <a:avLst>
              <a:gd name="adj" fmla="val 1090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9776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3977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Colab 은?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3977640"/>
            <a:ext cx="72539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셀 실행(Shift+Enter) · 순서 주의 · 드라이브 연결로 파일 불러오기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349240"/>
            <a:ext cx="10820095" cy="685800"/>
          </a:xfrm>
          <a:prstGeom prst="roundRect">
            <a:avLst>
              <a:gd name="adj" fmla="val 16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534924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 시간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에서 본격적으로 코드를 씁니다 — 변수와 데이터 유형 (숫자 · 문자 · True/False)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02장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참고문헌 및 참고자료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82009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김진성. 「비즈니스 데이터 분석 with Python」 02. 파이썬 시작. WikiDocs. https://wikidocs.net/205226 · /287232 · /205404 · /232742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Anaconda. Installing Anaconda Distribution. https://www.anaconda.com/docs/getting-started/anaconda/install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Anaconda. Anaconda Distribution 2025.x release notes. https://www.anaconda.com/docs/getting-started/anaconda/release/2025.x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Anaconda. Anaconda Navigator. https://www.anaconda.com/docs/tools/anaconda-navigator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conda. User Guide — Managing packages. https://docs.conda.io/projects/conda/en/latest/user-guide/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pip. User Guide. https://pip.pypa.io/en/stable/user_guide/  ·  PyPI. https://pypi.org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Using Python on Windows. https://docs.python.org/3/using/windows.html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Built-in Exceptions. https://docs.python.org/3/library/exceptions.html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Project Jupyter. Jupyter Notebook Documentation. https://docs.jupyter.org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Google. Colaboratory FAQ. https://research.google.com/colaboratory/faq.html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Google. Colab 시작하기 · External data (Local files, Drive). https://colab.research.google.com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463040"/>
            <a:ext cx="365760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377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감사합니다.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비즈니스 데이터 분석 with Python  ·  02장. 파이썬 시작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질문은 언제든 환영합니다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비즈니스 데이터 분석 with Python - 02장. 파이썬 시작</dc:title>
  <dc:subject>PptxGenJS Presentation</dc:subject>
  <dc:creator>김진성</dc:creator>
  <cp:lastModifiedBy>김진성</cp:lastModifiedBy>
  <cp:revision>1</cp:revision>
  <dcterms:created xsi:type="dcterms:W3CDTF">2026-10-05T15:58:21Z</dcterms:created>
  <dcterms:modified xsi:type="dcterms:W3CDTF">2026-10-05T15:58:21Z</dcterms:modified>
</cp:coreProperties>
</file>